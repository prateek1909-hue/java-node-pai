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68" r:id="rId4"/>
    <p:sldId id="258" r:id="rId5"/>
    <p:sldId id="259" r:id="rId6"/>
    <p:sldId id="267" r:id="rId7"/>
    <p:sldId id="260" r:id="rId8"/>
    <p:sldId id="261" r:id="rId9"/>
    <p:sldId id="262" r:id="rId10"/>
    <p:sldId id="263" r:id="rId11"/>
    <p:sldId id="264" r:id="rId12"/>
    <p:sldId id="266"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2436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4754880" y="0"/>
            <a:ext cx="4389120" cy="5143500"/>
          </a:xfrm>
          <a:prstGeom prst="rect">
            <a:avLst/>
          </a:prstGeom>
        </p:spPr>
      </p:pic>
      <p:sp>
        <p:nvSpPr>
          <p:cNvPr id="3" name="Shape 0"/>
          <p:cNvSpPr/>
          <p:nvPr/>
        </p:nvSpPr>
        <p:spPr>
          <a:xfrm>
            <a:off x="0" y="0"/>
            <a:ext cx="36576" cy="5143500"/>
          </a:xfrm>
          <a:prstGeom prst="rect">
            <a:avLst/>
          </a:prstGeom>
          <a:solidFill>
            <a:srgbClr val="1D4ED8"/>
          </a:solidFill>
          <a:ln w="12700">
            <a:solidFill>
              <a:srgbClr val="1D4ED8"/>
            </a:solidFill>
            <a:prstDash val="solid"/>
          </a:ln>
        </p:spPr>
        <p:txBody>
          <a:bodyPr/>
          <a:lstStyle/>
          <a:p>
            <a:endParaRPr lang="en-IN"/>
          </a:p>
        </p:txBody>
      </p:sp>
      <p:sp>
        <p:nvSpPr>
          <p:cNvPr id="4" name="Text 1"/>
          <p:cNvSpPr/>
          <p:nvPr/>
        </p:nvSpPr>
        <p:spPr>
          <a:xfrm>
            <a:off x="411480" y="411480"/>
            <a:ext cx="4114800" cy="182880"/>
          </a:xfrm>
          <a:prstGeom prst="rect">
            <a:avLst/>
          </a:prstGeom>
          <a:noFill/>
          <a:ln/>
        </p:spPr>
        <p:txBody>
          <a:bodyPr wrap="square" lIns="0" tIns="0" rIns="0" bIns="0" rtlCol="0" anchor="ctr"/>
          <a:lstStyle/>
          <a:p>
            <a:pPr marL="0" indent="0">
              <a:buNone/>
            </a:pPr>
            <a:r>
              <a:rPr lang="en-US" sz="750" b="1" kern="0" spc="250" dirty="0">
                <a:solidFill>
                  <a:srgbClr val="1D4ED8"/>
                </a:solidFill>
              </a:rPr>
              <a:t>ENTERPRISE MODERNISATION</a:t>
            </a:r>
            <a:endParaRPr lang="en-US" sz="750" dirty="0"/>
          </a:p>
        </p:txBody>
      </p:sp>
      <p:sp>
        <p:nvSpPr>
          <p:cNvPr id="5" name="Text 2"/>
          <p:cNvSpPr/>
          <p:nvPr/>
        </p:nvSpPr>
        <p:spPr>
          <a:xfrm>
            <a:off x="411480" y="777240"/>
            <a:ext cx="4160520" cy="2331720"/>
          </a:xfrm>
          <a:prstGeom prst="rect">
            <a:avLst/>
          </a:prstGeom>
          <a:noFill/>
          <a:ln/>
        </p:spPr>
        <p:txBody>
          <a:bodyPr wrap="square" lIns="0" tIns="0" rIns="0" bIns="0" rtlCol="0" anchor="ctr"/>
          <a:lstStyle/>
          <a:p>
            <a:pPr marL="0" indent="0">
              <a:lnSpc>
                <a:spcPct val="110000"/>
              </a:lnSpc>
              <a:buNone/>
            </a:pPr>
            <a:r>
              <a:rPr lang="en-US" sz="3800" b="1" dirty="0">
                <a:solidFill>
                  <a:srgbClr val="0F172A"/>
                </a:solidFill>
                <a:latin typeface="Calibri" pitchFamily="34" charset="0"/>
                <a:ea typeface="Calibri" pitchFamily="34" charset="-122"/>
                <a:cs typeface="Calibri" pitchFamily="34" charset="-120"/>
              </a:rPr>
              <a:t>From Monolith</a:t>
            </a:r>
            <a:endParaRPr lang="en-US" sz="3800" dirty="0"/>
          </a:p>
          <a:p>
            <a:pPr marL="0" indent="0">
              <a:lnSpc>
                <a:spcPct val="110000"/>
              </a:lnSpc>
              <a:buNone/>
            </a:pPr>
            <a:r>
              <a:rPr lang="en-US" sz="3800" b="1" dirty="0">
                <a:solidFill>
                  <a:srgbClr val="0F172A"/>
                </a:solidFill>
                <a:latin typeface="Calibri" pitchFamily="34" charset="0"/>
                <a:ea typeface="Calibri" pitchFamily="34" charset="-122"/>
                <a:cs typeface="Calibri" pitchFamily="34" charset="-120"/>
              </a:rPr>
              <a:t>to Microservices</a:t>
            </a:r>
            <a:endParaRPr lang="en-US" sz="3800" dirty="0"/>
          </a:p>
          <a:p>
            <a:pPr marL="0" indent="0">
              <a:lnSpc>
                <a:spcPct val="110000"/>
              </a:lnSpc>
              <a:buNone/>
            </a:pPr>
            <a:r>
              <a:rPr lang="en-US" sz="3800" b="1" dirty="0">
                <a:solidFill>
                  <a:srgbClr val="0F172A"/>
                </a:solidFill>
                <a:latin typeface="Calibri" pitchFamily="34" charset="0"/>
                <a:ea typeface="Calibri" pitchFamily="34" charset="-122"/>
                <a:cs typeface="Calibri" pitchFamily="34" charset="-120"/>
              </a:rPr>
              <a:t>Architecture</a:t>
            </a:r>
            <a:endParaRPr lang="en-US" sz="3800" dirty="0"/>
          </a:p>
        </p:txBody>
      </p:sp>
      <p:sp>
        <p:nvSpPr>
          <p:cNvPr id="6" name="Text 3"/>
          <p:cNvSpPr/>
          <p:nvPr/>
        </p:nvSpPr>
        <p:spPr>
          <a:xfrm>
            <a:off x="411480" y="3246120"/>
            <a:ext cx="4114800" cy="822960"/>
          </a:xfrm>
          <a:prstGeom prst="rect">
            <a:avLst/>
          </a:prstGeom>
          <a:noFill/>
          <a:ln/>
        </p:spPr>
        <p:txBody>
          <a:bodyPr wrap="square" lIns="0" tIns="0" rIns="0" bIns="0" rtlCol="0" anchor="ctr"/>
          <a:lstStyle/>
          <a:p>
            <a:pPr marL="0" indent="0">
              <a:lnSpc>
                <a:spcPct val="150000"/>
              </a:lnSpc>
              <a:buNone/>
            </a:pPr>
            <a:r>
              <a:rPr lang="en-US" sz="1050" dirty="0">
                <a:solidFill>
                  <a:srgbClr val="475569"/>
                </a:solidFill>
              </a:rPr>
              <a:t>A high-level architectural leadership deck covering</a:t>
            </a:r>
            <a:endParaRPr lang="en-US" sz="1050" dirty="0"/>
          </a:p>
          <a:p>
            <a:pPr marL="0" indent="0">
              <a:lnSpc>
                <a:spcPct val="150000"/>
              </a:lnSpc>
              <a:buNone/>
            </a:pPr>
            <a:r>
              <a:rPr lang="en-US" sz="1050" dirty="0">
                <a:solidFill>
                  <a:srgbClr val="475569"/>
                </a:solidFill>
              </a:rPr>
              <a:t>target state design, data migration, quality</a:t>
            </a:r>
            <a:endParaRPr lang="en-US" sz="1050" dirty="0"/>
          </a:p>
          <a:p>
            <a:pPr marL="0" indent="0">
              <a:lnSpc>
                <a:spcPct val="150000"/>
              </a:lnSpc>
              <a:buNone/>
            </a:pPr>
            <a:r>
              <a:rPr lang="en-US" sz="1050" dirty="0">
                <a:solidFill>
                  <a:srgbClr val="475569"/>
                </a:solidFill>
              </a:rPr>
              <a:t>assurance, and phased team execution.</a:t>
            </a:r>
            <a:endParaRPr lang="en-US" sz="1050" dirty="0"/>
          </a:p>
        </p:txBody>
      </p:sp>
      <p:sp>
        <p:nvSpPr>
          <p:cNvPr id="7" name="Shape 4"/>
          <p:cNvSpPr/>
          <p:nvPr/>
        </p:nvSpPr>
        <p:spPr>
          <a:xfrm>
            <a:off x="411480" y="4206240"/>
            <a:ext cx="4114800" cy="25603"/>
          </a:xfrm>
          <a:prstGeom prst="rect">
            <a:avLst/>
          </a:prstGeom>
          <a:solidFill>
            <a:srgbClr val="E2E8F0"/>
          </a:solidFill>
          <a:ln w="12700">
            <a:solidFill>
              <a:srgbClr val="E2E8F0"/>
            </a:solidFill>
            <a:prstDash val="solid"/>
          </a:ln>
        </p:spPr>
        <p:txBody>
          <a:bodyPr/>
          <a:lstStyle/>
          <a:p>
            <a:endParaRPr lang="en-IN"/>
          </a:p>
        </p:txBody>
      </p:sp>
      <p:sp>
        <p:nvSpPr>
          <p:cNvPr id="8" name="Text 5"/>
          <p:cNvSpPr/>
          <p:nvPr/>
        </p:nvSpPr>
        <p:spPr>
          <a:xfrm>
            <a:off x="411480" y="4343400"/>
            <a:ext cx="2011680" cy="237744"/>
          </a:xfrm>
          <a:prstGeom prst="rect">
            <a:avLst/>
          </a:prstGeom>
          <a:noFill/>
          <a:ln/>
        </p:spPr>
        <p:txBody>
          <a:bodyPr wrap="square" lIns="0" tIns="0" rIns="0" bIns="0" rtlCol="0" anchor="ctr"/>
          <a:lstStyle/>
          <a:p>
            <a:pPr marL="0" indent="0">
              <a:buNone/>
            </a:pPr>
            <a:r>
              <a:rPr lang="en-US" sz="900" dirty="0">
                <a:solidFill>
                  <a:srgbClr val="475569"/>
                </a:solidFill>
              </a:rPr>
              <a:t>01  Target Architecture</a:t>
            </a:r>
            <a:endParaRPr lang="en-US" sz="900" dirty="0"/>
          </a:p>
        </p:txBody>
      </p:sp>
      <p:sp>
        <p:nvSpPr>
          <p:cNvPr id="9" name="Text 6"/>
          <p:cNvSpPr/>
          <p:nvPr/>
        </p:nvSpPr>
        <p:spPr>
          <a:xfrm>
            <a:off x="2514600" y="4343400"/>
            <a:ext cx="2011680" cy="237744"/>
          </a:xfrm>
          <a:prstGeom prst="rect">
            <a:avLst/>
          </a:prstGeom>
          <a:noFill/>
          <a:ln/>
        </p:spPr>
        <p:txBody>
          <a:bodyPr wrap="square" lIns="0" tIns="0" rIns="0" bIns="0" rtlCol="0" anchor="ctr"/>
          <a:lstStyle/>
          <a:p>
            <a:pPr marL="0" indent="0">
              <a:buNone/>
            </a:pPr>
            <a:r>
              <a:rPr lang="en-US" sz="900" dirty="0">
                <a:solidFill>
                  <a:srgbClr val="475569"/>
                </a:solidFill>
              </a:rPr>
              <a:t>02  Data Migration Strategy</a:t>
            </a:r>
            <a:endParaRPr lang="en-US" sz="900" dirty="0"/>
          </a:p>
        </p:txBody>
      </p:sp>
      <p:sp>
        <p:nvSpPr>
          <p:cNvPr id="10" name="Text 7"/>
          <p:cNvSpPr/>
          <p:nvPr/>
        </p:nvSpPr>
        <p:spPr>
          <a:xfrm>
            <a:off x="411480" y="4636008"/>
            <a:ext cx="2011680" cy="237744"/>
          </a:xfrm>
          <a:prstGeom prst="rect">
            <a:avLst/>
          </a:prstGeom>
          <a:noFill/>
          <a:ln/>
        </p:spPr>
        <p:txBody>
          <a:bodyPr wrap="square" lIns="0" tIns="0" rIns="0" bIns="0" rtlCol="0" anchor="ctr"/>
          <a:lstStyle/>
          <a:p>
            <a:pPr marL="0" indent="0">
              <a:buNone/>
            </a:pPr>
            <a:r>
              <a:rPr lang="en-US" sz="900" dirty="0">
                <a:solidFill>
                  <a:srgbClr val="475569"/>
                </a:solidFill>
              </a:rPr>
              <a:t>03  Testing &amp; Rollout Plan</a:t>
            </a:r>
            <a:endParaRPr lang="en-US" sz="900" dirty="0"/>
          </a:p>
        </p:txBody>
      </p:sp>
      <p:sp>
        <p:nvSpPr>
          <p:cNvPr id="11" name="Text 8"/>
          <p:cNvSpPr/>
          <p:nvPr/>
        </p:nvSpPr>
        <p:spPr>
          <a:xfrm>
            <a:off x="2514600" y="4636008"/>
            <a:ext cx="2011680" cy="237744"/>
          </a:xfrm>
          <a:prstGeom prst="rect">
            <a:avLst/>
          </a:prstGeom>
          <a:noFill/>
          <a:ln/>
        </p:spPr>
        <p:txBody>
          <a:bodyPr wrap="square" lIns="0" tIns="0" rIns="0" bIns="0" rtlCol="0" anchor="ctr"/>
          <a:lstStyle/>
          <a:p>
            <a:pPr marL="0" indent="0">
              <a:buNone/>
            </a:pPr>
            <a:r>
              <a:rPr lang="en-US" sz="900" dirty="0">
                <a:solidFill>
                  <a:srgbClr val="475569"/>
                </a:solidFill>
              </a:rPr>
              <a:t>04  Team &amp; Execution</a:t>
            </a:r>
            <a:endParaRPr lang="en-US" sz="900" dirty="0"/>
          </a:p>
        </p:txBody>
      </p:sp>
      <p:sp>
        <p:nvSpPr>
          <p:cNvPr id="12" name="Text 9"/>
          <p:cNvSpPr/>
          <p:nvPr/>
        </p:nvSpPr>
        <p:spPr>
          <a:xfrm>
            <a:off x="5029200" y="1463040"/>
            <a:ext cx="3749040" cy="1645920"/>
          </a:xfrm>
          <a:prstGeom prst="rect">
            <a:avLst/>
          </a:prstGeom>
          <a:noFill/>
          <a:ln/>
        </p:spPr>
        <p:txBody>
          <a:bodyPr wrap="square" lIns="0" tIns="0" rIns="0" bIns="0" rtlCol="0" anchor="ctr"/>
          <a:lstStyle/>
          <a:p>
            <a:pPr marL="0" indent="0">
              <a:lnSpc>
                <a:spcPct val="115000"/>
              </a:lnSpc>
              <a:buNone/>
            </a:pPr>
            <a:r>
              <a:rPr lang="en-US" sz="2600" b="1" dirty="0">
                <a:solidFill>
                  <a:srgbClr val="FFFFFF"/>
                </a:solidFill>
                <a:latin typeface="Calibri" pitchFamily="34" charset="0"/>
                <a:ea typeface="Calibri" pitchFamily="34" charset="-122"/>
                <a:cs typeface="Calibri" pitchFamily="34" charset="-120"/>
              </a:rPr>
              <a:t>Architecting for</a:t>
            </a:r>
            <a:endParaRPr lang="en-US" sz="2600" dirty="0"/>
          </a:p>
          <a:p>
            <a:pPr marL="0" indent="0">
              <a:lnSpc>
                <a:spcPct val="115000"/>
              </a:lnSpc>
              <a:buNone/>
            </a:pPr>
            <a:r>
              <a:rPr lang="en-US" sz="2600" b="1" dirty="0">
                <a:solidFill>
                  <a:srgbClr val="FFFFFF"/>
                </a:solidFill>
                <a:latin typeface="Calibri" pitchFamily="34" charset="0"/>
                <a:ea typeface="Calibri" pitchFamily="34" charset="-122"/>
                <a:cs typeface="Calibri" pitchFamily="34" charset="-120"/>
              </a:rPr>
              <a:t>Scale, Speed &amp;</a:t>
            </a:r>
            <a:endParaRPr lang="en-US" sz="2600" dirty="0"/>
          </a:p>
          <a:p>
            <a:pPr marL="0" indent="0">
              <a:lnSpc>
                <a:spcPct val="115000"/>
              </a:lnSpc>
              <a:buNone/>
            </a:pPr>
            <a:r>
              <a:rPr lang="en-US" sz="2600" b="1" dirty="0">
                <a:solidFill>
                  <a:srgbClr val="FFFFFF"/>
                </a:solidFill>
                <a:latin typeface="Calibri" pitchFamily="34" charset="0"/>
                <a:ea typeface="Calibri" pitchFamily="34" charset="-122"/>
                <a:cs typeface="Calibri" pitchFamily="34" charset="-120"/>
              </a:rPr>
              <a:t>Resilience</a:t>
            </a:r>
            <a:endParaRPr lang="en-US" sz="2600" dirty="0"/>
          </a:p>
        </p:txBody>
      </p:sp>
      <p:sp>
        <p:nvSpPr>
          <p:cNvPr id="13" name="Shape 10"/>
          <p:cNvSpPr/>
          <p:nvPr/>
        </p:nvSpPr>
        <p:spPr>
          <a:xfrm>
            <a:off x="5029200" y="3291840"/>
            <a:ext cx="3291840" cy="25603"/>
          </a:xfrm>
          <a:prstGeom prst="rect">
            <a:avLst/>
          </a:prstGeom>
          <a:solidFill>
            <a:srgbClr val="E2E8F0"/>
          </a:solidFill>
          <a:ln w="12700">
            <a:solidFill>
              <a:srgbClr val="E2E8F0"/>
            </a:solidFill>
            <a:prstDash val="solid"/>
          </a:ln>
        </p:spPr>
        <p:txBody>
          <a:bodyPr/>
          <a:lstStyle/>
          <a:p>
            <a:endParaRPr lang="en-IN"/>
          </a:p>
        </p:txBody>
      </p:sp>
      <p:sp>
        <p:nvSpPr>
          <p:cNvPr id="14" name="Text 11"/>
          <p:cNvSpPr/>
          <p:nvPr/>
        </p:nvSpPr>
        <p:spPr>
          <a:xfrm>
            <a:off x="5029200" y="3401568"/>
            <a:ext cx="3657600" cy="237744"/>
          </a:xfrm>
          <a:prstGeom prst="rect">
            <a:avLst/>
          </a:prstGeom>
          <a:noFill/>
          <a:ln/>
        </p:spPr>
        <p:txBody>
          <a:bodyPr wrap="square" lIns="0" tIns="0" rIns="0" bIns="0" rtlCol="0" anchor="ctr"/>
          <a:lstStyle/>
          <a:p>
            <a:pPr marL="0" indent="0">
              <a:buNone/>
            </a:pPr>
            <a:r>
              <a:rPr lang="en-US" sz="900" dirty="0">
                <a:solidFill>
                  <a:srgbClr val="FFFFFF">
                    <a:alpha val="75000"/>
                  </a:srgbClr>
                </a:solidFill>
              </a:rPr>
              <a:t>Node.js · NestJS · Express</a:t>
            </a:r>
            <a:endParaRPr lang="en-US" sz="900" dirty="0"/>
          </a:p>
        </p:txBody>
      </p:sp>
      <p:sp>
        <p:nvSpPr>
          <p:cNvPr id="15" name="Text 12"/>
          <p:cNvSpPr/>
          <p:nvPr/>
        </p:nvSpPr>
        <p:spPr>
          <a:xfrm>
            <a:off x="5029200" y="3675888"/>
            <a:ext cx="3657600" cy="237744"/>
          </a:xfrm>
          <a:prstGeom prst="rect">
            <a:avLst/>
          </a:prstGeom>
          <a:noFill/>
          <a:ln/>
        </p:spPr>
        <p:txBody>
          <a:bodyPr wrap="square" lIns="0" tIns="0" rIns="0" bIns="0" rtlCol="0" anchor="ctr"/>
          <a:lstStyle/>
          <a:p>
            <a:pPr marL="0" indent="0">
              <a:buNone/>
            </a:pPr>
            <a:r>
              <a:rPr lang="en-US" sz="900" dirty="0">
                <a:solidFill>
                  <a:srgbClr val="FFFFFF">
                    <a:alpha val="75000"/>
                  </a:srgbClr>
                </a:solidFill>
              </a:rPr>
              <a:t>Kafka · PostgreSQL · MongoDB</a:t>
            </a:r>
            <a:endParaRPr lang="en-US" sz="900" dirty="0"/>
          </a:p>
        </p:txBody>
      </p:sp>
      <p:sp>
        <p:nvSpPr>
          <p:cNvPr id="16" name="Text 13"/>
          <p:cNvSpPr/>
          <p:nvPr/>
        </p:nvSpPr>
        <p:spPr>
          <a:xfrm>
            <a:off x="5029200" y="3950208"/>
            <a:ext cx="3657600" cy="237744"/>
          </a:xfrm>
          <a:prstGeom prst="rect">
            <a:avLst/>
          </a:prstGeom>
          <a:noFill/>
          <a:ln/>
        </p:spPr>
        <p:txBody>
          <a:bodyPr wrap="square" lIns="0" tIns="0" rIns="0" bIns="0" rtlCol="0" anchor="ctr"/>
          <a:lstStyle/>
          <a:p>
            <a:pPr marL="0" indent="0">
              <a:buNone/>
            </a:pPr>
            <a:r>
              <a:rPr lang="en-US" sz="900" dirty="0">
                <a:solidFill>
                  <a:srgbClr val="FFFFFF">
                    <a:alpha val="75000"/>
                  </a:srgbClr>
                </a:solidFill>
              </a:rPr>
              <a:t>Kubernetes · ArgoCD · Terraform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11480" y="274320"/>
            <a:ext cx="8229600" cy="182880"/>
          </a:xfrm>
          <a:prstGeom prst="rect">
            <a:avLst/>
          </a:prstGeom>
          <a:noFill/>
          <a:ln/>
        </p:spPr>
        <p:txBody>
          <a:bodyPr wrap="square" lIns="0" tIns="0" rIns="0" bIns="0" rtlCol="0" anchor="ctr"/>
          <a:lstStyle/>
          <a:p>
            <a:pPr marL="0" indent="0">
              <a:buNone/>
            </a:pPr>
            <a:r>
              <a:rPr lang="en-US" sz="750" b="1" kern="0" spc="250" dirty="0">
                <a:solidFill>
                  <a:srgbClr val="94A3B8"/>
                </a:solidFill>
              </a:rPr>
              <a:t>OVERVIEW</a:t>
            </a:r>
            <a:endParaRPr lang="en-US" sz="750" dirty="0"/>
          </a:p>
        </p:txBody>
      </p:sp>
      <p:sp>
        <p:nvSpPr>
          <p:cNvPr id="3" name="Shape 1"/>
          <p:cNvSpPr/>
          <p:nvPr/>
        </p:nvSpPr>
        <p:spPr>
          <a:xfrm>
            <a:off x="411480" y="493776"/>
            <a:ext cx="8321040" cy="25603"/>
          </a:xfrm>
          <a:prstGeom prst="rect">
            <a:avLst/>
          </a:prstGeom>
          <a:solidFill>
            <a:srgbClr val="E2E8F0"/>
          </a:solidFill>
          <a:ln w="12700">
            <a:solidFill>
              <a:srgbClr val="E2E8F0"/>
            </a:solidFill>
            <a:prstDash val="solid"/>
          </a:ln>
        </p:spPr>
        <p:txBody>
          <a:bodyPr/>
          <a:lstStyle/>
          <a:p>
            <a:endParaRPr lang="en-IN"/>
          </a:p>
        </p:txBody>
      </p:sp>
      <p:sp>
        <p:nvSpPr>
          <p:cNvPr id="4" name="Text 2"/>
          <p:cNvSpPr/>
          <p:nvPr/>
        </p:nvSpPr>
        <p:spPr>
          <a:xfrm>
            <a:off x="411480" y="621792"/>
            <a:ext cx="8321040" cy="566928"/>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The Case for Modernisation</a:t>
            </a:r>
            <a:endParaRPr lang="en-US" sz="2600" dirty="0"/>
          </a:p>
        </p:txBody>
      </p:sp>
      <p:sp>
        <p:nvSpPr>
          <p:cNvPr id="5" name="Text 3"/>
          <p:cNvSpPr/>
          <p:nvPr/>
        </p:nvSpPr>
        <p:spPr>
          <a:xfrm>
            <a:off x="411480" y="1225296"/>
            <a:ext cx="6858000" cy="256032"/>
          </a:xfrm>
          <a:prstGeom prst="rect">
            <a:avLst/>
          </a:prstGeom>
          <a:noFill/>
          <a:ln/>
        </p:spPr>
        <p:txBody>
          <a:bodyPr wrap="square" lIns="0" tIns="0" rIns="0" bIns="0" rtlCol="0" anchor="ctr"/>
          <a:lstStyle/>
          <a:p>
            <a:pPr marL="0" indent="0">
              <a:buNone/>
            </a:pPr>
            <a:r>
              <a:rPr lang="en-US" sz="1100" dirty="0">
                <a:solidFill>
                  <a:srgbClr val="475569"/>
                </a:solidFill>
              </a:rPr>
              <a:t>Burning platform risks vs. the opportunity ahead</a:t>
            </a:r>
            <a:endParaRPr lang="en-US" sz="1100" dirty="0"/>
          </a:p>
        </p:txBody>
      </p:sp>
      <p:sp>
        <p:nvSpPr>
          <p:cNvPr id="6" name="Shape 4"/>
          <p:cNvSpPr/>
          <p:nvPr/>
        </p:nvSpPr>
        <p:spPr>
          <a:xfrm>
            <a:off x="411480" y="1554480"/>
            <a:ext cx="3931920" cy="333756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7" name="Text 5"/>
          <p:cNvSpPr/>
          <p:nvPr/>
        </p:nvSpPr>
        <p:spPr>
          <a:xfrm>
            <a:off x="594360" y="1719072"/>
            <a:ext cx="3566160" cy="182880"/>
          </a:xfrm>
          <a:prstGeom prst="rect">
            <a:avLst/>
          </a:prstGeom>
          <a:noFill/>
          <a:ln/>
        </p:spPr>
        <p:txBody>
          <a:bodyPr wrap="square" lIns="0" tIns="0" rIns="0" bIns="0" rtlCol="0" anchor="ctr"/>
          <a:lstStyle/>
          <a:p>
            <a:pPr marL="0" indent="0">
              <a:buNone/>
            </a:pPr>
            <a:r>
              <a:rPr lang="en-US" sz="750" b="1" kern="0" spc="200" dirty="0">
                <a:solidFill>
                  <a:srgbClr val="1D4ED8"/>
                </a:solidFill>
              </a:rPr>
              <a:t>CURRENT STATE PROBLEMS</a:t>
            </a:r>
            <a:endParaRPr lang="en-US" sz="750" dirty="0"/>
          </a:p>
        </p:txBody>
      </p:sp>
      <p:sp>
        <p:nvSpPr>
          <p:cNvPr id="8" name="Shape 6"/>
          <p:cNvSpPr/>
          <p:nvPr/>
        </p:nvSpPr>
        <p:spPr>
          <a:xfrm>
            <a:off x="594360" y="1947672"/>
            <a:ext cx="3474720" cy="25603"/>
          </a:xfrm>
          <a:prstGeom prst="rect">
            <a:avLst/>
          </a:prstGeom>
          <a:solidFill>
            <a:srgbClr val="E2E8F0"/>
          </a:solidFill>
          <a:ln w="12700">
            <a:solidFill>
              <a:srgbClr val="E2E8F0"/>
            </a:solidFill>
            <a:prstDash val="solid"/>
          </a:ln>
        </p:spPr>
        <p:txBody>
          <a:bodyPr/>
          <a:lstStyle/>
          <a:p>
            <a:endParaRPr lang="en-IN"/>
          </a:p>
        </p:txBody>
      </p:sp>
      <p:sp>
        <p:nvSpPr>
          <p:cNvPr id="9" name="Text 7"/>
          <p:cNvSpPr/>
          <p:nvPr/>
        </p:nvSpPr>
        <p:spPr>
          <a:xfrm>
            <a:off x="594360" y="2048256"/>
            <a:ext cx="3566160" cy="868680"/>
          </a:xfrm>
          <a:prstGeom prst="rect">
            <a:avLst/>
          </a:prstGeom>
          <a:noFill/>
          <a:ln/>
        </p:spPr>
        <p:txBody>
          <a:bodyPr wrap="square" lIns="0" tIns="0" rIns="0" bIns="0" rtlCol="0" anchor="ctr"/>
          <a:lstStyle/>
          <a:p>
            <a:pPr marL="0" indent="0">
              <a:lnSpc>
                <a:spcPct val="145000"/>
              </a:lnSpc>
              <a:buNone/>
            </a:pPr>
            <a:r>
              <a:rPr lang="en-US" sz="1000" dirty="0">
                <a:solidFill>
                  <a:srgbClr val="475569"/>
                </a:solidFill>
              </a:rPr>
              <a:t>The existing monolith can no longer support the pace of change the business demands. Every release is a high-risk event. Scaling requires provisioning the entire system — teams block each other on every deployment.</a:t>
            </a:r>
            <a:endParaRPr lang="en-US" sz="1000" dirty="0"/>
          </a:p>
        </p:txBody>
      </p:sp>
      <p:sp>
        <p:nvSpPr>
          <p:cNvPr id="10" name="Shape 8"/>
          <p:cNvSpPr/>
          <p:nvPr/>
        </p:nvSpPr>
        <p:spPr>
          <a:xfrm>
            <a:off x="594360" y="2999232"/>
            <a:ext cx="36576" cy="237744"/>
          </a:xfrm>
          <a:prstGeom prst="rect">
            <a:avLst/>
          </a:prstGeom>
          <a:solidFill>
            <a:srgbClr val="1D4ED8"/>
          </a:solidFill>
          <a:ln w="12700">
            <a:solidFill>
              <a:srgbClr val="1D4ED8"/>
            </a:solidFill>
            <a:prstDash val="solid"/>
          </a:ln>
        </p:spPr>
        <p:txBody>
          <a:bodyPr/>
          <a:lstStyle/>
          <a:p>
            <a:endParaRPr lang="en-IN"/>
          </a:p>
        </p:txBody>
      </p:sp>
      <p:sp>
        <p:nvSpPr>
          <p:cNvPr id="11" name="Text 9"/>
          <p:cNvSpPr/>
          <p:nvPr/>
        </p:nvSpPr>
        <p:spPr>
          <a:xfrm>
            <a:off x="749808" y="2980944"/>
            <a:ext cx="3429000" cy="256032"/>
          </a:xfrm>
          <a:prstGeom prst="rect">
            <a:avLst/>
          </a:prstGeom>
          <a:noFill/>
          <a:ln/>
        </p:spPr>
        <p:txBody>
          <a:bodyPr wrap="square" lIns="0" tIns="0" rIns="0" bIns="0" rtlCol="0" anchor="ctr"/>
          <a:lstStyle/>
          <a:p>
            <a:pPr marL="0" indent="0">
              <a:buNone/>
            </a:pPr>
            <a:r>
              <a:rPr lang="en-US" sz="1000" dirty="0">
                <a:solidFill>
                  <a:srgbClr val="0F172A"/>
                </a:solidFill>
              </a:rPr>
              <a:t>Monolithic deployments — all or nothing risk</a:t>
            </a:r>
            <a:endParaRPr lang="en-US" sz="1000" dirty="0"/>
          </a:p>
        </p:txBody>
      </p:sp>
      <p:sp>
        <p:nvSpPr>
          <p:cNvPr id="12" name="Shape 10"/>
          <p:cNvSpPr/>
          <p:nvPr/>
        </p:nvSpPr>
        <p:spPr>
          <a:xfrm>
            <a:off x="594360" y="3410712"/>
            <a:ext cx="36576" cy="237744"/>
          </a:xfrm>
          <a:prstGeom prst="rect">
            <a:avLst/>
          </a:prstGeom>
          <a:solidFill>
            <a:srgbClr val="1D4ED8"/>
          </a:solidFill>
          <a:ln w="12700">
            <a:solidFill>
              <a:srgbClr val="1D4ED8"/>
            </a:solidFill>
            <a:prstDash val="solid"/>
          </a:ln>
        </p:spPr>
        <p:txBody>
          <a:bodyPr/>
          <a:lstStyle/>
          <a:p>
            <a:endParaRPr lang="en-IN"/>
          </a:p>
        </p:txBody>
      </p:sp>
      <p:sp>
        <p:nvSpPr>
          <p:cNvPr id="13" name="Text 11"/>
          <p:cNvSpPr/>
          <p:nvPr/>
        </p:nvSpPr>
        <p:spPr>
          <a:xfrm>
            <a:off x="749808" y="3392424"/>
            <a:ext cx="3429000" cy="256032"/>
          </a:xfrm>
          <a:prstGeom prst="rect">
            <a:avLst/>
          </a:prstGeom>
          <a:noFill/>
          <a:ln/>
        </p:spPr>
        <p:txBody>
          <a:bodyPr wrap="square" lIns="0" tIns="0" rIns="0" bIns="0" rtlCol="0" anchor="ctr"/>
          <a:lstStyle/>
          <a:p>
            <a:pPr marL="0" indent="0">
              <a:buNone/>
            </a:pPr>
            <a:r>
              <a:rPr lang="en-US" sz="1000" dirty="0">
                <a:solidFill>
                  <a:srgbClr val="0F172A"/>
                </a:solidFill>
              </a:rPr>
              <a:t>Cannot scale individual services independently</a:t>
            </a:r>
            <a:endParaRPr lang="en-US" sz="1000" dirty="0"/>
          </a:p>
        </p:txBody>
      </p:sp>
      <p:sp>
        <p:nvSpPr>
          <p:cNvPr id="14" name="Shape 12"/>
          <p:cNvSpPr/>
          <p:nvPr/>
        </p:nvSpPr>
        <p:spPr>
          <a:xfrm>
            <a:off x="594360" y="3822192"/>
            <a:ext cx="36576" cy="237744"/>
          </a:xfrm>
          <a:prstGeom prst="rect">
            <a:avLst/>
          </a:prstGeom>
          <a:solidFill>
            <a:srgbClr val="1D4ED8"/>
          </a:solidFill>
          <a:ln w="12700">
            <a:solidFill>
              <a:srgbClr val="1D4ED8"/>
            </a:solidFill>
            <a:prstDash val="solid"/>
          </a:ln>
        </p:spPr>
        <p:txBody>
          <a:bodyPr/>
          <a:lstStyle/>
          <a:p>
            <a:endParaRPr lang="en-IN"/>
          </a:p>
        </p:txBody>
      </p:sp>
      <p:sp>
        <p:nvSpPr>
          <p:cNvPr id="15" name="Text 13"/>
          <p:cNvSpPr/>
          <p:nvPr/>
        </p:nvSpPr>
        <p:spPr>
          <a:xfrm>
            <a:off x="749808" y="3803904"/>
            <a:ext cx="3429000" cy="256032"/>
          </a:xfrm>
          <a:prstGeom prst="rect">
            <a:avLst/>
          </a:prstGeom>
          <a:noFill/>
          <a:ln/>
        </p:spPr>
        <p:txBody>
          <a:bodyPr wrap="square" lIns="0" tIns="0" rIns="0" bIns="0" rtlCol="0" anchor="ctr"/>
          <a:lstStyle/>
          <a:p>
            <a:pPr marL="0" indent="0">
              <a:buNone/>
            </a:pPr>
            <a:r>
              <a:rPr lang="en-US" sz="1000" dirty="0">
                <a:solidFill>
                  <a:srgbClr val="0F172A"/>
                </a:solidFill>
              </a:rPr>
              <a:t>Tightly coupled codebase slows every team</a:t>
            </a:r>
            <a:endParaRPr lang="en-US" sz="1000" dirty="0"/>
          </a:p>
        </p:txBody>
      </p:sp>
      <p:sp>
        <p:nvSpPr>
          <p:cNvPr id="16" name="Shape 14"/>
          <p:cNvSpPr/>
          <p:nvPr/>
        </p:nvSpPr>
        <p:spPr>
          <a:xfrm>
            <a:off x="594360" y="4233672"/>
            <a:ext cx="36576" cy="237744"/>
          </a:xfrm>
          <a:prstGeom prst="rect">
            <a:avLst/>
          </a:prstGeom>
          <a:solidFill>
            <a:srgbClr val="1D4ED8"/>
          </a:solidFill>
          <a:ln w="12700">
            <a:solidFill>
              <a:srgbClr val="1D4ED8"/>
            </a:solidFill>
            <a:prstDash val="solid"/>
          </a:ln>
        </p:spPr>
        <p:txBody>
          <a:bodyPr/>
          <a:lstStyle/>
          <a:p>
            <a:endParaRPr lang="en-IN"/>
          </a:p>
        </p:txBody>
      </p:sp>
      <p:sp>
        <p:nvSpPr>
          <p:cNvPr id="17" name="Text 15"/>
          <p:cNvSpPr/>
          <p:nvPr/>
        </p:nvSpPr>
        <p:spPr>
          <a:xfrm>
            <a:off x="749808" y="4215384"/>
            <a:ext cx="3429000" cy="256032"/>
          </a:xfrm>
          <a:prstGeom prst="rect">
            <a:avLst/>
          </a:prstGeom>
          <a:noFill/>
          <a:ln/>
        </p:spPr>
        <p:txBody>
          <a:bodyPr wrap="square" lIns="0" tIns="0" rIns="0" bIns="0" rtlCol="0" anchor="ctr"/>
          <a:lstStyle/>
          <a:p>
            <a:pPr marL="0" indent="0">
              <a:buNone/>
            </a:pPr>
            <a:r>
              <a:rPr lang="en-US" sz="1000" dirty="0">
                <a:solidFill>
                  <a:srgbClr val="0F172A"/>
                </a:solidFill>
              </a:rPr>
              <a:t>Spiralling infrastructure cost with zero flexibility</a:t>
            </a:r>
            <a:endParaRPr lang="en-US" sz="1000" dirty="0"/>
          </a:p>
        </p:txBody>
      </p:sp>
      <p:sp>
        <p:nvSpPr>
          <p:cNvPr id="18" name="Shape 16"/>
          <p:cNvSpPr/>
          <p:nvPr/>
        </p:nvSpPr>
        <p:spPr>
          <a:xfrm>
            <a:off x="4617720" y="1554480"/>
            <a:ext cx="4114800" cy="333756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19" name="Text 17"/>
          <p:cNvSpPr/>
          <p:nvPr/>
        </p:nvSpPr>
        <p:spPr>
          <a:xfrm>
            <a:off x="4800600" y="1719072"/>
            <a:ext cx="3749040" cy="182880"/>
          </a:xfrm>
          <a:prstGeom prst="rect">
            <a:avLst/>
          </a:prstGeom>
          <a:noFill/>
          <a:ln/>
        </p:spPr>
        <p:txBody>
          <a:bodyPr wrap="square" lIns="0" tIns="0" rIns="0" bIns="0" rtlCol="0" anchor="ctr"/>
          <a:lstStyle/>
          <a:p>
            <a:pPr marL="0" indent="0">
              <a:buNone/>
            </a:pPr>
            <a:r>
              <a:rPr lang="en-US" sz="750" b="1" kern="0" spc="200" dirty="0">
                <a:solidFill>
                  <a:srgbClr val="1D4ED8"/>
                </a:solidFill>
              </a:rPr>
              <a:t>WHAT SUCCESS LOOKS LIKE</a:t>
            </a:r>
            <a:endParaRPr lang="en-US" sz="750" dirty="0"/>
          </a:p>
        </p:txBody>
      </p:sp>
      <p:sp>
        <p:nvSpPr>
          <p:cNvPr id="20" name="Shape 18"/>
          <p:cNvSpPr/>
          <p:nvPr/>
        </p:nvSpPr>
        <p:spPr>
          <a:xfrm>
            <a:off x="4800600" y="1947672"/>
            <a:ext cx="3749040" cy="25603"/>
          </a:xfrm>
          <a:prstGeom prst="rect">
            <a:avLst/>
          </a:prstGeom>
          <a:solidFill>
            <a:srgbClr val="E2E8F0"/>
          </a:solidFill>
          <a:ln w="12700">
            <a:solidFill>
              <a:srgbClr val="E2E8F0"/>
            </a:solidFill>
            <a:prstDash val="solid"/>
          </a:ln>
        </p:spPr>
        <p:txBody>
          <a:bodyPr/>
          <a:lstStyle/>
          <a:p>
            <a:endParaRPr lang="en-IN"/>
          </a:p>
        </p:txBody>
      </p:sp>
      <p:sp>
        <p:nvSpPr>
          <p:cNvPr id="21" name="Text 19"/>
          <p:cNvSpPr/>
          <p:nvPr/>
        </p:nvSpPr>
        <p:spPr>
          <a:xfrm>
            <a:off x="4800600" y="2057400"/>
            <a:ext cx="3749040" cy="237744"/>
          </a:xfrm>
          <a:prstGeom prst="rect">
            <a:avLst/>
          </a:prstGeom>
          <a:noFill/>
          <a:ln/>
        </p:spPr>
        <p:txBody>
          <a:bodyPr wrap="square" lIns="0" tIns="0" rIns="0" bIns="0" rtlCol="0" anchor="ctr"/>
          <a:lstStyle/>
          <a:p>
            <a:pPr marL="0" indent="0">
              <a:buNone/>
            </a:pPr>
            <a:r>
              <a:rPr lang="en-US" sz="1100" b="1" dirty="0">
                <a:solidFill>
                  <a:srgbClr val="0F172A"/>
                </a:solidFill>
              </a:rPr>
              <a:t>Independent Service Delivery</a:t>
            </a:r>
            <a:endParaRPr lang="en-US" sz="1100" dirty="0"/>
          </a:p>
        </p:txBody>
      </p:sp>
      <p:sp>
        <p:nvSpPr>
          <p:cNvPr id="22" name="Text 20"/>
          <p:cNvSpPr/>
          <p:nvPr/>
        </p:nvSpPr>
        <p:spPr>
          <a:xfrm>
            <a:off x="4800600" y="2334330"/>
            <a:ext cx="3749040" cy="201168"/>
          </a:xfrm>
          <a:prstGeom prst="rect">
            <a:avLst/>
          </a:prstGeom>
          <a:noFill/>
          <a:ln/>
        </p:spPr>
        <p:txBody>
          <a:bodyPr wrap="square" lIns="0" tIns="0" rIns="0" bIns="0" rtlCol="0" anchor="ctr"/>
          <a:lstStyle/>
          <a:p>
            <a:r>
              <a:rPr lang="en-GB" sz="1000" b="0" i="0" dirty="0">
                <a:effectLst/>
                <a:latin typeface="Segoe UI" panose="020B0502040204020203" pitchFamily="34" charset="0"/>
              </a:rPr>
              <a:t>Teams deploy their domains independently and efficiently, while maintaining clear ownership and accountability within their areas.</a:t>
            </a:r>
          </a:p>
        </p:txBody>
      </p:sp>
      <p:sp>
        <p:nvSpPr>
          <p:cNvPr id="23" name="Shape 21"/>
          <p:cNvSpPr/>
          <p:nvPr/>
        </p:nvSpPr>
        <p:spPr>
          <a:xfrm>
            <a:off x="4800600" y="2646531"/>
            <a:ext cx="3749040" cy="25603"/>
          </a:xfrm>
          <a:prstGeom prst="rect">
            <a:avLst/>
          </a:prstGeom>
          <a:solidFill>
            <a:srgbClr val="E2E8F0"/>
          </a:solidFill>
          <a:ln w="12700">
            <a:solidFill>
              <a:srgbClr val="E2E8F0"/>
            </a:solidFill>
            <a:prstDash val="solid"/>
          </a:ln>
        </p:spPr>
        <p:txBody>
          <a:bodyPr/>
          <a:lstStyle/>
          <a:p>
            <a:endParaRPr lang="en-IN"/>
          </a:p>
        </p:txBody>
      </p:sp>
      <p:sp>
        <p:nvSpPr>
          <p:cNvPr id="24" name="Text 22"/>
          <p:cNvSpPr/>
          <p:nvPr/>
        </p:nvSpPr>
        <p:spPr>
          <a:xfrm>
            <a:off x="4800600" y="2825496"/>
            <a:ext cx="3749040" cy="237744"/>
          </a:xfrm>
          <a:prstGeom prst="rect">
            <a:avLst/>
          </a:prstGeom>
          <a:noFill/>
          <a:ln/>
        </p:spPr>
        <p:txBody>
          <a:bodyPr wrap="square" lIns="0" tIns="0" rIns="0" bIns="0" rtlCol="0" anchor="ctr"/>
          <a:lstStyle/>
          <a:p>
            <a:pPr marL="0" indent="0">
              <a:buNone/>
            </a:pPr>
            <a:r>
              <a:rPr lang="en-US" sz="1100" b="1" dirty="0">
                <a:solidFill>
                  <a:srgbClr val="0F172A"/>
                </a:solidFill>
              </a:rPr>
              <a:t>Zero-Downtime Migration</a:t>
            </a:r>
            <a:endParaRPr lang="en-US" sz="1100" dirty="0"/>
          </a:p>
        </p:txBody>
      </p:sp>
      <p:sp>
        <p:nvSpPr>
          <p:cNvPr id="25" name="Text 23"/>
          <p:cNvSpPr/>
          <p:nvPr/>
        </p:nvSpPr>
        <p:spPr>
          <a:xfrm>
            <a:off x="4800600" y="3063240"/>
            <a:ext cx="3749040" cy="201168"/>
          </a:xfrm>
          <a:prstGeom prst="rect">
            <a:avLst/>
          </a:prstGeom>
          <a:noFill/>
          <a:ln/>
        </p:spPr>
        <p:txBody>
          <a:bodyPr wrap="square" lIns="0" tIns="0" rIns="0" bIns="0" rtlCol="0" anchor="ctr"/>
          <a:lstStyle/>
          <a:p>
            <a:pPr marL="0" indent="0">
              <a:buNone/>
            </a:pPr>
            <a:r>
              <a:rPr lang="en-US" sz="950" dirty="0">
                <a:solidFill>
                  <a:srgbClr val="475569"/>
                </a:solidFill>
              </a:rPr>
              <a:t>Phased transition with rollback capability at every stage</a:t>
            </a:r>
            <a:endParaRPr lang="en-US" sz="950" dirty="0"/>
          </a:p>
        </p:txBody>
      </p:sp>
      <p:sp>
        <p:nvSpPr>
          <p:cNvPr id="26" name="Shape 24"/>
          <p:cNvSpPr/>
          <p:nvPr/>
        </p:nvSpPr>
        <p:spPr>
          <a:xfrm>
            <a:off x="4800600" y="3310128"/>
            <a:ext cx="3749040" cy="25603"/>
          </a:xfrm>
          <a:prstGeom prst="rect">
            <a:avLst/>
          </a:prstGeom>
          <a:solidFill>
            <a:srgbClr val="E2E8F0"/>
          </a:solidFill>
          <a:ln w="12700">
            <a:solidFill>
              <a:srgbClr val="E2E8F0"/>
            </a:solidFill>
            <a:prstDash val="solid"/>
          </a:ln>
        </p:spPr>
        <p:txBody>
          <a:bodyPr/>
          <a:lstStyle/>
          <a:p>
            <a:endParaRPr lang="en-IN"/>
          </a:p>
        </p:txBody>
      </p:sp>
      <p:sp>
        <p:nvSpPr>
          <p:cNvPr id="27" name="Text 25"/>
          <p:cNvSpPr/>
          <p:nvPr/>
        </p:nvSpPr>
        <p:spPr>
          <a:xfrm>
            <a:off x="4800600" y="3593592"/>
            <a:ext cx="3749040" cy="237744"/>
          </a:xfrm>
          <a:prstGeom prst="rect">
            <a:avLst/>
          </a:prstGeom>
          <a:noFill/>
          <a:ln/>
        </p:spPr>
        <p:txBody>
          <a:bodyPr wrap="square" lIns="0" tIns="0" rIns="0" bIns="0" rtlCol="0" anchor="ctr"/>
          <a:lstStyle/>
          <a:p>
            <a:pPr marL="0" indent="0">
              <a:buNone/>
            </a:pPr>
            <a:r>
              <a:rPr lang="en-US" sz="1100" b="1" dirty="0">
                <a:solidFill>
                  <a:srgbClr val="0F172A"/>
                </a:solidFill>
              </a:rPr>
              <a:t>Elastic Scalability</a:t>
            </a:r>
            <a:endParaRPr lang="en-US" sz="1100" dirty="0"/>
          </a:p>
        </p:txBody>
      </p:sp>
      <p:sp>
        <p:nvSpPr>
          <p:cNvPr id="28" name="Text 26"/>
          <p:cNvSpPr/>
          <p:nvPr/>
        </p:nvSpPr>
        <p:spPr>
          <a:xfrm>
            <a:off x="4800600" y="3831336"/>
            <a:ext cx="3749040" cy="201168"/>
          </a:xfrm>
          <a:prstGeom prst="rect">
            <a:avLst/>
          </a:prstGeom>
          <a:noFill/>
          <a:ln/>
        </p:spPr>
        <p:txBody>
          <a:bodyPr wrap="square" lIns="0" tIns="0" rIns="0" bIns="0" rtlCol="0" anchor="ctr"/>
          <a:lstStyle/>
          <a:p>
            <a:pPr marL="0" indent="0">
              <a:buNone/>
            </a:pPr>
            <a:r>
              <a:rPr lang="en-US" sz="950" dirty="0">
                <a:solidFill>
                  <a:srgbClr val="475569"/>
                </a:solidFill>
              </a:rPr>
              <a:t>Scale only the services under load, not the whole system</a:t>
            </a:r>
            <a:endParaRPr lang="en-US" sz="950" dirty="0"/>
          </a:p>
        </p:txBody>
      </p:sp>
      <p:sp>
        <p:nvSpPr>
          <p:cNvPr id="29" name="Shape 27"/>
          <p:cNvSpPr/>
          <p:nvPr/>
        </p:nvSpPr>
        <p:spPr>
          <a:xfrm>
            <a:off x="4800600" y="4078224"/>
            <a:ext cx="3749040" cy="25603"/>
          </a:xfrm>
          <a:prstGeom prst="rect">
            <a:avLst/>
          </a:prstGeom>
          <a:solidFill>
            <a:srgbClr val="E2E8F0"/>
          </a:solidFill>
          <a:ln w="12700">
            <a:solidFill>
              <a:srgbClr val="E2E8F0"/>
            </a:solidFill>
            <a:prstDash val="solid"/>
          </a:ln>
        </p:spPr>
        <p:txBody>
          <a:bodyPr/>
          <a:lstStyle/>
          <a:p>
            <a:endParaRPr lang="en-IN"/>
          </a:p>
        </p:txBody>
      </p:sp>
      <p:sp>
        <p:nvSpPr>
          <p:cNvPr id="30" name="Text 28"/>
          <p:cNvSpPr/>
          <p:nvPr/>
        </p:nvSpPr>
        <p:spPr>
          <a:xfrm>
            <a:off x="4800600" y="4361688"/>
            <a:ext cx="3749040" cy="237744"/>
          </a:xfrm>
          <a:prstGeom prst="rect">
            <a:avLst/>
          </a:prstGeom>
          <a:noFill/>
          <a:ln/>
        </p:spPr>
        <p:txBody>
          <a:bodyPr wrap="square" lIns="0" tIns="0" rIns="0" bIns="0" rtlCol="0" anchor="ctr"/>
          <a:lstStyle/>
          <a:p>
            <a:pPr marL="0" indent="0">
              <a:buNone/>
            </a:pPr>
            <a:r>
              <a:rPr lang="en-US" sz="1100" b="1" dirty="0">
                <a:solidFill>
                  <a:srgbClr val="0F172A"/>
                </a:solidFill>
              </a:rPr>
              <a:t>Engineering Velocity</a:t>
            </a:r>
            <a:endParaRPr lang="en-US" sz="1100" dirty="0"/>
          </a:p>
        </p:txBody>
      </p:sp>
      <p:sp>
        <p:nvSpPr>
          <p:cNvPr id="31" name="Text 29"/>
          <p:cNvSpPr/>
          <p:nvPr/>
        </p:nvSpPr>
        <p:spPr>
          <a:xfrm>
            <a:off x="4800600" y="4599432"/>
            <a:ext cx="3749040" cy="201168"/>
          </a:xfrm>
          <a:prstGeom prst="rect">
            <a:avLst/>
          </a:prstGeom>
          <a:noFill/>
          <a:ln/>
        </p:spPr>
        <p:txBody>
          <a:bodyPr wrap="square" lIns="0" tIns="0" rIns="0" bIns="0" rtlCol="0" anchor="ctr"/>
          <a:lstStyle/>
          <a:p>
            <a:pPr marL="0" indent="0">
              <a:buNone/>
            </a:pPr>
            <a:r>
              <a:rPr lang="en-US" sz="950" dirty="0">
                <a:solidFill>
                  <a:srgbClr val="475569"/>
                </a:solidFill>
              </a:rPr>
              <a:t>Smaller, focused codebases that are faster to build and test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Architecture Diagram">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CF1BE8-AE02-6FE6-6042-4F6DCBF49174}"/>
              </a:ext>
            </a:extLst>
          </p:cNvPr>
          <p:cNvSpPr/>
          <p:nvPr/>
        </p:nvSpPr>
        <p:spPr>
          <a:xfrm>
            <a:off x="284000" y="165860"/>
            <a:ext cx="8634549" cy="47369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ChapterLabel"/>
          <p:cNvSpPr/>
          <p:nvPr/>
        </p:nvSpPr>
        <p:spPr>
          <a:xfrm>
            <a:off x="411480" y="228600"/>
            <a:ext cx="8229600" cy="160000"/>
          </a:xfrm>
          <a:prstGeom prst="rect">
            <a:avLst/>
          </a:prstGeom>
          <a:noFill/>
          <a:ln/>
        </p:spPr>
        <p:txBody>
          <a:bodyPr wrap="square" lIns="0" tIns="0" rIns="0" bIns="0" rtlCol="0" anchor="ctr"/>
          <a:lstStyle/>
          <a:p>
            <a:pPr marL="0" indent="0">
              <a:buNone/>
            </a:pPr>
            <a:r>
              <a:rPr lang="en-US" sz="750" b="1" kern="0" spc="250" dirty="0">
                <a:solidFill>
                  <a:srgbClr val="475569"/>
                </a:solidFill>
              </a:rPr>
              <a:t>CHAPTER 1 · ARCHITECTURE</a:t>
            </a:r>
          </a:p>
        </p:txBody>
      </p:sp>
      <p:sp>
        <p:nvSpPr>
          <p:cNvPr id="3" name="Title"/>
          <p:cNvSpPr/>
          <p:nvPr/>
        </p:nvSpPr>
        <p:spPr>
          <a:xfrm>
            <a:off x="411480" y="492477"/>
            <a:ext cx="5500000" cy="380000"/>
          </a:xfrm>
          <a:prstGeom prst="rect">
            <a:avLst/>
          </a:prstGeom>
          <a:noFill/>
          <a:ln/>
        </p:spPr>
        <p:txBody>
          <a:bodyPr wrap="square" lIns="0" tIns="0" rIns="0" bIns="0" rtlCol="0" anchor="ctr"/>
          <a:lstStyle/>
          <a:p>
            <a:pPr marL="0" indent="0">
              <a:buNone/>
            </a:pPr>
            <a:r>
              <a:rPr lang="en-US" sz="2400" b="1" dirty="0">
                <a:solidFill>
                  <a:schemeClr val="tx1">
                    <a:lumMod val="95000"/>
                    <a:lumOff val="5000"/>
                  </a:schemeClr>
                </a:solidFill>
                <a:latin typeface="Calibri" pitchFamily="34" charset="0"/>
              </a:rPr>
              <a:t>Data Flow &amp; Architecture</a:t>
            </a:r>
          </a:p>
        </p:txBody>
      </p:sp>
      <p:sp>
        <p:nvSpPr>
          <p:cNvPr id="4" name="Subtitle"/>
          <p:cNvSpPr/>
          <p:nvPr/>
        </p:nvSpPr>
        <p:spPr>
          <a:xfrm>
            <a:off x="411480" y="1034310"/>
            <a:ext cx="5500000" cy="200000"/>
          </a:xfrm>
          <a:prstGeom prst="rect">
            <a:avLst/>
          </a:prstGeom>
          <a:noFill/>
          <a:ln/>
        </p:spPr>
        <p:txBody>
          <a:bodyPr wrap="square" lIns="0" tIns="0" rIns="0" bIns="0" rtlCol="0" anchor="ctr"/>
          <a:lstStyle/>
          <a:p>
            <a:pPr marL="0" indent="0">
              <a:buNone/>
            </a:pPr>
            <a:r>
              <a:rPr lang="en-US" sz="950" dirty="0">
                <a:solidFill>
                  <a:srgbClr val="64748B"/>
                </a:solidFill>
              </a:rPr>
              <a:t>End-to-end request path from client to persistence layer</a:t>
            </a:r>
          </a:p>
        </p:txBody>
      </p:sp>
      <p:sp>
        <p:nvSpPr>
          <p:cNvPr id="200" name="LegSyncLine"/>
          <p:cNvSpPr/>
          <p:nvPr/>
        </p:nvSpPr>
        <p:spPr>
          <a:xfrm>
            <a:off x="6400000" y="704310"/>
            <a:ext cx="380000" cy="22000"/>
          </a:xfrm>
          <a:prstGeom prst="rect">
            <a:avLst/>
          </a:prstGeom>
          <a:solidFill>
            <a:srgbClr val="3B82F6"/>
          </a:solidFill>
          <a:ln w="0">
            <a:noFill/>
          </a:ln>
        </p:spPr>
        <p:txBody>
          <a:bodyPr/>
          <a:lstStyle/>
          <a:p>
            <a:endParaRPr lang="en-IN"/>
          </a:p>
        </p:txBody>
      </p:sp>
      <p:sp>
        <p:nvSpPr>
          <p:cNvPr id="201" name="LegSyncLabel"/>
          <p:cNvSpPr/>
          <p:nvPr/>
        </p:nvSpPr>
        <p:spPr>
          <a:xfrm>
            <a:off x="6800000" y="664310"/>
            <a:ext cx="1300000" cy="180000"/>
          </a:xfrm>
          <a:prstGeom prst="rect">
            <a:avLst/>
          </a:prstGeom>
          <a:noFill/>
          <a:ln/>
        </p:spPr>
        <p:txBody>
          <a:bodyPr wrap="square" lIns="0" tIns="0" rIns="0" bIns="0" rtlCol="0" anchor="ctr"/>
          <a:lstStyle/>
          <a:p>
            <a:pPr marL="0" indent="0">
              <a:buNone/>
            </a:pPr>
            <a:r>
              <a:rPr lang="en-US" sz="700" dirty="0">
                <a:solidFill>
                  <a:srgbClr val="475569"/>
                </a:solidFill>
              </a:rPr>
              <a:t>Sync / REST+gRPC</a:t>
            </a:r>
          </a:p>
        </p:txBody>
      </p:sp>
      <p:sp>
        <p:nvSpPr>
          <p:cNvPr id="202" name="LegAsyncLine"/>
          <p:cNvSpPr/>
          <p:nvPr/>
        </p:nvSpPr>
        <p:spPr>
          <a:xfrm>
            <a:off x="6400000" y="904310"/>
            <a:ext cx="380000" cy="22000"/>
          </a:xfrm>
          <a:prstGeom prst="rect">
            <a:avLst/>
          </a:prstGeom>
          <a:solidFill>
            <a:srgbClr val="10B981"/>
          </a:solidFill>
          <a:ln w="0">
            <a:noFill/>
          </a:ln>
        </p:spPr>
        <p:txBody>
          <a:bodyPr/>
          <a:lstStyle/>
          <a:p>
            <a:endParaRPr lang="en-IN"/>
          </a:p>
        </p:txBody>
      </p:sp>
      <p:sp>
        <p:nvSpPr>
          <p:cNvPr id="203" name="LegAsyncLabel"/>
          <p:cNvSpPr/>
          <p:nvPr/>
        </p:nvSpPr>
        <p:spPr>
          <a:xfrm>
            <a:off x="6800000" y="864310"/>
            <a:ext cx="1300000" cy="180000"/>
          </a:xfrm>
          <a:prstGeom prst="rect">
            <a:avLst/>
          </a:prstGeom>
          <a:noFill/>
          <a:ln/>
        </p:spPr>
        <p:txBody>
          <a:bodyPr wrap="square" lIns="0" tIns="0" rIns="0" bIns="0" rtlCol="0" anchor="ctr"/>
          <a:lstStyle/>
          <a:p>
            <a:pPr marL="0" indent="0">
              <a:buNone/>
            </a:pPr>
            <a:r>
              <a:rPr lang="en-US" sz="700" dirty="0">
                <a:solidFill>
                  <a:srgbClr val="475569"/>
                </a:solidFill>
              </a:rPr>
              <a:t>Async / Event</a:t>
            </a:r>
          </a:p>
        </p:txBody>
      </p:sp>
      <p:sp>
        <p:nvSpPr>
          <p:cNvPr id="204" name="LegDataLine"/>
          <p:cNvSpPr/>
          <p:nvPr/>
        </p:nvSpPr>
        <p:spPr>
          <a:xfrm>
            <a:off x="6400000" y="1104310"/>
            <a:ext cx="380000" cy="22000"/>
          </a:xfrm>
          <a:prstGeom prst="rect">
            <a:avLst/>
          </a:prstGeom>
          <a:solidFill>
            <a:srgbClr val="F59E0B"/>
          </a:solidFill>
          <a:ln w="0">
            <a:noFill/>
          </a:ln>
        </p:spPr>
        <p:txBody>
          <a:bodyPr/>
          <a:lstStyle/>
          <a:p>
            <a:endParaRPr lang="en-IN"/>
          </a:p>
        </p:txBody>
      </p:sp>
      <p:sp>
        <p:nvSpPr>
          <p:cNvPr id="205" name="LegDataLabel"/>
          <p:cNvSpPr/>
          <p:nvPr/>
        </p:nvSpPr>
        <p:spPr>
          <a:xfrm>
            <a:off x="6800000" y="1064310"/>
            <a:ext cx="1300000" cy="180000"/>
          </a:xfrm>
          <a:prstGeom prst="rect">
            <a:avLst/>
          </a:prstGeom>
          <a:noFill/>
          <a:ln/>
        </p:spPr>
        <p:txBody>
          <a:bodyPr wrap="square" lIns="0" tIns="0" rIns="0" bIns="0" rtlCol="0" anchor="ctr"/>
          <a:lstStyle/>
          <a:p>
            <a:pPr marL="0" indent="0">
              <a:buNone/>
            </a:pPr>
            <a:r>
              <a:rPr lang="en-US" sz="700" dirty="0">
                <a:solidFill>
                  <a:srgbClr val="475569"/>
                </a:solidFill>
              </a:rPr>
              <a:t>Data / Persistence</a:t>
            </a:r>
          </a:p>
        </p:txBody>
      </p:sp>
      <p:sp>
        <p:nvSpPr>
          <p:cNvPr id="10" name="ClientBox"/>
          <p:cNvSpPr/>
          <p:nvPr/>
        </p:nvSpPr>
        <p:spPr>
          <a:xfrm>
            <a:off x="411480" y="1324310"/>
            <a:ext cx="1200000" cy="340000"/>
          </a:xfrm>
          <a:prstGeom prst="roundRect">
            <a:avLst>
              <a:gd name="adj" fmla="val 20000"/>
            </a:avLst>
          </a:prstGeom>
          <a:solidFill>
            <a:srgbClr val="EFF6FF"/>
          </a:solidFill>
          <a:ln w="19050">
            <a:solidFill>
              <a:srgbClr val="3B82F6"/>
            </a:solidFill>
            <a:prstDash val="solid"/>
          </a:ln>
        </p:spPr>
        <p:txBody>
          <a:bodyPr wrap="square" lIns="91440" tIns="45720" rIns="91440" bIns="45720" rtlCol="0" anchor="ctr"/>
          <a:lstStyle/>
          <a:p>
            <a:pPr marL="0" indent="0" algn="ctr">
              <a:buNone/>
            </a:pPr>
            <a:r>
              <a:rPr lang="en-US" sz="950" b="1" dirty="0">
                <a:solidFill>
                  <a:srgbClr val="1D4ED8"/>
                </a:solidFill>
              </a:rPr>
              <a:t>CLIENT</a:t>
            </a:r>
          </a:p>
          <a:p>
            <a:pPr marL="0" indent="0" algn="ctr">
              <a:buNone/>
            </a:pPr>
            <a:r>
              <a:rPr lang="en-US" sz="750" dirty="0">
                <a:solidFill>
                  <a:srgbClr val="64748B"/>
                </a:solidFill>
              </a:rPr>
              <a:t>Web / Mobile / API</a:t>
            </a:r>
          </a:p>
        </p:txBody>
      </p:sp>
      <p:sp>
        <p:nvSpPr>
          <p:cNvPr id="20" name="Arr1Body"/>
          <p:cNvSpPr/>
          <p:nvPr/>
        </p:nvSpPr>
        <p:spPr>
          <a:xfrm>
            <a:off x="1611480" y="1481310"/>
            <a:ext cx="460000" cy="26000"/>
          </a:xfrm>
          <a:prstGeom prst="rect">
            <a:avLst/>
          </a:prstGeom>
          <a:solidFill>
            <a:srgbClr val="3B82F6"/>
          </a:solidFill>
          <a:ln w="0">
            <a:noFill/>
          </a:ln>
        </p:spPr>
        <p:txBody>
          <a:bodyPr/>
          <a:lstStyle/>
          <a:p>
            <a:endParaRPr lang="en-IN"/>
          </a:p>
        </p:txBody>
      </p:sp>
      <p:sp>
        <p:nvSpPr>
          <p:cNvPr id="21" name="Arr1Head"/>
          <p:cNvSpPr/>
          <p:nvPr/>
        </p:nvSpPr>
        <p:spPr>
          <a:xfrm rot="5400000">
            <a:off x="2031480" y="1434310"/>
            <a:ext cx="140000" cy="120000"/>
          </a:xfrm>
          <a:prstGeom prst="triangle">
            <a:avLst/>
          </a:prstGeom>
          <a:solidFill>
            <a:srgbClr val="3B82F6"/>
          </a:solidFill>
          <a:ln w="0">
            <a:noFill/>
          </a:ln>
        </p:spPr>
        <p:txBody>
          <a:bodyPr/>
          <a:lstStyle/>
          <a:p>
            <a:endParaRPr lang="en-IN"/>
          </a:p>
        </p:txBody>
      </p:sp>
      <p:sp>
        <p:nvSpPr>
          <p:cNvPr id="22" name="Arr1Label"/>
          <p:cNvSpPr/>
          <p:nvPr/>
        </p:nvSpPr>
        <p:spPr>
          <a:xfrm>
            <a:off x="1642154" y="1324310"/>
            <a:ext cx="400000" cy="130000"/>
          </a:xfrm>
          <a:prstGeom prst="rect">
            <a:avLst/>
          </a:prstGeom>
          <a:noFill/>
          <a:ln/>
        </p:spPr>
        <p:txBody>
          <a:bodyPr wrap="square" lIns="0" tIns="0" rIns="0" bIns="0" rtlCol="0" anchor="ctr"/>
          <a:lstStyle/>
          <a:p>
            <a:pPr marL="0" indent="0" algn="ctr">
              <a:buNone/>
            </a:pPr>
            <a:r>
              <a:rPr lang="en-US" sz="650" b="1" dirty="0">
                <a:solidFill>
                  <a:srgbClr val="3B82F6"/>
                </a:solidFill>
              </a:rPr>
              <a:t>HTTPS</a:t>
            </a:r>
          </a:p>
        </p:txBody>
      </p:sp>
      <p:sp>
        <p:nvSpPr>
          <p:cNvPr id="30" name="APIGWBox"/>
          <p:cNvSpPr/>
          <p:nvPr/>
        </p:nvSpPr>
        <p:spPr>
          <a:xfrm>
            <a:off x="2171480" y="1324310"/>
            <a:ext cx="1460000" cy="340000"/>
          </a:xfrm>
          <a:prstGeom prst="roundRect">
            <a:avLst>
              <a:gd name="adj" fmla="val 20000"/>
            </a:avLst>
          </a:prstGeom>
          <a:solidFill>
            <a:srgbClr val="DBEAFE"/>
          </a:solidFill>
          <a:ln w="19050">
            <a:solidFill>
              <a:srgbClr val="3B82F6"/>
            </a:solidFill>
            <a:prstDash val="solid"/>
          </a:ln>
        </p:spPr>
        <p:txBody>
          <a:bodyPr wrap="square" lIns="91440" tIns="45720" rIns="91440" bIns="45720" rtlCol="0" anchor="ctr"/>
          <a:lstStyle/>
          <a:p>
            <a:pPr marL="0" indent="0" algn="ctr">
              <a:buNone/>
            </a:pPr>
            <a:r>
              <a:rPr lang="en-US" sz="950" b="1" dirty="0">
                <a:solidFill>
                  <a:srgbClr val="1D4ED8"/>
                </a:solidFill>
              </a:rPr>
              <a:t>API GATEWAY</a:t>
            </a:r>
          </a:p>
          <a:p>
            <a:pPr marL="0" indent="0" algn="ctr">
              <a:buNone/>
            </a:pPr>
            <a:r>
              <a:rPr lang="en-US" sz="720" dirty="0">
                <a:solidFill>
                  <a:srgbClr val="64748B"/>
                </a:solidFill>
              </a:rPr>
              <a:t>Auth · Rate limit · Routing</a:t>
            </a:r>
          </a:p>
        </p:txBody>
      </p:sp>
      <p:sp>
        <p:nvSpPr>
          <p:cNvPr id="40" name="Arr2Body"/>
          <p:cNvSpPr/>
          <p:nvPr/>
        </p:nvSpPr>
        <p:spPr>
          <a:xfrm>
            <a:off x="2881480" y="1664310"/>
            <a:ext cx="26000" cy="430000"/>
          </a:xfrm>
          <a:prstGeom prst="rect">
            <a:avLst/>
          </a:prstGeom>
          <a:solidFill>
            <a:srgbClr val="3B82F6"/>
          </a:solidFill>
          <a:ln w="0">
            <a:noFill/>
          </a:ln>
        </p:spPr>
        <p:txBody>
          <a:bodyPr/>
          <a:lstStyle/>
          <a:p>
            <a:endParaRPr lang="en-IN"/>
          </a:p>
        </p:txBody>
      </p:sp>
      <p:sp>
        <p:nvSpPr>
          <p:cNvPr id="41" name="Arr2Head"/>
          <p:cNvSpPr/>
          <p:nvPr/>
        </p:nvSpPr>
        <p:spPr>
          <a:xfrm rot="10800000">
            <a:off x="2821480" y="2044310"/>
            <a:ext cx="140000" cy="120000"/>
          </a:xfrm>
          <a:prstGeom prst="triangle">
            <a:avLst/>
          </a:prstGeom>
          <a:solidFill>
            <a:srgbClr val="3B82F6"/>
          </a:solidFill>
          <a:ln w="0">
            <a:noFill/>
          </a:ln>
        </p:spPr>
        <p:txBody>
          <a:bodyPr/>
          <a:lstStyle/>
          <a:p>
            <a:endParaRPr lang="en-IN"/>
          </a:p>
        </p:txBody>
      </p:sp>
      <p:sp>
        <p:nvSpPr>
          <p:cNvPr id="50" name="BFFBox"/>
          <p:cNvSpPr/>
          <p:nvPr/>
        </p:nvSpPr>
        <p:spPr>
          <a:xfrm>
            <a:off x="2171480" y="2164310"/>
            <a:ext cx="1460000" cy="340000"/>
          </a:xfrm>
          <a:prstGeom prst="roundRect">
            <a:avLst>
              <a:gd name="adj" fmla="val 20000"/>
            </a:avLst>
          </a:prstGeom>
          <a:solidFill>
            <a:srgbClr val="EFF6FF"/>
          </a:solidFill>
          <a:ln w="19050">
            <a:solidFill>
              <a:srgbClr val="8B5CF6"/>
            </a:solidFill>
            <a:prstDash val="solid"/>
          </a:ln>
        </p:spPr>
        <p:txBody>
          <a:bodyPr wrap="square" lIns="91440" tIns="45720" rIns="91440" bIns="45720" rtlCol="0" anchor="ctr"/>
          <a:lstStyle/>
          <a:p>
            <a:pPr marL="0" indent="0" algn="ctr">
              <a:buNone/>
            </a:pPr>
            <a:r>
              <a:rPr lang="en-US" sz="950" b="1" dirty="0">
                <a:solidFill>
                  <a:srgbClr val="6D28D9"/>
                </a:solidFill>
              </a:rPr>
              <a:t>BFF LAYER</a:t>
            </a:r>
          </a:p>
          <a:p>
            <a:pPr marL="0" indent="0" algn="ctr">
              <a:buNone/>
            </a:pPr>
            <a:r>
              <a:rPr lang="en-US" sz="720" dirty="0">
                <a:solidFill>
                  <a:srgbClr val="64748B"/>
                </a:solidFill>
              </a:rPr>
              <a:t>Express · GraphQL aggregation</a:t>
            </a:r>
          </a:p>
        </p:txBody>
      </p:sp>
      <p:sp>
        <p:nvSpPr>
          <p:cNvPr id="60" name="Arr3Body"/>
          <p:cNvSpPr/>
          <p:nvPr/>
        </p:nvSpPr>
        <p:spPr>
          <a:xfrm>
            <a:off x="3631480" y="2321310"/>
            <a:ext cx="360000" cy="26000"/>
          </a:xfrm>
          <a:prstGeom prst="rect">
            <a:avLst/>
          </a:prstGeom>
          <a:solidFill>
            <a:srgbClr val="3B82F6"/>
          </a:solidFill>
          <a:ln w="0">
            <a:noFill/>
          </a:ln>
        </p:spPr>
        <p:txBody>
          <a:bodyPr/>
          <a:lstStyle/>
          <a:p>
            <a:endParaRPr lang="en-IN"/>
          </a:p>
        </p:txBody>
      </p:sp>
      <p:sp>
        <p:nvSpPr>
          <p:cNvPr id="61" name="Arr3Head"/>
          <p:cNvSpPr/>
          <p:nvPr/>
        </p:nvSpPr>
        <p:spPr>
          <a:xfrm rot="5400000">
            <a:off x="3941480" y="2274310"/>
            <a:ext cx="140000" cy="120000"/>
          </a:xfrm>
          <a:prstGeom prst="triangle">
            <a:avLst/>
          </a:prstGeom>
          <a:solidFill>
            <a:srgbClr val="3B82F6"/>
          </a:solidFill>
          <a:ln w="0">
            <a:noFill/>
          </a:ln>
        </p:spPr>
        <p:txBody>
          <a:bodyPr/>
          <a:lstStyle/>
          <a:p>
            <a:endParaRPr lang="en-IN"/>
          </a:p>
        </p:txBody>
      </p:sp>
      <p:sp>
        <p:nvSpPr>
          <p:cNvPr id="62" name="Arr3Label"/>
          <p:cNvSpPr/>
          <p:nvPr/>
        </p:nvSpPr>
        <p:spPr>
          <a:xfrm>
            <a:off x="3601243" y="2185903"/>
            <a:ext cx="340000" cy="130000"/>
          </a:xfrm>
          <a:prstGeom prst="rect">
            <a:avLst/>
          </a:prstGeom>
          <a:noFill/>
          <a:ln/>
        </p:spPr>
        <p:txBody>
          <a:bodyPr wrap="square" lIns="0" tIns="0" rIns="0" bIns="0" rtlCol="0" anchor="ctr"/>
          <a:lstStyle/>
          <a:p>
            <a:pPr marL="0" indent="0" algn="ctr">
              <a:buNone/>
            </a:pPr>
            <a:r>
              <a:rPr lang="en-US" sz="650" b="1" dirty="0">
                <a:solidFill>
                  <a:srgbClr val="3B82F6"/>
                </a:solidFill>
              </a:rPr>
              <a:t>gRPC</a:t>
            </a:r>
          </a:p>
        </p:txBody>
      </p:sp>
      <p:sp>
        <p:nvSpPr>
          <p:cNvPr id="70" name="OrdersBox"/>
          <p:cNvSpPr/>
          <p:nvPr/>
        </p:nvSpPr>
        <p:spPr>
          <a:xfrm>
            <a:off x="4081480" y="1874310"/>
            <a:ext cx="1380000" cy="280000"/>
          </a:xfrm>
          <a:prstGeom prst="roundRect">
            <a:avLst>
              <a:gd name="adj" fmla="val 15000"/>
            </a:avLst>
          </a:prstGeom>
          <a:solidFill>
            <a:srgbClr val="E0F2FE"/>
          </a:solidFill>
          <a:ln w="15875">
            <a:solidFill>
              <a:srgbClr val="38BDF8"/>
            </a:solidFill>
            <a:prstDash val="solid"/>
          </a:ln>
        </p:spPr>
        <p:txBody>
          <a:bodyPr wrap="square" lIns="91440" tIns="45720" rIns="91440" bIns="45720" rtlCol="0" anchor="ctr"/>
          <a:lstStyle/>
          <a:p>
            <a:pPr marL="0" indent="0" algn="ctr">
              <a:buNone/>
            </a:pPr>
            <a:r>
              <a:rPr lang="en-US" sz="900" b="1" dirty="0">
                <a:solidFill>
                  <a:srgbClr val="0369A1"/>
                </a:solidFill>
              </a:rPr>
              <a:t>Orders Service</a:t>
            </a:r>
          </a:p>
          <a:p>
            <a:pPr marL="0" indent="0" algn="ctr">
              <a:buNone/>
            </a:pPr>
            <a:r>
              <a:rPr lang="en-US" sz="680" dirty="0">
                <a:solidFill>
                  <a:srgbClr val="475569"/>
                </a:solidFill>
              </a:rPr>
              <a:t>NestJS · REST</a:t>
            </a:r>
          </a:p>
        </p:txBody>
      </p:sp>
      <p:sp>
        <p:nvSpPr>
          <p:cNvPr id="71" name="InventoryBox"/>
          <p:cNvSpPr/>
          <p:nvPr/>
        </p:nvSpPr>
        <p:spPr>
          <a:xfrm>
            <a:off x="4081480" y="2254310"/>
            <a:ext cx="1380000" cy="280000"/>
          </a:xfrm>
          <a:prstGeom prst="roundRect">
            <a:avLst>
              <a:gd name="adj" fmla="val 15000"/>
            </a:avLst>
          </a:prstGeom>
          <a:solidFill>
            <a:srgbClr val="E0F2FE"/>
          </a:solidFill>
          <a:ln w="15875">
            <a:solidFill>
              <a:srgbClr val="38BDF8"/>
            </a:solidFill>
            <a:prstDash val="solid"/>
          </a:ln>
        </p:spPr>
        <p:txBody>
          <a:bodyPr wrap="square" lIns="91440" tIns="45720" rIns="91440" bIns="45720" rtlCol="0" anchor="ctr"/>
          <a:lstStyle/>
          <a:p>
            <a:pPr marL="0" indent="0" algn="ctr">
              <a:buNone/>
            </a:pPr>
            <a:r>
              <a:rPr lang="en-US" sz="900" b="1" dirty="0">
                <a:solidFill>
                  <a:srgbClr val="0369A1"/>
                </a:solidFill>
              </a:rPr>
              <a:t>Inventory Service</a:t>
            </a:r>
          </a:p>
          <a:p>
            <a:pPr marL="0" indent="0" algn="ctr">
              <a:buNone/>
            </a:pPr>
            <a:r>
              <a:rPr lang="en-US" sz="680" dirty="0">
                <a:solidFill>
                  <a:srgbClr val="475569"/>
                </a:solidFill>
              </a:rPr>
              <a:t>NestJS · REST</a:t>
            </a:r>
          </a:p>
        </p:txBody>
      </p:sp>
      <p:sp>
        <p:nvSpPr>
          <p:cNvPr id="72" name="BillingBox"/>
          <p:cNvSpPr/>
          <p:nvPr/>
        </p:nvSpPr>
        <p:spPr>
          <a:xfrm>
            <a:off x="4081480" y="2634310"/>
            <a:ext cx="1380000" cy="280000"/>
          </a:xfrm>
          <a:prstGeom prst="roundRect">
            <a:avLst>
              <a:gd name="adj" fmla="val 15000"/>
            </a:avLst>
          </a:prstGeom>
          <a:solidFill>
            <a:srgbClr val="E0F2FE"/>
          </a:solidFill>
          <a:ln w="15875">
            <a:solidFill>
              <a:srgbClr val="38BDF8"/>
            </a:solidFill>
            <a:prstDash val="solid"/>
          </a:ln>
        </p:spPr>
        <p:txBody>
          <a:bodyPr wrap="square" lIns="91440" tIns="45720" rIns="91440" bIns="45720" rtlCol="0" anchor="ctr"/>
          <a:lstStyle/>
          <a:p>
            <a:pPr marL="0" indent="0" algn="ctr">
              <a:buNone/>
            </a:pPr>
            <a:r>
              <a:rPr lang="en-US" sz="900" b="1" dirty="0">
                <a:solidFill>
                  <a:srgbClr val="0369A1"/>
                </a:solidFill>
              </a:rPr>
              <a:t>Billing Service</a:t>
            </a:r>
          </a:p>
          <a:p>
            <a:pPr marL="0" indent="0" algn="ctr">
              <a:buNone/>
            </a:pPr>
            <a:r>
              <a:rPr lang="en-US" sz="680" dirty="0">
                <a:solidFill>
                  <a:srgbClr val="475569"/>
                </a:solidFill>
              </a:rPr>
              <a:t>NestJS · gRPC</a:t>
            </a:r>
          </a:p>
        </p:txBody>
      </p:sp>
      <p:sp>
        <p:nvSpPr>
          <p:cNvPr id="73" name="IdentityBox"/>
          <p:cNvSpPr/>
          <p:nvPr/>
        </p:nvSpPr>
        <p:spPr>
          <a:xfrm>
            <a:off x="4081480" y="3014310"/>
            <a:ext cx="1380000" cy="280000"/>
          </a:xfrm>
          <a:prstGeom prst="roundRect">
            <a:avLst>
              <a:gd name="adj" fmla="val 15000"/>
            </a:avLst>
          </a:prstGeom>
          <a:solidFill>
            <a:srgbClr val="E0F2FE"/>
          </a:solidFill>
          <a:ln w="15875">
            <a:solidFill>
              <a:srgbClr val="38BDF8"/>
            </a:solidFill>
            <a:prstDash val="solid"/>
          </a:ln>
        </p:spPr>
        <p:txBody>
          <a:bodyPr wrap="square" lIns="91440" tIns="45720" rIns="91440" bIns="45720" rtlCol="0" anchor="ctr"/>
          <a:lstStyle/>
          <a:p>
            <a:pPr marL="0" indent="0" algn="ctr">
              <a:buNone/>
            </a:pPr>
            <a:r>
              <a:rPr lang="en-US" sz="900" b="1" dirty="0">
                <a:solidFill>
                  <a:srgbClr val="0369A1"/>
                </a:solidFill>
              </a:rPr>
              <a:t>Identity Service</a:t>
            </a:r>
          </a:p>
          <a:p>
            <a:pPr marL="0" indent="0" algn="ctr">
              <a:buNone/>
            </a:pPr>
            <a:r>
              <a:rPr lang="en-US" sz="680" dirty="0">
                <a:solidFill>
                  <a:srgbClr val="475569"/>
                </a:solidFill>
              </a:rPr>
              <a:t>NestJS · OAuth2</a:t>
            </a:r>
          </a:p>
        </p:txBody>
      </p:sp>
      <p:sp>
        <p:nvSpPr>
          <p:cNvPr id="74" name="SvcGroupLabelHidden"/>
          <p:cNvSpPr/>
          <p:nvPr/>
        </p:nvSpPr>
        <p:spPr>
          <a:xfrm>
            <a:off x="4027046" y="1608600"/>
            <a:ext cx="1380000" cy="120000"/>
          </a:xfrm>
          <a:prstGeom prst="rect">
            <a:avLst/>
          </a:prstGeom>
          <a:noFill/>
          <a:ln/>
        </p:spPr>
        <p:txBody>
          <a:bodyPr wrap="square" lIns="0" tIns="0" rIns="0" bIns="0" rtlCol="0" anchor="ctr"/>
          <a:lstStyle/>
          <a:p>
            <a:pPr marL="0" indent="0" algn="ctr">
              <a:buNone/>
            </a:pPr>
            <a:r>
              <a:rPr lang="en-US" sz="700" b="1" spc="150" dirty="0">
                <a:solidFill>
                  <a:srgbClr val="38BDF8"/>
                </a:solidFill>
              </a:rPr>
              <a:t>DOMAIN SERVICES</a:t>
            </a:r>
          </a:p>
        </p:txBody>
      </p:sp>
      <p:sp>
        <p:nvSpPr>
          <p:cNvPr id="80" name="Arr4aBody"/>
          <p:cNvSpPr/>
          <p:nvPr/>
        </p:nvSpPr>
        <p:spPr>
          <a:xfrm>
            <a:off x="5461480" y="2001310"/>
            <a:ext cx="290000" cy="22000"/>
          </a:xfrm>
          <a:prstGeom prst="rect">
            <a:avLst/>
          </a:prstGeom>
          <a:solidFill>
            <a:srgbClr val="10B981"/>
          </a:solidFill>
          <a:ln w="0">
            <a:noFill/>
          </a:ln>
        </p:spPr>
        <p:txBody>
          <a:bodyPr/>
          <a:lstStyle/>
          <a:p>
            <a:endParaRPr lang="en-IN"/>
          </a:p>
        </p:txBody>
      </p:sp>
      <p:sp>
        <p:nvSpPr>
          <p:cNvPr id="81" name="Arr4aHead"/>
          <p:cNvSpPr/>
          <p:nvPr/>
        </p:nvSpPr>
        <p:spPr>
          <a:xfrm rot="5400000">
            <a:off x="5701480" y="1959310"/>
            <a:ext cx="120000" cy="100000"/>
          </a:xfrm>
          <a:prstGeom prst="triangle">
            <a:avLst/>
          </a:prstGeom>
          <a:solidFill>
            <a:srgbClr val="10B981"/>
          </a:solidFill>
          <a:ln w="0">
            <a:noFill/>
          </a:ln>
        </p:spPr>
        <p:txBody>
          <a:bodyPr/>
          <a:lstStyle/>
          <a:p>
            <a:endParaRPr lang="en-IN"/>
          </a:p>
        </p:txBody>
      </p:sp>
      <p:sp>
        <p:nvSpPr>
          <p:cNvPr id="82" name="Arr4bBody"/>
          <p:cNvSpPr/>
          <p:nvPr/>
        </p:nvSpPr>
        <p:spPr>
          <a:xfrm>
            <a:off x="5461480" y="2382310"/>
            <a:ext cx="290000" cy="22000"/>
          </a:xfrm>
          <a:prstGeom prst="rect">
            <a:avLst/>
          </a:prstGeom>
          <a:solidFill>
            <a:srgbClr val="10B981"/>
          </a:solidFill>
          <a:ln w="0">
            <a:noFill/>
          </a:ln>
        </p:spPr>
        <p:txBody>
          <a:bodyPr/>
          <a:lstStyle/>
          <a:p>
            <a:endParaRPr lang="en-IN"/>
          </a:p>
        </p:txBody>
      </p:sp>
      <p:sp>
        <p:nvSpPr>
          <p:cNvPr id="83" name="Arr4bHead"/>
          <p:cNvSpPr/>
          <p:nvPr/>
        </p:nvSpPr>
        <p:spPr>
          <a:xfrm rot="5400000">
            <a:off x="5701480" y="2340310"/>
            <a:ext cx="120000" cy="100000"/>
          </a:xfrm>
          <a:prstGeom prst="triangle">
            <a:avLst/>
          </a:prstGeom>
          <a:solidFill>
            <a:srgbClr val="10B981"/>
          </a:solidFill>
          <a:ln w="0">
            <a:noFill/>
          </a:ln>
        </p:spPr>
        <p:txBody>
          <a:bodyPr/>
          <a:lstStyle/>
          <a:p>
            <a:endParaRPr lang="en-IN"/>
          </a:p>
        </p:txBody>
      </p:sp>
      <p:sp>
        <p:nvSpPr>
          <p:cNvPr id="84" name="Arr4cBody"/>
          <p:cNvSpPr/>
          <p:nvPr/>
        </p:nvSpPr>
        <p:spPr>
          <a:xfrm>
            <a:off x="5461480" y="2762310"/>
            <a:ext cx="290000" cy="22000"/>
          </a:xfrm>
          <a:prstGeom prst="rect">
            <a:avLst/>
          </a:prstGeom>
          <a:solidFill>
            <a:srgbClr val="10B981"/>
          </a:solidFill>
          <a:ln w="0">
            <a:noFill/>
          </a:ln>
        </p:spPr>
        <p:txBody>
          <a:bodyPr/>
          <a:lstStyle/>
          <a:p>
            <a:endParaRPr lang="en-IN"/>
          </a:p>
        </p:txBody>
      </p:sp>
      <p:sp>
        <p:nvSpPr>
          <p:cNvPr id="85" name="Arr4cHead"/>
          <p:cNvSpPr/>
          <p:nvPr/>
        </p:nvSpPr>
        <p:spPr>
          <a:xfrm rot="5400000">
            <a:off x="5701480" y="2720310"/>
            <a:ext cx="120000" cy="100000"/>
          </a:xfrm>
          <a:prstGeom prst="triangle">
            <a:avLst/>
          </a:prstGeom>
          <a:solidFill>
            <a:srgbClr val="10B981"/>
          </a:solidFill>
          <a:ln w="0">
            <a:noFill/>
          </a:ln>
        </p:spPr>
        <p:txBody>
          <a:bodyPr/>
          <a:lstStyle/>
          <a:p>
            <a:endParaRPr lang="en-IN"/>
          </a:p>
        </p:txBody>
      </p:sp>
      <p:sp>
        <p:nvSpPr>
          <p:cNvPr id="86" name="Arr4dBody"/>
          <p:cNvSpPr/>
          <p:nvPr/>
        </p:nvSpPr>
        <p:spPr>
          <a:xfrm>
            <a:off x="5461480" y="3143310"/>
            <a:ext cx="290000" cy="22000"/>
          </a:xfrm>
          <a:prstGeom prst="rect">
            <a:avLst/>
          </a:prstGeom>
          <a:solidFill>
            <a:srgbClr val="10B981"/>
          </a:solidFill>
          <a:ln w="0">
            <a:noFill/>
          </a:ln>
        </p:spPr>
        <p:txBody>
          <a:bodyPr/>
          <a:lstStyle/>
          <a:p>
            <a:endParaRPr lang="en-IN"/>
          </a:p>
        </p:txBody>
      </p:sp>
      <p:sp>
        <p:nvSpPr>
          <p:cNvPr id="87" name="Arr4dHead"/>
          <p:cNvSpPr/>
          <p:nvPr/>
        </p:nvSpPr>
        <p:spPr>
          <a:xfrm rot="5400000">
            <a:off x="5701480" y="3101310"/>
            <a:ext cx="120000" cy="100000"/>
          </a:xfrm>
          <a:prstGeom prst="triangle">
            <a:avLst/>
          </a:prstGeom>
          <a:solidFill>
            <a:srgbClr val="10B981"/>
          </a:solidFill>
          <a:ln w="0">
            <a:noFill/>
          </a:ln>
        </p:spPr>
        <p:txBody>
          <a:bodyPr/>
          <a:lstStyle/>
          <a:p>
            <a:endParaRPr lang="en-IN"/>
          </a:p>
        </p:txBody>
      </p:sp>
      <p:sp>
        <p:nvSpPr>
          <p:cNvPr id="90" name="KafkaBox"/>
          <p:cNvSpPr/>
          <p:nvPr/>
        </p:nvSpPr>
        <p:spPr>
          <a:xfrm>
            <a:off x="5821480" y="2274310"/>
            <a:ext cx="1400000" cy="600000"/>
          </a:xfrm>
          <a:prstGeom prst="roundRect">
            <a:avLst>
              <a:gd name="adj" fmla="val 20000"/>
            </a:avLst>
          </a:prstGeom>
          <a:solidFill>
            <a:srgbClr val="ECFDF5"/>
          </a:solidFill>
          <a:ln w="19050">
            <a:solidFill>
              <a:srgbClr val="10B981"/>
            </a:solidFill>
            <a:prstDash val="solid"/>
          </a:ln>
        </p:spPr>
        <p:txBody>
          <a:bodyPr wrap="square" lIns="91440" tIns="45720" rIns="91440" bIns="45720" rtlCol="0" anchor="ctr"/>
          <a:lstStyle/>
          <a:p>
            <a:pPr marL="0" indent="0" algn="ctr">
              <a:buNone/>
            </a:pPr>
            <a:r>
              <a:rPr lang="en-US" sz="1000" b="1" dirty="0">
                <a:solidFill>
                  <a:srgbClr val="065F46"/>
                </a:solidFill>
              </a:rPr>
              <a:t>EVENT BUS</a:t>
            </a:r>
          </a:p>
          <a:p>
            <a:pPr marL="0" indent="0" algn="ctr">
              <a:buNone/>
            </a:pPr>
            <a:r>
              <a:rPr lang="en-US" sz="800" b="1" dirty="0">
                <a:solidFill>
                  <a:srgbClr val="059669"/>
                </a:solidFill>
              </a:rPr>
              <a:t>Apache Kafka / MSK</a:t>
            </a:r>
          </a:p>
          <a:p>
            <a:pPr marL="0" indent="0" algn="ctr">
              <a:buNone/>
            </a:pPr>
            <a:r>
              <a:rPr lang="en-US" sz="700" dirty="0">
                <a:solidFill>
                  <a:srgbClr val="475569"/>
                </a:solidFill>
              </a:rPr>
              <a:t>CDC · Async messaging</a:t>
            </a:r>
          </a:p>
        </p:txBody>
      </p:sp>
      <p:sp>
        <p:nvSpPr>
          <p:cNvPr id="100" name="Arr5Body"/>
          <p:cNvSpPr/>
          <p:nvPr/>
        </p:nvSpPr>
        <p:spPr>
          <a:xfrm>
            <a:off x="7221480" y="2561310"/>
            <a:ext cx="310000" cy="22000"/>
          </a:xfrm>
          <a:prstGeom prst="rect">
            <a:avLst/>
          </a:prstGeom>
          <a:solidFill>
            <a:srgbClr val="F59E0B"/>
          </a:solidFill>
          <a:ln w="0">
            <a:noFill/>
          </a:ln>
        </p:spPr>
        <p:txBody>
          <a:bodyPr/>
          <a:lstStyle/>
          <a:p>
            <a:endParaRPr lang="en-IN"/>
          </a:p>
        </p:txBody>
      </p:sp>
      <p:sp>
        <p:nvSpPr>
          <p:cNvPr id="101" name="Arr5Head"/>
          <p:cNvSpPr/>
          <p:nvPr/>
        </p:nvSpPr>
        <p:spPr>
          <a:xfrm rot="5400000">
            <a:off x="7481480" y="2519310"/>
            <a:ext cx="120000" cy="100000"/>
          </a:xfrm>
          <a:prstGeom prst="triangle">
            <a:avLst/>
          </a:prstGeom>
          <a:solidFill>
            <a:srgbClr val="F59E0B"/>
          </a:solidFill>
          <a:ln w="0">
            <a:noFill/>
          </a:ln>
        </p:spPr>
        <p:txBody>
          <a:bodyPr/>
          <a:lstStyle/>
          <a:p>
            <a:endParaRPr lang="en-IN"/>
          </a:p>
        </p:txBody>
      </p:sp>
      <p:sp>
        <p:nvSpPr>
          <p:cNvPr id="110" name="PGBox"/>
          <p:cNvSpPr/>
          <p:nvPr/>
        </p:nvSpPr>
        <p:spPr>
          <a:xfrm>
            <a:off x="7601480" y="1974310"/>
            <a:ext cx="1140000" cy="290000"/>
          </a:xfrm>
          <a:prstGeom prst="roundRect">
            <a:avLst>
              <a:gd name="adj" fmla="val 15000"/>
            </a:avLst>
          </a:prstGeom>
          <a:solidFill>
            <a:srgbClr val="FFF7ED"/>
          </a:solidFill>
          <a:ln w="15875">
            <a:solidFill>
              <a:srgbClr val="F59E0B"/>
            </a:solidFill>
            <a:prstDash val="solid"/>
          </a:ln>
        </p:spPr>
        <p:txBody>
          <a:bodyPr wrap="square" lIns="91440" tIns="45720" rIns="91440" bIns="45720" rtlCol="0" anchor="ctr"/>
          <a:lstStyle/>
          <a:p>
            <a:pPr marL="0" indent="0" algn="ctr">
              <a:buNone/>
            </a:pPr>
            <a:r>
              <a:rPr lang="en-US" sz="850" b="1" dirty="0">
                <a:solidFill>
                  <a:srgbClr val="92400E"/>
                </a:solidFill>
              </a:rPr>
              <a:t>PostgreSQL</a:t>
            </a:r>
          </a:p>
          <a:p>
            <a:pPr marL="0" indent="0" algn="ctr">
              <a:buNone/>
            </a:pPr>
            <a:r>
              <a:rPr lang="en-US" sz="680" dirty="0">
                <a:solidFill>
                  <a:srgbClr val="64748B"/>
                </a:solidFill>
              </a:rPr>
              <a:t>Transactional data</a:t>
            </a:r>
          </a:p>
        </p:txBody>
      </p:sp>
      <p:sp>
        <p:nvSpPr>
          <p:cNvPr id="111" name="MongoBox"/>
          <p:cNvSpPr/>
          <p:nvPr/>
        </p:nvSpPr>
        <p:spPr>
          <a:xfrm>
            <a:off x="7601480" y="2364310"/>
            <a:ext cx="1140000" cy="290000"/>
          </a:xfrm>
          <a:prstGeom prst="roundRect">
            <a:avLst>
              <a:gd name="adj" fmla="val 15000"/>
            </a:avLst>
          </a:prstGeom>
          <a:solidFill>
            <a:srgbClr val="FFF7ED"/>
          </a:solidFill>
          <a:ln w="15875">
            <a:solidFill>
              <a:srgbClr val="F59E0B"/>
            </a:solidFill>
            <a:prstDash val="solid"/>
          </a:ln>
        </p:spPr>
        <p:txBody>
          <a:bodyPr wrap="square" lIns="91440" tIns="45720" rIns="91440" bIns="45720" rtlCol="0" anchor="ctr"/>
          <a:lstStyle/>
          <a:p>
            <a:pPr marL="0" indent="0" algn="ctr">
              <a:buNone/>
            </a:pPr>
            <a:r>
              <a:rPr lang="en-US" sz="850" b="1" dirty="0">
                <a:solidFill>
                  <a:srgbClr val="92400E"/>
                </a:solidFill>
              </a:rPr>
              <a:t>MongoDB</a:t>
            </a:r>
          </a:p>
          <a:p>
            <a:pPr marL="0" indent="0" algn="ctr">
              <a:buNone/>
            </a:pPr>
            <a:r>
              <a:rPr lang="en-US" sz="680" dirty="0">
                <a:solidFill>
                  <a:srgbClr val="64748B"/>
                </a:solidFill>
              </a:rPr>
              <a:t>Document / flexible schema</a:t>
            </a:r>
          </a:p>
        </p:txBody>
      </p:sp>
      <p:sp>
        <p:nvSpPr>
          <p:cNvPr id="112" name="RedisBox"/>
          <p:cNvSpPr/>
          <p:nvPr/>
        </p:nvSpPr>
        <p:spPr>
          <a:xfrm>
            <a:off x="7601480" y="2754310"/>
            <a:ext cx="1140000" cy="290000"/>
          </a:xfrm>
          <a:prstGeom prst="roundRect">
            <a:avLst>
              <a:gd name="adj" fmla="val 15000"/>
            </a:avLst>
          </a:prstGeom>
          <a:solidFill>
            <a:srgbClr val="FFF7ED"/>
          </a:solidFill>
          <a:ln w="15875">
            <a:solidFill>
              <a:srgbClr val="F59E0B"/>
            </a:solidFill>
            <a:prstDash val="solid"/>
          </a:ln>
        </p:spPr>
        <p:txBody>
          <a:bodyPr wrap="square" lIns="91440" tIns="45720" rIns="91440" bIns="45720" rtlCol="0" anchor="ctr"/>
          <a:lstStyle/>
          <a:p>
            <a:pPr marL="0" indent="0" algn="ctr">
              <a:buNone/>
            </a:pPr>
            <a:r>
              <a:rPr lang="en-US" sz="850" b="1" dirty="0">
                <a:solidFill>
                  <a:srgbClr val="92400E"/>
                </a:solidFill>
              </a:rPr>
              <a:t>Redis Cache</a:t>
            </a:r>
          </a:p>
          <a:p>
            <a:pPr marL="0" indent="0" algn="ctr">
              <a:buNone/>
            </a:pPr>
            <a:r>
              <a:rPr lang="en-US" sz="680" dirty="0">
                <a:solidFill>
                  <a:srgbClr val="64748B"/>
                </a:solidFill>
              </a:rPr>
              <a:t>Low-latency cache</a:t>
            </a:r>
          </a:p>
        </p:txBody>
      </p:sp>
      <p:sp>
        <p:nvSpPr>
          <p:cNvPr id="113" name="DSLabel"/>
          <p:cNvSpPr/>
          <p:nvPr/>
        </p:nvSpPr>
        <p:spPr>
          <a:xfrm>
            <a:off x="7601480" y="1850226"/>
            <a:ext cx="1140000" cy="120000"/>
          </a:xfrm>
          <a:prstGeom prst="rect">
            <a:avLst/>
          </a:prstGeom>
          <a:noFill/>
          <a:ln/>
        </p:spPr>
        <p:txBody>
          <a:bodyPr wrap="square" lIns="0" tIns="0" rIns="0" bIns="0" rtlCol="0" anchor="ctr"/>
          <a:lstStyle/>
          <a:p>
            <a:pPr marL="0" indent="0" algn="ctr">
              <a:buNone/>
            </a:pPr>
            <a:r>
              <a:rPr lang="en-US" sz="700" b="1" spc="150" dirty="0">
                <a:solidFill>
                  <a:srgbClr val="F59E0B"/>
                </a:solidFill>
              </a:rPr>
              <a:t>DATA STORES</a:t>
            </a:r>
          </a:p>
        </p:txBody>
      </p:sp>
      <p:sp>
        <p:nvSpPr>
          <p:cNvPr id="120" name="ObsDivider"/>
          <p:cNvSpPr/>
          <p:nvPr/>
        </p:nvSpPr>
        <p:spPr>
          <a:xfrm>
            <a:off x="411480" y="3654310"/>
            <a:ext cx="8321040" cy="18000"/>
          </a:xfrm>
          <a:prstGeom prst="rect">
            <a:avLst/>
          </a:prstGeom>
          <a:solidFill>
            <a:srgbClr val="CBD5E1"/>
          </a:solidFill>
          <a:ln w="0">
            <a:noFill/>
          </a:ln>
        </p:spPr>
        <p:txBody>
          <a:bodyPr/>
          <a:lstStyle/>
          <a:p>
            <a:endParaRPr lang="en-IN"/>
          </a:p>
        </p:txBody>
      </p:sp>
      <p:sp>
        <p:nvSpPr>
          <p:cNvPr id="121" name="ObsLabel"/>
          <p:cNvSpPr/>
          <p:nvPr/>
        </p:nvSpPr>
        <p:spPr>
          <a:xfrm>
            <a:off x="411480" y="3704310"/>
            <a:ext cx="1400000" cy="180000"/>
          </a:xfrm>
          <a:prstGeom prst="rect">
            <a:avLst/>
          </a:prstGeom>
          <a:noFill/>
          <a:ln/>
        </p:spPr>
        <p:txBody>
          <a:bodyPr wrap="square" lIns="0" tIns="0" rIns="0" bIns="0" rtlCol="0" anchor="ctr"/>
          <a:lstStyle/>
          <a:p>
            <a:pPr marL="0" indent="0">
              <a:buNone/>
            </a:pPr>
            <a:r>
              <a:rPr lang="en-US" sz="720" b="1" spc="150" dirty="0">
                <a:solidFill>
                  <a:srgbClr val="475569"/>
                </a:solidFill>
              </a:rPr>
              <a:t>OBSERVABILITY</a:t>
            </a:r>
          </a:p>
        </p:txBody>
      </p:sp>
      <p:sp>
        <p:nvSpPr>
          <p:cNvPr id="122" name="OtelBox"/>
          <p:cNvSpPr/>
          <p:nvPr/>
        </p:nvSpPr>
        <p:spPr>
          <a:xfrm>
            <a:off x="411480" y="3934310"/>
            <a:ext cx="1260000" cy="260000"/>
          </a:xfrm>
          <a:prstGeom prst="roundRect">
            <a:avLst>
              <a:gd name="adj" fmla="val 15000"/>
            </a:avLst>
          </a:prstGeom>
          <a:solidFill>
            <a:srgbClr val="EFF6FF"/>
          </a:solidFill>
          <a:ln w="12700">
            <a:solidFill>
              <a:srgbClr val="475569"/>
            </a:solidFill>
            <a:prstDash val="solid"/>
          </a:ln>
        </p:spPr>
        <p:txBody>
          <a:bodyPr wrap="square" lIns="91440" tIns="45720" rIns="91440" bIns="45720" rtlCol="0" anchor="ctr"/>
          <a:lstStyle/>
          <a:p>
            <a:pPr marL="0" indent="0" algn="ctr">
              <a:buNone/>
            </a:pPr>
            <a:r>
              <a:rPr lang="en-US" sz="800" b="1" dirty="0">
                <a:solidFill>
                  <a:srgbClr val="475569"/>
                </a:solidFill>
              </a:rPr>
              <a:t>OpenTelemetry</a:t>
            </a:r>
          </a:p>
          <a:p>
            <a:pPr marL="0" indent="0" algn="ctr">
              <a:buNone/>
            </a:pPr>
            <a:r>
              <a:rPr lang="en-US" sz="650" dirty="0">
                <a:solidFill>
                  <a:srgbClr val="475569"/>
                </a:solidFill>
              </a:rPr>
              <a:t>Traces · Metrics · Logs</a:t>
            </a:r>
          </a:p>
        </p:txBody>
      </p:sp>
      <p:sp>
        <p:nvSpPr>
          <p:cNvPr id="123" name="DDBox"/>
          <p:cNvSpPr/>
          <p:nvPr/>
        </p:nvSpPr>
        <p:spPr>
          <a:xfrm>
            <a:off x="1811480" y="3934310"/>
            <a:ext cx="1260000" cy="260000"/>
          </a:xfrm>
          <a:prstGeom prst="roundRect">
            <a:avLst>
              <a:gd name="adj" fmla="val 15000"/>
            </a:avLst>
          </a:prstGeom>
          <a:solidFill>
            <a:srgbClr val="EFF6FF"/>
          </a:solidFill>
          <a:ln w="12700">
            <a:solidFill>
              <a:srgbClr val="475569"/>
            </a:solidFill>
            <a:prstDash val="solid"/>
          </a:ln>
        </p:spPr>
        <p:txBody>
          <a:bodyPr wrap="square" lIns="91440" tIns="45720" rIns="91440" bIns="45720" rtlCol="0" anchor="ctr"/>
          <a:lstStyle/>
          <a:p>
            <a:pPr marL="0" indent="0" algn="ctr">
              <a:buNone/>
            </a:pPr>
            <a:r>
              <a:rPr lang="en-US" sz="800" b="1" dirty="0">
                <a:solidFill>
                  <a:srgbClr val="475569"/>
                </a:solidFill>
              </a:rPr>
              <a:t>Dynatrace</a:t>
            </a:r>
          </a:p>
          <a:p>
            <a:pPr marL="0" indent="0" algn="ctr">
              <a:buNone/>
            </a:pPr>
            <a:r>
              <a:rPr lang="en-US" sz="650" dirty="0">
                <a:solidFill>
                  <a:srgbClr val="475569"/>
                </a:solidFill>
              </a:rPr>
              <a:t>Dashboards · Alerts</a:t>
            </a:r>
          </a:p>
        </p:txBody>
      </p:sp>
      <p:sp>
        <p:nvSpPr>
          <p:cNvPr id="124" name="JaegerBox"/>
          <p:cNvSpPr/>
          <p:nvPr/>
        </p:nvSpPr>
        <p:spPr>
          <a:xfrm>
            <a:off x="3211480" y="3934310"/>
            <a:ext cx="1260000" cy="260000"/>
          </a:xfrm>
          <a:prstGeom prst="roundRect">
            <a:avLst>
              <a:gd name="adj" fmla="val 15000"/>
            </a:avLst>
          </a:prstGeom>
          <a:solidFill>
            <a:srgbClr val="EFF6FF"/>
          </a:solidFill>
          <a:ln w="12700">
            <a:solidFill>
              <a:srgbClr val="475569"/>
            </a:solidFill>
            <a:prstDash val="solid"/>
          </a:ln>
        </p:spPr>
        <p:txBody>
          <a:bodyPr wrap="square" lIns="91440" tIns="45720" rIns="91440" bIns="45720" rtlCol="0" anchor="ctr"/>
          <a:lstStyle/>
          <a:p>
            <a:pPr marL="0" indent="0" algn="ctr">
              <a:buNone/>
            </a:pPr>
            <a:r>
              <a:rPr lang="en-US" sz="800" b="1" dirty="0">
                <a:solidFill>
                  <a:srgbClr val="475569"/>
                </a:solidFill>
              </a:rPr>
              <a:t>Jaeger / Tempo</a:t>
            </a:r>
          </a:p>
          <a:p>
            <a:pPr marL="0" indent="0" algn="ctr">
              <a:buNone/>
            </a:pPr>
            <a:r>
              <a:rPr lang="en-US" sz="650" dirty="0">
                <a:solidFill>
                  <a:srgbClr val="475569"/>
                </a:solidFill>
              </a:rPr>
              <a:t>Distributed tracing</a:t>
            </a:r>
          </a:p>
        </p:txBody>
      </p:sp>
      <p:sp>
        <p:nvSpPr>
          <p:cNvPr id="125" name="SonarBox"/>
          <p:cNvSpPr/>
          <p:nvPr/>
        </p:nvSpPr>
        <p:spPr>
          <a:xfrm>
            <a:off x="4611480" y="3934310"/>
            <a:ext cx="1260000" cy="260000"/>
          </a:xfrm>
          <a:prstGeom prst="roundRect">
            <a:avLst>
              <a:gd name="adj" fmla="val 15000"/>
            </a:avLst>
          </a:prstGeom>
          <a:solidFill>
            <a:srgbClr val="EFF6FF"/>
          </a:solidFill>
          <a:ln w="12700">
            <a:solidFill>
              <a:srgbClr val="475569"/>
            </a:solidFill>
            <a:prstDash val="solid"/>
          </a:ln>
        </p:spPr>
        <p:txBody>
          <a:bodyPr wrap="square" lIns="91440" tIns="45720" rIns="91440" bIns="45720" rtlCol="0" anchor="ctr"/>
          <a:lstStyle/>
          <a:p>
            <a:pPr marL="0" indent="0" algn="ctr">
              <a:buNone/>
            </a:pPr>
            <a:r>
              <a:rPr lang="en-US" sz="800" b="1" dirty="0">
                <a:solidFill>
                  <a:srgbClr val="475569"/>
                </a:solidFill>
              </a:rPr>
              <a:t>SonarQube</a:t>
            </a:r>
          </a:p>
          <a:p>
            <a:pPr marL="0" indent="0" algn="ctr">
              <a:buNone/>
            </a:pPr>
            <a:r>
              <a:rPr lang="en-US" sz="650" dirty="0">
                <a:solidFill>
                  <a:srgbClr val="475569"/>
                </a:solidFill>
              </a:rPr>
              <a:t>Quality gates · PRs</a:t>
            </a:r>
          </a:p>
        </p:txBody>
      </p:sp>
      <p:sp>
        <p:nvSpPr>
          <p:cNvPr id="126" name="ArgoCDBox"/>
          <p:cNvSpPr/>
          <p:nvPr/>
        </p:nvSpPr>
        <p:spPr>
          <a:xfrm>
            <a:off x="6011480" y="3934310"/>
            <a:ext cx="1260000" cy="260000"/>
          </a:xfrm>
          <a:prstGeom prst="roundRect">
            <a:avLst>
              <a:gd name="adj" fmla="val 15000"/>
            </a:avLst>
          </a:prstGeom>
          <a:solidFill>
            <a:srgbClr val="EFF6FF"/>
          </a:solidFill>
          <a:ln w="12700">
            <a:solidFill>
              <a:srgbClr val="475569"/>
            </a:solidFill>
            <a:prstDash val="solid"/>
          </a:ln>
        </p:spPr>
        <p:txBody>
          <a:bodyPr wrap="square" lIns="91440" tIns="45720" rIns="91440" bIns="45720" rtlCol="0" anchor="ctr"/>
          <a:lstStyle/>
          <a:p>
            <a:pPr marL="0" indent="0" algn="ctr">
              <a:buNone/>
            </a:pPr>
            <a:r>
              <a:rPr lang="en-US" sz="800" b="1" dirty="0">
                <a:solidFill>
                  <a:srgbClr val="475569"/>
                </a:solidFill>
              </a:rPr>
              <a:t>ArgoCD / GitOps</a:t>
            </a:r>
          </a:p>
          <a:p>
            <a:pPr marL="0" indent="0" algn="ctr">
              <a:buNone/>
            </a:pPr>
            <a:r>
              <a:rPr lang="en-US" sz="650" dirty="0">
                <a:solidFill>
                  <a:srgbClr val="475569"/>
                </a:solidFill>
              </a:rPr>
              <a:t>Continuous delivery</a:t>
            </a:r>
          </a:p>
        </p:txBody>
      </p:sp>
      <p:sp>
        <p:nvSpPr>
          <p:cNvPr id="127" name="VaultBox"/>
          <p:cNvSpPr/>
          <p:nvPr/>
        </p:nvSpPr>
        <p:spPr>
          <a:xfrm>
            <a:off x="7411480" y="3934310"/>
            <a:ext cx="1260000" cy="260000"/>
          </a:xfrm>
          <a:prstGeom prst="roundRect">
            <a:avLst>
              <a:gd name="adj" fmla="val 15000"/>
            </a:avLst>
          </a:prstGeom>
          <a:solidFill>
            <a:srgbClr val="EFF6FF"/>
          </a:solidFill>
          <a:ln w="12700">
            <a:solidFill>
              <a:srgbClr val="475569"/>
            </a:solidFill>
            <a:prstDash val="solid"/>
          </a:ln>
        </p:spPr>
        <p:txBody>
          <a:bodyPr wrap="square" lIns="91440" tIns="45720" rIns="91440" bIns="45720" rtlCol="0" anchor="ctr"/>
          <a:lstStyle/>
          <a:p>
            <a:pPr marL="0" indent="0" algn="ctr">
              <a:buNone/>
            </a:pPr>
            <a:r>
              <a:rPr lang="en-US" sz="800" b="1" dirty="0">
                <a:solidFill>
                  <a:srgbClr val="475569"/>
                </a:solidFill>
              </a:rPr>
              <a:t>Vault / Secrets</a:t>
            </a:r>
          </a:p>
          <a:p>
            <a:pPr marL="0" indent="0" algn="ctr">
              <a:buNone/>
            </a:pPr>
            <a:r>
              <a:rPr lang="en-US" sz="650" dirty="0">
                <a:solidFill>
                  <a:srgbClr val="475569"/>
                </a:solidFill>
              </a:rPr>
              <a:t>Secrets management</a:t>
            </a:r>
          </a:p>
        </p:txBody>
      </p:sp>
      <p:sp>
        <p:nvSpPr>
          <p:cNvPr id="130" name="K8sBorder"/>
          <p:cNvSpPr/>
          <p:nvPr/>
        </p:nvSpPr>
        <p:spPr>
          <a:xfrm>
            <a:off x="3980000" y="1744310"/>
            <a:ext cx="4880000" cy="1700000"/>
          </a:xfrm>
          <a:prstGeom prst="rect">
            <a:avLst/>
          </a:prstGeom>
          <a:noFill/>
          <a:ln w="12700">
            <a:solidFill>
              <a:srgbClr val="334155"/>
            </a:solidFill>
            <a:prstDash val="dash"/>
          </a:ln>
        </p:spPr>
        <p:txBody>
          <a:bodyPr/>
          <a:lstStyle/>
          <a:p>
            <a:endParaRPr lang="en-IN"/>
          </a:p>
        </p:txBody>
      </p:sp>
      <p:sp>
        <p:nvSpPr>
          <p:cNvPr id="131" name="K8sLabel"/>
          <p:cNvSpPr/>
          <p:nvPr/>
        </p:nvSpPr>
        <p:spPr>
          <a:xfrm>
            <a:off x="7881080" y="3053169"/>
            <a:ext cx="760000" cy="140000"/>
          </a:xfrm>
          <a:prstGeom prst="rect">
            <a:avLst/>
          </a:prstGeom>
          <a:solidFill>
            <a:srgbClr val="FFFFFF"/>
          </a:solidFill>
          <a:ln w="0">
            <a:noFill/>
          </a:ln>
        </p:spPr>
        <p:txBody>
          <a:bodyPr wrap="square" lIns="45720" tIns="0" rIns="45720" bIns="0" rtlCol="0" anchor="ctr"/>
          <a:lstStyle/>
          <a:p>
            <a:pPr marL="0" indent="0">
              <a:buNone/>
            </a:pPr>
            <a:r>
              <a:rPr lang="en-US" sz="680" b="1" spc="100" dirty="0">
                <a:solidFill>
                  <a:srgbClr val="334155"/>
                </a:solidFill>
              </a:rPr>
              <a:t>EKS Cluster</a:t>
            </a:r>
          </a:p>
        </p:txBody>
      </p:sp>
      <p:sp>
        <p:nvSpPr>
          <p:cNvPr id="140" name="Step1Circle"/>
          <p:cNvSpPr/>
          <p:nvPr/>
        </p:nvSpPr>
        <p:spPr>
          <a:xfrm>
            <a:off x="1770000" y="1434310"/>
            <a:ext cx="140000" cy="140000"/>
          </a:xfrm>
          <a:prstGeom prst="ellipse">
            <a:avLst/>
          </a:prstGeom>
          <a:solidFill>
            <a:srgbClr val="3B82F6"/>
          </a:solidFill>
          <a:ln w="0">
            <a:noFill/>
          </a:ln>
        </p:spPr>
        <p:txBody>
          <a:bodyPr wrap="square" lIns="0" tIns="0" rIns="0" bIns="0" rtlCol="0" anchor="ctr"/>
          <a:lstStyle/>
          <a:p>
            <a:pPr marL="0" indent="0" algn="ctr">
              <a:buNone/>
            </a:pPr>
            <a:r>
              <a:rPr lang="en-US" sz="650" b="1" dirty="0">
                <a:solidFill>
                  <a:srgbClr val="FFFFFF"/>
                </a:solidFill>
              </a:rPr>
              <a:t>1</a:t>
            </a:r>
          </a:p>
        </p:txBody>
      </p:sp>
      <p:sp>
        <p:nvSpPr>
          <p:cNvPr id="141" name="Step2Circle"/>
          <p:cNvSpPr/>
          <p:nvPr/>
        </p:nvSpPr>
        <p:spPr>
          <a:xfrm>
            <a:off x="2830000" y="1814310"/>
            <a:ext cx="140000" cy="140000"/>
          </a:xfrm>
          <a:prstGeom prst="ellipse">
            <a:avLst/>
          </a:prstGeom>
          <a:solidFill>
            <a:srgbClr val="3B82F6"/>
          </a:solidFill>
          <a:ln w="0">
            <a:noFill/>
          </a:ln>
        </p:spPr>
        <p:txBody>
          <a:bodyPr wrap="square" lIns="0" tIns="0" rIns="0" bIns="0" rtlCol="0" anchor="ctr"/>
          <a:lstStyle/>
          <a:p>
            <a:pPr marL="0" indent="0" algn="ctr">
              <a:buNone/>
            </a:pPr>
            <a:r>
              <a:rPr lang="en-US" sz="650" b="1" dirty="0">
                <a:solidFill>
                  <a:srgbClr val="FFFFFF"/>
                </a:solidFill>
              </a:rPr>
              <a:t>2</a:t>
            </a:r>
          </a:p>
        </p:txBody>
      </p:sp>
      <p:sp>
        <p:nvSpPr>
          <p:cNvPr id="142" name="Step3Circle"/>
          <p:cNvSpPr/>
          <p:nvPr/>
        </p:nvSpPr>
        <p:spPr>
          <a:xfrm>
            <a:off x="3870000" y="2274310"/>
            <a:ext cx="140000" cy="140000"/>
          </a:xfrm>
          <a:prstGeom prst="ellipse">
            <a:avLst/>
          </a:prstGeom>
          <a:solidFill>
            <a:srgbClr val="3B82F6"/>
          </a:solidFill>
          <a:ln w="0">
            <a:noFill/>
          </a:ln>
        </p:spPr>
        <p:txBody>
          <a:bodyPr wrap="square" lIns="0" tIns="0" rIns="0" bIns="0" rtlCol="0" anchor="ctr"/>
          <a:lstStyle/>
          <a:p>
            <a:pPr marL="0" indent="0" algn="ctr">
              <a:buNone/>
            </a:pPr>
            <a:r>
              <a:rPr lang="en-US" sz="650" b="1" dirty="0">
                <a:solidFill>
                  <a:srgbClr val="FFFFFF"/>
                </a:solidFill>
              </a:rPr>
              <a:t>3</a:t>
            </a:r>
          </a:p>
        </p:txBody>
      </p:sp>
      <p:sp>
        <p:nvSpPr>
          <p:cNvPr id="143" name="Step4Circle"/>
          <p:cNvSpPr/>
          <p:nvPr/>
        </p:nvSpPr>
        <p:spPr>
          <a:xfrm>
            <a:off x="5560000" y="2474310"/>
            <a:ext cx="140000" cy="140000"/>
          </a:xfrm>
          <a:prstGeom prst="ellipse">
            <a:avLst/>
          </a:prstGeom>
          <a:solidFill>
            <a:srgbClr val="10B981"/>
          </a:solidFill>
          <a:ln w="0">
            <a:noFill/>
          </a:ln>
        </p:spPr>
        <p:txBody>
          <a:bodyPr wrap="square" lIns="0" tIns="0" rIns="0" bIns="0" rtlCol="0" anchor="ctr"/>
          <a:lstStyle/>
          <a:p>
            <a:pPr marL="0" indent="0" algn="ctr">
              <a:buNone/>
            </a:pPr>
            <a:r>
              <a:rPr lang="en-US" sz="650" b="1" dirty="0">
                <a:solidFill>
                  <a:srgbClr val="FFFFFF"/>
                </a:solidFill>
              </a:rPr>
              <a:t>4</a:t>
            </a:r>
          </a:p>
        </p:txBody>
      </p:sp>
      <p:sp>
        <p:nvSpPr>
          <p:cNvPr id="144" name="Step5Circle"/>
          <p:cNvSpPr/>
          <p:nvPr/>
        </p:nvSpPr>
        <p:spPr>
          <a:xfrm>
            <a:off x="7350000" y="2514310"/>
            <a:ext cx="140000" cy="140000"/>
          </a:xfrm>
          <a:prstGeom prst="ellipse">
            <a:avLst/>
          </a:prstGeom>
          <a:solidFill>
            <a:srgbClr val="F59E0B"/>
          </a:solidFill>
          <a:ln w="0">
            <a:noFill/>
          </a:ln>
        </p:spPr>
        <p:txBody>
          <a:bodyPr wrap="square" lIns="0" tIns="0" rIns="0" bIns="0" rtlCol="0" anchor="ctr"/>
          <a:lstStyle/>
          <a:p>
            <a:pPr marL="0" indent="0" algn="ctr">
              <a:buNone/>
            </a:pPr>
            <a:r>
              <a:rPr lang="en-US" sz="650" b="1" dirty="0">
                <a:solidFill>
                  <a:srgbClr val="FFFFFF"/>
                </a:solidFill>
              </a:rPr>
              <a:t>5</a:t>
            </a:r>
          </a:p>
        </p:txBody>
      </p:sp>
      <p:sp>
        <p:nvSpPr>
          <p:cNvPr id="150" name="FooterNote"/>
          <p:cNvSpPr/>
          <p:nvPr/>
        </p:nvSpPr>
        <p:spPr>
          <a:xfrm>
            <a:off x="450960" y="4421310"/>
            <a:ext cx="8321040" cy="200000"/>
          </a:xfrm>
          <a:prstGeom prst="rect">
            <a:avLst/>
          </a:prstGeom>
          <a:noFill/>
          <a:ln/>
        </p:spPr>
        <p:txBody>
          <a:bodyPr wrap="square" lIns="0" tIns="0" rIns="0" bIns="0" rtlCol="0" anchor="ctr"/>
          <a:lstStyle/>
          <a:p>
            <a:pPr marL="0" indent="0">
              <a:buNone/>
            </a:pPr>
            <a:r>
              <a:rPr lang="en-US" sz="680" dirty="0">
                <a:solidFill>
                  <a:srgbClr val="334155"/>
                </a:solidFill>
              </a:rPr>
              <a:t>All services run inside EKS pods  ·  Each owns its own data store  ·  Event-driven consistency via Kafka CDC  ·  No shared schema across services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11480" y="274320"/>
            <a:ext cx="8229600" cy="182880"/>
          </a:xfrm>
          <a:prstGeom prst="rect">
            <a:avLst/>
          </a:prstGeom>
          <a:noFill/>
          <a:ln/>
        </p:spPr>
        <p:txBody>
          <a:bodyPr wrap="square" lIns="0" tIns="0" rIns="0" bIns="0" rtlCol="0" anchor="ctr"/>
          <a:lstStyle/>
          <a:p>
            <a:pPr marL="0" indent="0">
              <a:buNone/>
            </a:pPr>
            <a:r>
              <a:rPr lang="en-US" sz="750" b="1" kern="0" spc="250" dirty="0">
                <a:solidFill>
                  <a:srgbClr val="94A3B8"/>
                </a:solidFill>
              </a:rPr>
              <a:t>CHAPTER 1 · ARCHITECTURE</a:t>
            </a:r>
            <a:endParaRPr lang="en-US" sz="750" dirty="0"/>
          </a:p>
        </p:txBody>
      </p:sp>
      <p:sp>
        <p:nvSpPr>
          <p:cNvPr id="3" name="Shape 1"/>
          <p:cNvSpPr/>
          <p:nvPr/>
        </p:nvSpPr>
        <p:spPr>
          <a:xfrm>
            <a:off x="411480" y="493776"/>
            <a:ext cx="8321040" cy="25603"/>
          </a:xfrm>
          <a:prstGeom prst="rect">
            <a:avLst/>
          </a:prstGeom>
          <a:solidFill>
            <a:srgbClr val="E2E8F0"/>
          </a:solidFill>
          <a:ln w="12700">
            <a:solidFill>
              <a:srgbClr val="E2E8F0"/>
            </a:solidFill>
            <a:prstDash val="solid"/>
          </a:ln>
        </p:spPr>
        <p:txBody>
          <a:bodyPr/>
          <a:lstStyle/>
          <a:p>
            <a:endParaRPr lang="en-IN"/>
          </a:p>
        </p:txBody>
      </p:sp>
      <p:sp>
        <p:nvSpPr>
          <p:cNvPr id="4" name="Text 2"/>
          <p:cNvSpPr/>
          <p:nvPr/>
        </p:nvSpPr>
        <p:spPr>
          <a:xfrm>
            <a:off x="411480" y="621792"/>
            <a:ext cx="8321040" cy="566928"/>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Target Architecture Overview</a:t>
            </a:r>
            <a:endParaRPr lang="en-US" sz="2600" dirty="0"/>
          </a:p>
        </p:txBody>
      </p:sp>
      <p:sp>
        <p:nvSpPr>
          <p:cNvPr id="5" name="Text 3"/>
          <p:cNvSpPr/>
          <p:nvPr/>
        </p:nvSpPr>
        <p:spPr>
          <a:xfrm>
            <a:off x="411480" y="1225296"/>
            <a:ext cx="6858000" cy="256032"/>
          </a:xfrm>
          <a:prstGeom prst="rect">
            <a:avLst/>
          </a:prstGeom>
          <a:noFill/>
          <a:ln/>
        </p:spPr>
        <p:txBody>
          <a:bodyPr wrap="square" lIns="0" tIns="0" rIns="0" bIns="0" rtlCol="0" anchor="ctr"/>
          <a:lstStyle/>
          <a:p>
            <a:pPr marL="0" indent="0">
              <a:buNone/>
            </a:pPr>
            <a:r>
              <a:rPr lang="en-US" sz="1100" dirty="0">
                <a:solidFill>
                  <a:srgbClr val="475569"/>
                </a:solidFill>
              </a:rPr>
              <a:t>Each service owns its domain, its data store, and its delivery pipeline</a:t>
            </a:r>
            <a:endParaRPr lang="en-US" sz="1100" dirty="0"/>
          </a:p>
        </p:txBody>
      </p:sp>
      <p:sp>
        <p:nvSpPr>
          <p:cNvPr id="6" name="Shape 4"/>
          <p:cNvSpPr/>
          <p:nvPr/>
        </p:nvSpPr>
        <p:spPr>
          <a:xfrm>
            <a:off x="411480" y="1536192"/>
            <a:ext cx="8321040" cy="868680"/>
          </a:xfrm>
          <a:prstGeom prst="rect">
            <a:avLst/>
          </a:prstGeom>
          <a:solidFill>
            <a:srgbClr val="0F172A"/>
          </a:solidFill>
          <a:ln w="12700">
            <a:solidFill>
              <a:srgbClr val="0F172A"/>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548640" y="1664208"/>
            <a:ext cx="256032" cy="256032"/>
          </a:xfrm>
          <a:prstGeom prst="rect">
            <a:avLst/>
          </a:prstGeom>
        </p:spPr>
      </p:pic>
      <p:sp>
        <p:nvSpPr>
          <p:cNvPr id="8" name="Text 5"/>
          <p:cNvSpPr/>
          <p:nvPr/>
        </p:nvSpPr>
        <p:spPr>
          <a:xfrm>
            <a:off x="877824" y="1664208"/>
            <a:ext cx="1691640" cy="256032"/>
          </a:xfrm>
          <a:prstGeom prst="rect">
            <a:avLst/>
          </a:prstGeom>
          <a:noFill/>
          <a:ln/>
        </p:spPr>
        <p:txBody>
          <a:bodyPr wrap="square" lIns="0" tIns="0" rIns="0" bIns="0" rtlCol="0" anchor="ctr"/>
          <a:lstStyle/>
          <a:p>
            <a:pPr marL="0" indent="0">
              <a:buNone/>
            </a:pPr>
            <a:r>
              <a:rPr lang="en-US" sz="1000" b="1" dirty="0">
                <a:solidFill>
                  <a:srgbClr val="FFFFFF"/>
                </a:solidFill>
              </a:rPr>
              <a:t>API Gateway</a:t>
            </a:r>
            <a:endParaRPr lang="en-US" sz="1000" dirty="0"/>
          </a:p>
        </p:txBody>
      </p:sp>
      <p:pic>
        <p:nvPicPr>
          <p:cNvPr id="9" name="Image 1" descr="preencoded.png"/>
          <p:cNvPicPr>
            <a:picLocks noChangeAspect="1"/>
          </p:cNvPicPr>
          <p:nvPr/>
        </p:nvPicPr>
        <p:blipFill>
          <a:blip r:embed="rId4"/>
          <a:stretch>
            <a:fillRect/>
          </a:stretch>
        </p:blipFill>
        <p:spPr>
          <a:xfrm>
            <a:off x="2651760" y="1664208"/>
            <a:ext cx="256032" cy="256032"/>
          </a:xfrm>
          <a:prstGeom prst="rect">
            <a:avLst/>
          </a:prstGeom>
        </p:spPr>
      </p:pic>
      <p:sp>
        <p:nvSpPr>
          <p:cNvPr id="10" name="Text 6"/>
          <p:cNvSpPr/>
          <p:nvPr/>
        </p:nvSpPr>
        <p:spPr>
          <a:xfrm>
            <a:off x="2980944" y="1664208"/>
            <a:ext cx="1691640" cy="256032"/>
          </a:xfrm>
          <a:prstGeom prst="rect">
            <a:avLst/>
          </a:prstGeom>
          <a:noFill/>
          <a:ln/>
        </p:spPr>
        <p:txBody>
          <a:bodyPr wrap="square" lIns="0" tIns="0" rIns="0" bIns="0" rtlCol="0" anchor="ctr"/>
          <a:lstStyle/>
          <a:p>
            <a:pPr marL="0" indent="0">
              <a:buNone/>
            </a:pPr>
            <a:r>
              <a:rPr lang="en-US" sz="1000" b="1" dirty="0">
                <a:solidFill>
                  <a:srgbClr val="FFFFFF"/>
                </a:solidFill>
              </a:rPr>
              <a:t>Domain Services</a:t>
            </a:r>
            <a:endParaRPr lang="en-US" sz="1000" dirty="0"/>
          </a:p>
        </p:txBody>
      </p:sp>
      <p:pic>
        <p:nvPicPr>
          <p:cNvPr id="11" name="Image 2" descr="preencoded.png"/>
          <p:cNvPicPr>
            <a:picLocks noChangeAspect="1"/>
          </p:cNvPicPr>
          <p:nvPr/>
        </p:nvPicPr>
        <p:blipFill>
          <a:blip r:embed="rId5"/>
          <a:stretch>
            <a:fillRect/>
          </a:stretch>
        </p:blipFill>
        <p:spPr>
          <a:xfrm>
            <a:off x="4754880" y="1664208"/>
            <a:ext cx="256032" cy="256032"/>
          </a:xfrm>
          <a:prstGeom prst="rect">
            <a:avLst/>
          </a:prstGeom>
        </p:spPr>
      </p:pic>
      <p:sp>
        <p:nvSpPr>
          <p:cNvPr id="12" name="Text 7"/>
          <p:cNvSpPr/>
          <p:nvPr/>
        </p:nvSpPr>
        <p:spPr>
          <a:xfrm>
            <a:off x="5084064" y="1664208"/>
            <a:ext cx="1691640" cy="256032"/>
          </a:xfrm>
          <a:prstGeom prst="rect">
            <a:avLst/>
          </a:prstGeom>
          <a:noFill/>
          <a:ln/>
        </p:spPr>
        <p:txBody>
          <a:bodyPr wrap="square" lIns="0" tIns="0" rIns="0" bIns="0" rtlCol="0" anchor="ctr"/>
          <a:lstStyle/>
          <a:p>
            <a:pPr marL="0" indent="0">
              <a:buNone/>
            </a:pPr>
            <a:r>
              <a:rPr lang="en-US" sz="1000" b="1" dirty="0">
                <a:solidFill>
                  <a:srgbClr val="FFFFFF"/>
                </a:solidFill>
              </a:rPr>
              <a:t>Event Bus</a:t>
            </a:r>
            <a:endParaRPr lang="en-US" sz="1000" dirty="0"/>
          </a:p>
        </p:txBody>
      </p:sp>
      <p:pic>
        <p:nvPicPr>
          <p:cNvPr id="13" name="Image 3" descr="preencoded.png"/>
          <p:cNvPicPr>
            <a:picLocks noChangeAspect="1"/>
          </p:cNvPicPr>
          <p:nvPr/>
        </p:nvPicPr>
        <p:blipFill>
          <a:blip r:embed="rId6"/>
          <a:stretch>
            <a:fillRect/>
          </a:stretch>
        </p:blipFill>
        <p:spPr>
          <a:xfrm>
            <a:off x="6858000" y="1664208"/>
            <a:ext cx="256032" cy="256032"/>
          </a:xfrm>
          <a:prstGeom prst="rect">
            <a:avLst/>
          </a:prstGeom>
        </p:spPr>
      </p:pic>
      <p:sp>
        <p:nvSpPr>
          <p:cNvPr id="14" name="Text 8"/>
          <p:cNvSpPr/>
          <p:nvPr/>
        </p:nvSpPr>
        <p:spPr>
          <a:xfrm>
            <a:off x="7187184" y="1664208"/>
            <a:ext cx="1691640" cy="256032"/>
          </a:xfrm>
          <a:prstGeom prst="rect">
            <a:avLst/>
          </a:prstGeom>
          <a:noFill/>
          <a:ln/>
        </p:spPr>
        <p:txBody>
          <a:bodyPr wrap="square" lIns="0" tIns="0" rIns="0" bIns="0" rtlCol="0" anchor="ctr"/>
          <a:lstStyle/>
          <a:p>
            <a:pPr marL="0" indent="0">
              <a:buNone/>
            </a:pPr>
            <a:r>
              <a:rPr lang="en-US" sz="1000" b="1" dirty="0">
                <a:solidFill>
                  <a:srgbClr val="FFFFFF"/>
                </a:solidFill>
              </a:rPr>
              <a:t>Polyglot Persistence</a:t>
            </a:r>
            <a:endParaRPr lang="en-US" sz="1000" dirty="0"/>
          </a:p>
        </p:txBody>
      </p:sp>
      <p:sp>
        <p:nvSpPr>
          <p:cNvPr id="15" name="Shape 9"/>
          <p:cNvSpPr/>
          <p:nvPr/>
        </p:nvSpPr>
        <p:spPr>
          <a:xfrm>
            <a:off x="411480" y="2496312"/>
            <a:ext cx="1984248" cy="242316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16" name="Shape 10"/>
          <p:cNvSpPr/>
          <p:nvPr/>
        </p:nvSpPr>
        <p:spPr>
          <a:xfrm>
            <a:off x="411480" y="2542032"/>
            <a:ext cx="1984248" cy="27432"/>
          </a:xfrm>
          <a:prstGeom prst="rect">
            <a:avLst/>
          </a:prstGeom>
          <a:solidFill>
            <a:srgbClr val="1D4ED8"/>
          </a:solidFill>
          <a:ln w="12700">
            <a:solidFill>
              <a:srgbClr val="1D4ED8"/>
            </a:solidFill>
            <a:prstDash val="solid"/>
          </a:ln>
        </p:spPr>
        <p:txBody>
          <a:bodyPr/>
          <a:lstStyle/>
          <a:p>
            <a:endParaRPr lang="en-IN"/>
          </a:p>
        </p:txBody>
      </p:sp>
      <p:sp>
        <p:nvSpPr>
          <p:cNvPr id="17" name="Text 11"/>
          <p:cNvSpPr/>
          <p:nvPr/>
        </p:nvSpPr>
        <p:spPr>
          <a:xfrm>
            <a:off x="539496" y="2651760"/>
            <a:ext cx="1755648" cy="2148840"/>
          </a:xfrm>
          <a:prstGeom prst="rect">
            <a:avLst/>
          </a:prstGeom>
          <a:noFill/>
          <a:ln/>
        </p:spPr>
        <p:txBody>
          <a:bodyPr wrap="square" lIns="0" tIns="0" rIns="0" bIns="0" rtlCol="0" anchor="ctr"/>
          <a:lstStyle/>
          <a:p>
            <a:pPr marL="0" indent="0">
              <a:lnSpc>
                <a:spcPct val="150000"/>
              </a:lnSpc>
              <a:buNone/>
            </a:pPr>
            <a:r>
              <a:rPr lang="en-US" sz="920" dirty="0">
                <a:solidFill>
                  <a:srgbClr val="475569"/>
                </a:solidFill>
              </a:rPr>
              <a:t>AWS API Gateway — single ingress point handling routing, rate limiting, auth delegation, and SSL termination before any request reaches a service.</a:t>
            </a:r>
            <a:endParaRPr lang="en-US" sz="920" dirty="0"/>
          </a:p>
        </p:txBody>
      </p:sp>
      <p:sp>
        <p:nvSpPr>
          <p:cNvPr id="18" name="Shape 12"/>
          <p:cNvSpPr/>
          <p:nvPr/>
        </p:nvSpPr>
        <p:spPr>
          <a:xfrm>
            <a:off x="2542032" y="2496312"/>
            <a:ext cx="1984248" cy="242316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19" name="Shape 13"/>
          <p:cNvSpPr/>
          <p:nvPr/>
        </p:nvSpPr>
        <p:spPr>
          <a:xfrm>
            <a:off x="2542032" y="2542032"/>
            <a:ext cx="1984248" cy="27432"/>
          </a:xfrm>
          <a:prstGeom prst="rect">
            <a:avLst/>
          </a:prstGeom>
          <a:solidFill>
            <a:srgbClr val="1D4ED8"/>
          </a:solidFill>
          <a:ln w="12700">
            <a:solidFill>
              <a:srgbClr val="1D4ED8"/>
            </a:solidFill>
            <a:prstDash val="solid"/>
          </a:ln>
        </p:spPr>
        <p:txBody>
          <a:bodyPr/>
          <a:lstStyle/>
          <a:p>
            <a:endParaRPr lang="en-IN"/>
          </a:p>
        </p:txBody>
      </p:sp>
      <p:sp>
        <p:nvSpPr>
          <p:cNvPr id="20" name="Text 14"/>
          <p:cNvSpPr/>
          <p:nvPr/>
        </p:nvSpPr>
        <p:spPr>
          <a:xfrm>
            <a:off x="2670048" y="2651760"/>
            <a:ext cx="1755648" cy="2148840"/>
          </a:xfrm>
          <a:prstGeom prst="rect">
            <a:avLst/>
          </a:prstGeom>
          <a:noFill/>
          <a:ln/>
        </p:spPr>
        <p:txBody>
          <a:bodyPr wrap="square" lIns="0" tIns="0" rIns="0" bIns="0" rtlCol="0" anchor="ctr"/>
          <a:lstStyle/>
          <a:p>
            <a:pPr marL="0" indent="0">
              <a:lnSpc>
                <a:spcPct val="150000"/>
              </a:lnSpc>
              <a:buNone/>
            </a:pPr>
            <a:r>
              <a:rPr lang="en-US" sz="920" dirty="0">
                <a:solidFill>
                  <a:srgbClr val="475569"/>
                </a:solidFill>
              </a:rPr>
              <a:t>Node.js + NestJS microservices aligned to business capabilities: Orders, Inventory, Billing, and Identity. Every service independently deployable with its own cadence.</a:t>
            </a:r>
            <a:endParaRPr lang="en-US" sz="920" dirty="0"/>
          </a:p>
        </p:txBody>
      </p:sp>
      <p:sp>
        <p:nvSpPr>
          <p:cNvPr id="21" name="Shape 15"/>
          <p:cNvSpPr/>
          <p:nvPr/>
        </p:nvSpPr>
        <p:spPr>
          <a:xfrm>
            <a:off x="4672584" y="2496312"/>
            <a:ext cx="1984248" cy="242316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22" name="Shape 16"/>
          <p:cNvSpPr/>
          <p:nvPr/>
        </p:nvSpPr>
        <p:spPr>
          <a:xfrm>
            <a:off x="4672584" y="2542032"/>
            <a:ext cx="1984248" cy="27432"/>
          </a:xfrm>
          <a:prstGeom prst="rect">
            <a:avLst/>
          </a:prstGeom>
          <a:solidFill>
            <a:srgbClr val="1D4ED8"/>
          </a:solidFill>
          <a:ln w="12700">
            <a:solidFill>
              <a:srgbClr val="1D4ED8"/>
            </a:solidFill>
            <a:prstDash val="solid"/>
          </a:ln>
        </p:spPr>
        <p:txBody>
          <a:bodyPr/>
          <a:lstStyle/>
          <a:p>
            <a:endParaRPr lang="en-IN"/>
          </a:p>
        </p:txBody>
      </p:sp>
      <p:sp>
        <p:nvSpPr>
          <p:cNvPr id="23" name="Text 17"/>
          <p:cNvSpPr/>
          <p:nvPr/>
        </p:nvSpPr>
        <p:spPr>
          <a:xfrm>
            <a:off x="4800600" y="2651760"/>
            <a:ext cx="1755648" cy="2148840"/>
          </a:xfrm>
          <a:prstGeom prst="rect">
            <a:avLst/>
          </a:prstGeom>
          <a:noFill/>
          <a:ln/>
        </p:spPr>
        <p:txBody>
          <a:bodyPr wrap="square" lIns="0" tIns="0" rIns="0" bIns="0" rtlCol="0" anchor="ctr"/>
          <a:lstStyle/>
          <a:p>
            <a:pPr marL="0" indent="0">
              <a:lnSpc>
                <a:spcPct val="150000"/>
              </a:lnSpc>
              <a:buNone/>
            </a:pPr>
            <a:r>
              <a:rPr lang="en-US" sz="920" dirty="0">
                <a:solidFill>
                  <a:srgbClr val="475569"/>
                </a:solidFill>
              </a:rPr>
              <a:t>Apache Kafka or Amazon EventBridge decouples producers from consumers. Async messaging enables resilient, non-blocking workflows and powers the CDC pipeline.</a:t>
            </a:r>
            <a:endParaRPr lang="en-US" sz="920" dirty="0"/>
          </a:p>
        </p:txBody>
      </p:sp>
      <p:sp>
        <p:nvSpPr>
          <p:cNvPr id="24" name="Shape 18"/>
          <p:cNvSpPr/>
          <p:nvPr/>
        </p:nvSpPr>
        <p:spPr>
          <a:xfrm>
            <a:off x="6803136" y="2496312"/>
            <a:ext cx="1984248" cy="242316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25" name="Shape 19"/>
          <p:cNvSpPr/>
          <p:nvPr/>
        </p:nvSpPr>
        <p:spPr>
          <a:xfrm>
            <a:off x="6803136" y="2542032"/>
            <a:ext cx="1984248" cy="27432"/>
          </a:xfrm>
          <a:prstGeom prst="rect">
            <a:avLst/>
          </a:prstGeom>
          <a:solidFill>
            <a:srgbClr val="1D4ED8"/>
          </a:solidFill>
          <a:ln w="12700">
            <a:solidFill>
              <a:srgbClr val="1D4ED8"/>
            </a:solidFill>
            <a:prstDash val="solid"/>
          </a:ln>
        </p:spPr>
        <p:txBody>
          <a:bodyPr/>
          <a:lstStyle/>
          <a:p>
            <a:endParaRPr lang="en-IN"/>
          </a:p>
        </p:txBody>
      </p:sp>
      <p:sp>
        <p:nvSpPr>
          <p:cNvPr id="26" name="Text 20"/>
          <p:cNvSpPr/>
          <p:nvPr/>
        </p:nvSpPr>
        <p:spPr>
          <a:xfrm>
            <a:off x="6931152" y="2651760"/>
            <a:ext cx="1755648" cy="2148840"/>
          </a:xfrm>
          <a:prstGeom prst="rect">
            <a:avLst/>
          </a:prstGeom>
          <a:noFill/>
          <a:ln/>
        </p:spPr>
        <p:txBody>
          <a:bodyPr wrap="square" lIns="0" tIns="0" rIns="0" bIns="0" rtlCol="0" anchor="ctr"/>
          <a:lstStyle/>
          <a:p>
            <a:pPr marL="0" indent="0">
              <a:lnSpc>
                <a:spcPct val="150000"/>
              </a:lnSpc>
              <a:buNone/>
            </a:pPr>
            <a:r>
              <a:rPr lang="en-US" sz="920" dirty="0">
                <a:solidFill>
                  <a:srgbClr val="475569"/>
                </a:solidFill>
              </a:rPr>
              <a:t>Right tool for each workload — PostgreSQL for transactional data, MongoDB for flexible document storage, Redis for low-latency caching. No shared schema.</a:t>
            </a:r>
            <a:endParaRPr lang="en-US" sz="920" dirty="0"/>
          </a:p>
        </p:txBody>
      </p:sp>
      <p:sp>
        <p:nvSpPr>
          <p:cNvPr id="27" name="Shape 21"/>
          <p:cNvSpPr/>
          <p:nvPr/>
        </p:nvSpPr>
        <p:spPr>
          <a:xfrm>
            <a:off x="411480" y="5010912"/>
            <a:ext cx="8321040" cy="25603"/>
          </a:xfrm>
          <a:prstGeom prst="rect">
            <a:avLst/>
          </a:prstGeom>
          <a:solidFill>
            <a:srgbClr val="E2E8F0"/>
          </a:solidFill>
          <a:ln w="12700">
            <a:solidFill>
              <a:srgbClr val="E2E8F0"/>
            </a:solidFill>
            <a:prstDash val="solid"/>
          </a:ln>
        </p:spPr>
        <p:txBody>
          <a:bodyPr/>
          <a:lstStyle/>
          <a:p>
            <a:endParaRPr lang="en-IN"/>
          </a:p>
        </p:txBody>
      </p:sp>
      <p:sp>
        <p:nvSpPr>
          <p:cNvPr id="28" name="Text 22"/>
          <p:cNvSpPr/>
          <p:nvPr/>
        </p:nvSpPr>
        <p:spPr>
          <a:xfrm>
            <a:off x="411480" y="4942992"/>
            <a:ext cx="8321040" cy="164592"/>
          </a:xfrm>
          <a:prstGeom prst="rect">
            <a:avLst/>
          </a:prstGeom>
          <a:noFill/>
          <a:ln/>
        </p:spPr>
        <p:txBody>
          <a:bodyPr wrap="square" lIns="0" tIns="0" rIns="0" bIns="0" rtlCol="0" anchor="ctr"/>
          <a:lstStyle/>
          <a:p>
            <a:pPr marL="0" indent="0">
              <a:buNone/>
            </a:pPr>
            <a:r>
              <a:rPr lang="en-US" sz="850" dirty="0">
                <a:solidFill>
                  <a:srgbClr val="94A3B8"/>
                </a:solidFill>
              </a:rPr>
              <a:t>Every service owns its data store  ·  Async-first inter-service communication  ·  Event-driven consistency with no shared schema</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11480" y="274320"/>
            <a:ext cx="8229600" cy="182880"/>
          </a:xfrm>
          <a:prstGeom prst="rect">
            <a:avLst/>
          </a:prstGeom>
          <a:noFill/>
          <a:ln/>
        </p:spPr>
        <p:txBody>
          <a:bodyPr wrap="square" lIns="0" tIns="0" rIns="0" bIns="0" rtlCol="0" anchor="ctr"/>
          <a:lstStyle/>
          <a:p>
            <a:pPr marL="0" indent="0">
              <a:buNone/>
            </a:pPr>
            <a:r>
              <a:rPr lang="en-US" sz="750" b="1" kern="0" spc="250" dirty="0">
                <a:solidFill>
                  <a:srgbClr val="94A3B8"/>
                </a:solidFill>
              </a:rPr>
              <a:t>CHAPTER 1 · ARCHITECTURE</a:t>
            </a:r>
            <a:endParaRPr lang="en-US" sz="750" dirty="0"/>
          </a:p>
        </p:txBody>
      </p:sp>
      <p:sp>
        <p:nvSpPr>
          <p:cNvPr id="3" name="Shape 1"/>
          <p:cNvSpPr/>
          <p:nvPr/>
        </p:nvSpPr>
        <p:spPr>
          <a:xfrm>
            <a:off x="411480" y="493776"/>
            <a:ext cx="8321040" cy="25603"/>
          </a:xfrm>
          <a:prstGeom prst="rect">
            <a:avLst/>
          </a:prstGeom>
          <a:solidFill>
            <a:srgbClr val="E2E8F0"/>
          </a:solidFill>
          <a:ln w="12700">
            <a:solidFill>
              <a:srgbClr val="E2E8F0"/>
            </a:solidFill>
            <a:prstDash val="solid"/>
          </a:ln>
        </p:spPr>
        <p:txBody>
          <a:bodyPr/>
          <a:lstStyle/>
          <a:p>
            <a:endParaRPr lang="en-IN"/>
          </a:p>
        </p:txBody>
      </p:sp>
      <p:sp>
        <p:nvSpPr>
          <p:cNvPr id="4" name="Text 2"/>
          <p:cNvSpPr/>
          <p:nvPr/>
        </p:nvSpPr>
        <p:spPr>
          <a:xfrm>
            <a:off x="411480" y="621792"/>
            <a:ext cx="8321040" cy="566928"/>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Technology Stack</a:t>
            </a:r>
            <a:endParaRPr lang="en-US" sz="2600" dirty="0"/>
          </a:p>
        </p:txBody>
      </p:sp>
      <p:sp>
        <p:nvSpPr>
          <p:cNvPr id="5" name="Text 3"/>
          <p:cNvSpPr/>
          <p:nvPr/>
        </p:nvSpPr>
        <p:spPr>
          <a:xfrm>
            <a:off x="411480" y="1225296"/>
            <a:ext cx="6858000" cy="256032"/>
          </a:xfrm>
          <a:prstGeom prst="rect">
            <a:avLst/>
          </a:prstGeom>
          <a:noFill/>
          <a:ln/>
        </p:spPr>
        <p:txBody>
          <a:bodyPr wrap="square" lIns="0" tIns="0" rIns="0" bIns="0" rtlCol="0" anchor="ctr"/>
          <a:lstStyle/>
          <a:p>
            <a:pPr marL="0" indent="0">
              <a:buNone/>
            </a:pPr>
            <a:r>
              <a:rPr lang="en-US" sz="1100" dirty="0">
                <a:solidFill>
                  <a:srgbClr val="475569"/>
                </a:solidFill>
              </a:rPr>
              <a:t>Proven, cloud-native tools chosen for long-term maintainability and developer velocity</a:t>
            </a:r>
            <a:endParaRPr lang="en-US" sz="1100" dirty="0"/>
          </a:p>
        </p:txBody>
      </p:sp>
      <p:sp>
        <p:nvSpPr>
          <p:cNvPr id="6" name="Shape 4"/>
          <p:cNvSpPr/>
          <p:nvPr/>
        </p:nvSpPr>
        <p:spPr>
          <a:xfrm>
            <a:off x="411480" y="1572768"/>
            <a:ext cx="4096512" cy="1664208"/>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7" name="Shape 5"/>
          <p:cNvSpPr/>
          <p:nvPr/>
        </p:nvSpPr>
        <p:spPr>
          <a:xfrm>
            <a:off x="411480" y="1572768"/>
            <a:ext cx="4096512" cy="27432"/>
          </a:xfrm>
          <a:prstGeom prst="rect">
            <a:avLst/>
          </a:prstGeom>
          <a:solidFill>
            <a:srgbClr val="0F172A"/>
          </a:solidFill>
          <a:ln w="12700">
            <a:solidFill>
              <a:srgbClr val="0F172A"/>
            </a:solidFill>
            <a:prstDash val="solid"/>
          </a:ln>
        </p:spPr>
        <p:txBody>
          <a:bodyPr/>
          <a:lstStyle/>
          <a:p>
            <a:endParaRPr lang="en-IN"/>
          </a:p>
        </p:txBody>
      </p:sp>
      <p:pic>
        <p:nvPicPr>
          <p:cNvPr id="8" name="Image 0" descr="preencoded.png"/>
          <p:cNvPicPr>
            <a:picLocks noChangeAspect="1"/>
          </p:cNvPicPr>
          <p:nvPr/>
        </p:nvPicPr>
        <p:blipFill>
          <a:blip r:embed="rId3"/>
          <a:stretch>
            <a:fillRect/>
          </a:stretch>
        </p:blipFill>
        <p:spPr>
          <a:xfrm>
            <a:off x="539496" y="1700784"/>
            <a:ext cx="274320" cy="274320"/>
          </a:xfrm>
          <a:prstGeom prst="rect">
            <a:avLst/>
          </a:prstGeom>
        </p:spPr>
      </p:pic>
      <p:sp>
        <p:nvSpPr>
          <p:cNvPr id="9" name="Text 6"/>
          <p:cNvSpPr/>
          <p:nvPr/>
        </p:nvSpPr>
        <p:spPr>
          <a:xfrm>
            <a:off x="905256" y="1700784"/>
            <a:ext cx="3502152" cy="274320"/>
          </a:xfrm>
          <a:prstGeom prst="rect">
            <a:avLst/>
          </a:prstGeom>
          <a:noFill/>
          <a:ln/>
        </p:spPr>
        <p:txBody>
          <a:bodyPr wrap="square" lIns="0" tIns="0" rIns="0" bIns="0" rtlCol="0" anchor="ctr"/>
          <a:lstStyle/>
          <a:p>
            <a:pPr marL="0" indent="0">
              <a:buNone/>
            </a:pPr>
            <a:r>
              <a:rPr lang="en-US" sz="1150" b="1" dirty="0">
                <a:solidFill>
                  <a:srgbClr val="0F172A"/>
                </a:solidFill>
              </a:rPr>
              <a:t>Runtime &amp; Framework</a:t>
            </a:r>
            <a:endParaRPr lang="en-US" sz="1150" dirty="0"/>
          </a:p>
        </p:txBody>
      </p:sp>
      <p:sp>
        <p:nvSpPr>
          <p:cNvPr id="10" name="Shape 7"/>
          <p:cNvSpPr/>
          <p:nvPr/>
        </p:nvSpPr>
        <p:spPr>
          <a:xfrm>
            <a:off x="539496" y="2048256"/>
            <a:ext cx="3840480" cy="25603"/>
          </a:xfrm>
          <a:prstGeom prst="rect">
            <a:avLst/>
          </a:prstGeom>
          <a:solidFill>
            <a:srgbClr val="E2E8F0"/>
          </a:solidFill>
          <a:ln w="12700">
            <a:solidFill>
              <a:srgbClr val="E2E8F0"/>
            </a:solidFill>
            <a:prstDash val="solid"/>
          </a:ln>
        </p:spPr>
        <p:txBody>
          <a:bodyPr/>
          <a:lstStyle/>
          <a:p>
            <a:endParaRPr lang="en-IN"/>
          </a:p>
        </p:txBody>
      </p:sp>
      <p:sp>
        <p:nvSpPr>
          <p:cNvPr id="11" name="Shape 8"/>
          <p:cNvSpPr/>
          <p:nvPr/>
        </p:nvSpPr>
        <p:spPr>
          <a:xfrm>
            <a:off x="539496" y="2246808"/>
            <a:ext cx="64008" cy="64008"/>
          </a:xfrm>
          <a:prstGeom prst="ellipse">
            <a:avLst/>
          </a:prstGeom>
          <a:solidFill>
            <a:srgbClr val="3B82F6"/>
          </a:solidFill>
          <a:ln w="12700">
            <a:solidFill>
              <a:srgbClr val="3B82F6"/>
            </a:solidFill>
            <a:prstDash val="solid"/>
          </a:ln>
        </p:spPr>
        <p:txBody>
          <a:bodyPr/>
          <a:lstStyle/>
          <a:p>
            <a:endParaRPr lang="en-IN"/>
          </a:p>
        </p:txBody>
      </p:sp>
      <p:sp>
        <p:nvSpPr>
          <p:cNvPr id="12" name="Text 9"/>
          <p:cNvSpPr/>
          <p:nvPr/>
        </p:nvSpPr>
        <p:spPr>
          <a:xfrm>
            <a:off x="667512" y="2157984"/>
            <a:ext cx="3712464" cy="219456"/>
          </a:xfrm>
          <a:prstGeom prst="rect">
            <a:avLst/>
          </a:prstGeom>
          <a:noFill/>
          <a:ln/>
        </p:spPr>
        <p:txBody>
          <a:bodyPr wrap="square" lIns="0" tIns="0" rIns="0" bIns="0" rtlCol="0" anchor="ctr"/>
          <a:lstStyle/>
          <a:p>
            <a:pPr marL="0" indent="0">
              <a:buNone/>
            </a:pPr>
            <a:r>
              <a:rPr lang="en-US" sz="920" dirty="0">
                <a:solidFill>
                  <a:srgbClr val="475569"/>
                </a:solidFill>
              </a:rPr>
              <a:t>Node.js 20 LTS — stable, battle-tested runtime</a:t>
            </a:r>
            <a:endParaRPr lang="en-US" sz="920" dirty="0"/>
          </a:p>
        </p:txBody>
      </p:sp>
      <p:sp>
        <p:nvSpPr>
          <p:cNvPr id="13" name="Shape 10"/>
          <p:cNvSpPr/>
          <p:nvPr/>
        </p:nvSpPr>
        <p:spPr>
          <a:xfrm>
            <a:off x="539496" y="2487168"/>
            <a:ext cx="64008" cy="64008"/>
          </a:xfrm>
          <a:prstGeom prst="ellipse">
            <a:avLst/>
          </a:prstGeom>
          <a:solidFill>
            <a:srgbClr val="3B82F6"/>
          </a:solidFill>
          <a:ln w="12700">
            <a:solidFill>
              <a:srgbClr val="3B82F6"/>
            </a:solidFill>
            <a:prstDash val="solid"/>
          </a:ln>
        </p:spPr>
        <p:txBody>
          <a:bodyPr/>
          <a:lstStyle/>
          <a:p>
            <a:endParaRPr lang="en-IN"/>
          </a:p>
        </p:txBody>
      </p:sp>
      <p:sp>
        <p:nvSpPr>
          <p:cNvPr id="14" name="Text 11"/>
          <p:cNvSpPr/>
          <p:nvPr/>
        </p:nvSpPr>
        <p:spPr>
          <a:xfrm>
            <a:off x="667512" y="2404872"/>
            <a:ext cx="3712464" cy="219456"/>
          </a:xfrm>
          <a:prstGeom prst="rect">
            <a:avLst/>
          </a:prstGeom>
          <a:noFill/>
          <a:ln/>
        </p:spPr>
        <p:txBody>
          <a:bodyPr wrap="square" lIns="0" tIns="0" rIns="0" bIns="0" rtlCol="0" anchor="ctr"/>
          <a:lstStyle/>
          <a:p>
            <a:pPr marL="0" indent="0">
              <a:buNone/>
            </a:pPr>
            <a:r>
              <a:rPr lang="en-US" sz="920" dirty="0">
                <a:solidFill>
                  <a:srgbClr val="475569"/>
                </a:solidFill>
              </a:rPr>
              <a:t>NestJS — structured, DI-driven primary framework</a:t>
            </a:r>
            <a:endParaRPr lang="en-US" sz="920" dirty="0"/>
          </a:p>
        </p:txBody>
      </p:sp>
      <p:sp>
        <p:nvSpPr>
          <p:cNvPr id="15" name="Shape 12"/>
          <p:cNvSpPr/>
          <p:nvPr/>
        </p:nvSpPr>
        <p:spPr>
          <a:xfrm>
            <a:off x="539496" y="2734056"/>
            <a:ext cx="64008" cy="64008"/>
          </a:xfrm>
          <a:prstGeom prst="ellipse">
            <a:avLst/>
          </a:prstGeom>
          <a:solidFill>
            <a:srgbClr val="3B82F6"/>
          </a:solidFill>
          <a:ln w="12700">
            <a:solidFill>
              <a:srgbClr val="3B82F6"/>
            </a:solidFill>
            <a:prstDash val="solid"/>
          </a:ln>
        </p:spPr>
        <p:txBody>
          <a:bodyPr/>
          <a:lstStyle/>
          <a:p>
            <a:endParaRPr lang="en-IN"/>
          </a:p>
        </p:txBody>
      </p:sp>
      <p:sp>
        <p:nvSpPr>
          <p:cNvPr id="16" name="Text 13"/>
          <p:cNvSpPr/>
          <p:nvPr/>
        </p:nvSpPr>
        <p:spPr>
          <a:xfrm>
            <a:off x="667512" y="2651760"/>
            <a:ext cx="3712464" cy="219456"/>
          </a:xfrm>
          <a:prstGeom prst="rect">
            <a:avLst/>
          </a:prstGeom>
          <a:noFill/>
          <a:ln/>
        </p:spPr>
        <p:txBody>
          <a:bodyPr wrap="square" lIns="0" tIns="0" rIns="0" bIns="0" rtlCol="0" anchor="ctr"/>
          <a:lstStyle/>
          <a:p>
            <a:pPr marL="0" indent="0">
              <a:buNone/>
            </a:pPr>
            <a:r>
              <a:rPr lang="en-US" sz="920" dirty="0">
                <a:solidFill>
                  <a:srgbClr val="475569"/>
                </a:solidFill>
              </a:rPr>
              <a:t>Express for lightweight BFF services</a:t>
            </a:r>
            <a:endParaRPr lang="en-US" sz="920" dirty="0"/>
          </a:p>
        </p:txBody>
      </p:sp>
      <p:sp>
        <p:nvSpPr>
          <p:cNvPr id="17" name="Shape 14"/>
          <p:cNvSpPr/>
          <p:nvPr/>
        </p:nvSpPr>
        <p:spPr>
          <a:xfrm>
            <a:off x="539496" y="2987472"/>
            <a:ext cx="64008" cy="64008"/>
          </a:xfrm>
          <a:prstGeom prst="ellipse">
            <a:avLst/>
          </a:prstGeom>
          <a:solidFill>
            <a:srgbClr val="3B82F6"/>
          </a:solidFill>
          <a:ln w="12700">
            <a:solidFill>
              <a:srgbClr val="3B82F6"/>
            </a:solidFill>
            <a:prstDash val="solid"/>
          </a:ln>
        </p:spPr>
        <p:txBody>
          <a:bodyPr/>
          <a:lstStyle/>
          <a:p>
            <a:endParaRPr lang="en-IN"/>
          </a:p>
        </p:txBody>
      </p:sp>
      <p:sp>
        <p:nvSpPr>
          <p:cNvPr id="18" name="Text 15"/>
          <p:cNvSpPr/>
          <p:nvPr/>
        </p:nvSpPr>
        <p:spPr>
          <a:xfrm>
            <a:off x="667512" y="2898648"/>
            <a:ext cx="3712464" cy="219456"/>
          </a:xfrm>
          <a:prstGeom prst="rect">
            <a:avLst/>
          </a:prstGeom>
          <a:noFill/>
          <a:ln/>
        </p:spPr>
        <p:txBody>
          <a:bodyPr wrap="square" lIns="0" tIns="0" rIns="0" bIns="0" rtlCol="0" anchor="ctr"/>
          <a:lstStyle/>
          <a:p>
            <a:pPr marL="0" indent="0">
              <a:buNone/>
            </a:pPr>
            <a:r>
              <a:rPr lang="en-US" sz="920" dirty="0">
                <a:solidFill>
                  <a:srgbClr val="475569"/>
                </a:solidFill>
              </a:rPr>
              <a:t>REST + gRPC (internal) + GraphQL (BFF layer)</a:t>
            </a:r>
            <a:endParaRPr lang="en-US" sz="920" dirty="0"/>
          </a:p>
        </p:txBody>
      </p:sp>
      <p:sp>
        <p:nvSpPr>
          <p:cNvPr id="19" name="Shape 16"/>
          <p:cNvSpPr/>
          <p:nvPr/>
        </p:nvSpPr>
        <p:spPr>
          <a:xfrm>
            <a:off x="4754880" y="1572768"/>
            <a:ext cx="4096512" cy="1664208"/>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20" name="Shape 17"/>
          <p:cNvSpPr/>
          <p:nvPr/>
        </p:nvSpPr>
        <p:spPr>
          <a:xfrm>
            <a:off x="4754880" y="1572768"/>
            <a:ext cx="4096512" cy="27432"/>
          </a:xfrm>
          <a:prstGeom prst="rect">
            <a:avLst/>
          </a:prstGeom>
          <a:solidFill>
            <a:srgbClr val="0F172A"/>
          </a:solidFill>
          <a:ln w="12700">
            <a:solidFill>
              <a:srgbClr val="0F172A"/>
            </a:solidFill>
            <a:prstDash val="solid"/>
          </a:ln>
        </p:spPr>
        <p:txBody>
          <a:bodyPr/>
          <a:lstStyle/>
          <a:p>
            <a:endParaRPr lang="en-IN"/>
          </a:p>
        </p:txBody>
      </p:sp>
      <p:pic>
        <p:nvPicPr>
          <p:cNvPr id="21" name="Image 1" descr="preencoded.png"/>
          <p:cNvPicPr>
            <a:picLocks noChangeAspect="1"/>
          </p:cNvPicPr>
          <p:nvPr/>
        </p:nvPicPr>
        <p:blipFill>
          <a:blip r:embed="rId4"/>
          <a:stretch>
            <a:fillRect/>
          </a:stretch>
        </p:blipFill>
        <p:spPr>
          <a:xfrm>
            <a:off x="4882896" y="1700784"/>
            <a:ext cx="274320" cy="274320"/>
          </a:xfrm>
          <a:prstGeom prst="rect">
            <a:avLst/>
          </a:prstGeom>
        </p:spPr>
      </p:pic>
      <p:sp>
        <p:nvSpPr>
          <p:cNvPr id="22" name="Text 18"/>
          <p:cNvSpPr/>
          <p:nvPr/>
        </p:nvSpPr>
        <p:spPr>
          <a:xfrm>
            <a:off x="5248656" y="1700784"/>
            <a:ext cx="3502152" cy="274320"/>
          </a:xfrm>
          <a:prstGeom prst="rect">
            <a:avLst/>
          </a:prstGeom>
          <a:noFill/>
          <a:ln/>
        </p:spPr>
        <p:txBody>
          <a:bodyPr wrap="square" lIns="0" tIns="0" rIns="0" bIns="0" rtlCol="0" anchor="ctr"/>
          <a:lstStyle/>
          <a:p>
            <a:pPr marL="0" indent="0">
              <a:buNone/>
            </a:pPr>
            <a:r>
              <a:rPr lang="en-US" sz="1150" b="1" dirty="0">
                <a:solidFill>
                  <a:srgbClr val="0F172A"/>
                </a:solidFill>
              </a:rPr>
              <a:t>Containers &amp; Delivery</a:t>
            </a:r>
            <a:endParaRPr lang="en-US" sz="1150" dirty="0"/>
          </a:p>
        </p:txBody>
      </p:sp>
      <p:sp>
        <p:nvSpPr>
          <p:cNvPr id="23" name="Shape 19"/>
          <p:cNvSpPr/>
          <p:nvPr/>
        </p:nvSpPr>
        <p:spPr>
          <a:xfrm>
            <a:off x="4882896" y="2048256"/>
            <a:ext cx="3840480" cy="25603"/>
          </a:xfrm>
          <a:prstGeom prst="rect">
            <a:avLst/>
          </a:prstGeom>
          <a:solidFill>
            <a:srgbClr val="E2E8F0"/>
          </a:solidFill>
          <a:ln w="12700">
            <a:solidFill>
              <a:srgbClr val="E2E8F0"/>
            </a:solidFill>
            <a:prstDash val="solid"/>
          </a:ln>
        </p:spPr>
        <p:txBody>
          <a:bodyPr/>
          <a:lstStyle/>
          <a:p>
            <a:endParaRPr lang="en-IN"/>
          </a:p>
        </p:txBody>
      </p:sp>
      <p:sp>
        <p:nvSpPr>
          <p:cNvPr id="24" name="Shape 20"/>
          <p:cNvSpPr/>
          <p:nvPr/>
        </p:nvSpPr>
        <p:spPr>
          <a:xfrm>
            <a:off x="4882896" y="2246808"/>
            <a:ext cx="64008" cy="64008"/>
          </a:xfrm>
          <a:prstGeom prst="ellipse">
            <a:avLst/>
          </a:prstGeom>
          <a:solidFill>
            <a:srgbClr val="3B82F6"/>
          </a:solidFill>
          <a:ln w="12700">
            <a:solidFill>
              <a:srgbClr val="3B82F6"/>
            </a:solidFill>
            <a:prstDash val="solid"/>
          </a:ln>
        </p:spPr>
        <p:txBody>
          <a:bodyPr/>
          <a:lstStyle/>
          <a:p>
            <a:endParaRPr lang="en-IN"/>
          </a:p>
        </p:txBody>
      </p:sp>
      <p:sp>
        <p:nvSpPr>
          <p:cNvPr id="25" name="Text 21"/>
          <p:cNvSpPr/>
          <p:nvPr/>
        </p:nvSpPr>
        <p:spPr>
          <a:xfrm>
            <a:off x="5010912" y="2157984"/>
            <a:ext cx="3712464" cy="219456"/>
          </a:xfrm>
          <a:prstGeom prst="rect">
            <a:avLst/>
          </a:prstGeom>
          <a:noFill/>
          <a:ln/>
        </p:spPr>
        <p:txBody>
          <a:bodyPr wrap="square" lIns="0" tIns="0" rIns="0" bIns="0" rtlCol="0" anchor="ctr"/>
          <a:lstStyle/>
          <a:p>
            <a:pPr marL="0" indent="0">
              <a:buNone/>
            </a:pPr>
            <a:r>
              <a:rPr lang="en-US" sz="920" dirty="0">
                <a:solidFill>
                  <a:srgbClr val="475569"/>
                </a:solidFill>
              </a:rPr>
              <a:t>Docker for consistent build artefacts</a:t>
            </a:r>
            <a:endParaRPr lang="en-US" sz="920" dirty="0"/>
          </a:p>
        </p:txBody>
      </p:sp>
      <p:sp>
        <p:nvSpPr>
          <p:cNvPr id="26" name="Shape 22"/>
          <p:cNvSpPr/>
          <p:nvPr/>
        </p:nvSpPr>
        <p:spPr>
          <a:xfrm>
            <a:off x="4882896" y="2493696"/>
            <a:ext cx="64008" cy="64008"/>
          </a:xfrm>
          <a:prstGeom prst="ellipse">
            <a:avLst/>
          </a:prstGeom>
          <a:solidFill>
            <a:srgbClr val="3B82F6"/>
          </a:solidFill>
          <a:ln w="12700">
            <a:solidFill>
              <a:srgbClr val="3B82F6"/>
            </a:solidFill>
            <a:prstDash val="solid"/>
          </a:ln>
        </p:spPr>
        <p:txBody>
          <a:bodyPr/>
          <a:lstStyle/>
          <a:p>
            <a:endParaRPr lang="en-IN"/>
          </a:p>
        </p:txBody>
      </p:sp>
      <p:sp>
        <p:nvSpPr>
          <p:cNvPr id="27" name="Text 23"/>
          <p:cNvSpPr/>
          <p:nvPr/>
        </p:nvSpPr>
        <p:spPr>
          <a:xfrm>
            <a:off x="5010912" y="2404872"/>
            <a:ext cx="3712464" cy="219456"/>
          </a:xfrm>
          <a:prstGeom prst="rect">
            <a:avLst/>
          </a:prstGeom>
          <a:noFill/>
          <a:ln/>
        </p:spPr>
        <p:txBody>
          <a:bodyPr wrap="square" lIns="0" tIns="0" rIns="0" bIns="0" rtlCol="0" anchor="ctr"/>
          <a:lstStyle/>
          <a:p>
            <a:pPr marL="0" indent="0">
              <a:buNone/>
            </a:pPr>
            <a:r>
              <a:rPr lang="en-US" sz="920" dirty="0">
                <a:solidFill>
                  <a:srgbClr val="475569"/>
                </a:solidFill>
              </a:rPr>
              <a:t>Kubernetes on EKS — self-healing clusters</a:t>
            </a:r>
            <a:endParaRPr lang="en-US" sz="920" dirty="0"/>
          </a:p>
        </p:txBody>
      </p:sp>
      <p:sp>
        <p:nvSpPr>
          <p:cNvPr id="28" name="Shape 24"/>
          <p:cNvSpPr/>
          <p:nvPr/>
        </p:nvSpPr>
        <p:spPr>
          <a:xfrm>
            <a:off x="4882896" y="2734053"/>
            <a:ext cx="64008" cy="64008"/>
          </a:xfrm>
          <a:prstGeom prst="ellipse">
            <a:avLst/>
          </a:prstGeom>
          <a:solidFill>
            <a:srgbClr val="3B82F6"/>
          </a:solidFill>
          <a:ln w="12700">
            <a:solidFill>
              <a:srgbClr val="3B82F6"/>
            </a:solidFill>
            <a:prstDash val="solid"/>
          </a:ln>
        </p:spPr>
        <p:txBody>
          <a:bodyPr/>
          <a:lstStyle/>
          <a:p>
            <a:endParaRPr lang="en-IN"/>
          </a:p>
        </p:txBody>
      </p:sp>
      <p:sp>
        <p:nvSpPr>
          <p:cNvPr id="29" name="Text 25"/>
          <p:cNvSpPr/>
          <p:nvPr/>
        </p:nvSpPr>
        <p:spPr>
          <a:xfrm>
            <a:off x="5010912" y="2651760"/>
            <a:ext cx="3712464" cy="219456"/>
          </a:xfrm>
          <a:prstGeom prst="rect">
            <a:avLst/>
          </a:prstGeom>
          <a:noFill/>
          <a:ln/>
        </p:spPr>
        <p:txBody>
          <a:bodyPr wrap="square" lIns="0" tIns="0" rIns="0" bIns="0" rtlCol="0" anchor="ctr"/>
          <a:lstStyle/>
          <a:p>
            <a:pPr marL="0" indent="0">
              <a:buNone/>
            </a:pPr>
            <a:r>
              <a:rPr lang="en-US" sz="920" dirty="0">
                <a:solidFill>
                  <a:srgbClr val="475569"/>
                </a:solidFill>
              </a:rPr>
              <a:t>ArgoCD — GitOps-driven continuous delivery</a:t>
            </a:r>
            <a:endParaRPr lang="en-US" sz="920" dirty="0"/>
          </a:p>
        </p:txBody>
      </p:sp>
      <p:sp>
        <p:nvSpPr>
          <p:cNvPr id="30" name="Shape 26"/>
          <p:cNvSpPr/>
          <p:nvPr/>
        </p:nvSpPr>
        <p:spPr>
          <a:xfrm>
            <a:off x="4882896" y="2987472"/>
            <a:ext cx="64008" cy="64008"/>
          </a:xfrm>
          <a:prstGeom prst="ellipse">
            <a:avLst/>
          </a:prstGeom>
          <a:solidFill>
            <a:srgbClr val="3B82F6"/>
          </a:solidFill>
          <a:ln w="12700">
            <a:solidFill>
              <a:srgbClr val="3B82F6"/>
            </a:solidFill>
            <a:prstDash val="solid"/>
          </a:ln>
        </p:spPr>
        <p:txBody>
          <a:bodyPr/>
          <a:lstStyle/>
          <a:p>
            <a:endParaRPr lang="en-IN"/>
          </a:p>
        </p:txBody>
      </p:sp>
      <p:sp>
        <p:nvSpPr>
          <p:cNvPr id="31" name="Text 27"/>
          <p:cNvSpPr/>
          <p:nvPr/>
        </p:nvSpPr>
        <p:spPr>
          <a:xfrm>
            <a:off x="5010912" y="2898648"/>
            <a:ext cx="3712464" cy="219456"/>
          </a:xfrm>
          <a:prstGeom prst="rect">
            <a:avLst/>
          </a:prstGeom>
          <a:noFill/>
          <a:ln/>
        </p:spPr>
        <p:txBody>
          <a:bodyPr wrap="square" lIns="0" tIns="0" rIns="0" bIns="0" rtlCol="0" anchor="ctr"/>
          <a:lstStyle/>
          <a:p>
            <a:pPr marL="0" indent="0">
              <a:buNone/>
            </a:pPr>
            <a:r>
              <a:rPr lang="en-US" sz="920" dirty="0">
                <a:solidFill>
                  <a:srgbClr val="475569"/>
                </a:solidFill>
              </a:rPr>
              <a:t>Helm charts for per-service configuration</a:t>
            </a:r>
            <a:endParaRPr lang="en-US" sz="920" dirty="0"/>
          </a:p>
        </p:txBody>
      </p:sp>
      <p:sp>
        <p:nvSpPr>
          <p:cNvPr id="32" name="Shape 28"/>
          <p:cNvSpPr/>
          <p:nvPr/>
        </p:nvSpPr>
        <p:spPr>
          <a:xfrm>
            <a:off x="411480" y="3401568"/>
            <a:ext cx="4096512" cy="1664208"/>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33" name="Shape 29"/>
          <p:cNvSpPr/>
          <p:nvPr/>
        </p:nvSpPr>
        <p:spPr>
          <a:xfrm>
            <a:off x="411480" y="3401568"/>
            <a:ext cx="4096512" cy="27432"/>
          </a:xfrm>
          <a:prstGeom prst="rect">
            <a:avLst/>
          </a:prstGeom>
          <a:solidFill>
            <a:srgbClr val="0F172A"/>
          </a:solidFill>
          <a:ln w="12700">
            <a:solidFill>
              <a:srgbClr val="0F172A"/>
            </a:solidFill>
            <a:prstDash val="solid"/>
          </a:ln>
        </p:spPr>
        <p:txBody>
          <a:bodyPr/>
          <a:lstStyle/>
          <a:p>
            <a:endParaRPr lang="en-IN"/>
          </a:p>
        </p:txBody>
      </p:sp>
      <p:pic>
        <p:nvPicPr>
          <p:cNvPr id="34" name="Image 2" descr="preencoded.png"/>
          <p:cNvPicPr>
            <a:picLocks noChangeAspect="1"/>
          </p:cNvPicPr>
          <p:nvPr/>
        </p:nvPicPr>
        <p:blipFill>
          <a:blip r:embed="rId5"/>
          <a:stretch>
            <a:fillRect/>
          </a:stretch>
        </p:blipFill>
        <p:spPr>
          <a:xfrm>
            <a:off x="539496" y="3529584"/>
            <a:ext cx="274320" cy="274320"/>
          </a:xfrm>
          <a:prstGeom prst="rect">
            <a:avLst/>
          </a:prstGeom>
        </p:spPr>
      </p:pic>
      <p:sp>
        <p:nvSpPr>
          <p:cNvPr id="35" name="Text 30"/>
          <p:cNvSpPr/>
          <p:nvPr/>
        </p:nvSpPr>
        <p:spPr>
          <a:xfrm>
            <a:off x="905256" y="3529584"/>
            <a:ext cx="3502152" cy="274320"/>
          </a:xfrm>
          <a:prstGeom prst="rect">
            <a:avLst/>
          </a:prstGeom>
          <a:noFill/>
          <a:ln/>
        </p:spPr>
        <p:txBody>
          <a:bodyPr wrap="square" lIns="0" tIns="0" rIns="0" bIns="0" rtlCol="0" anchor="ctr"/>
          <a:lstStyle/>
          <a:p>
            <a:pPr marL="0" indent="0">
              <a:buNone/>
            </a:pPr>
            <a:r>
              <a:rPr lang="en-US" sz="1150" b="1" dirty="0">
                <a:solidFill>
                  <a:srgbClr val="0F172A"/>
                </a:solidFill>
              </a:rPr>
              <a:t>Infrastructure &amp; IaC</a:t>
            </a:r>
            <a:endParaRPr lang="en-US" sz="1150" dirty="0"/>
          </a:p>
        </p:txBody>
      </p:sp>
      <p:sp>
        <p:nvSpPr>
          <p:cNvPr id="36" name="Shape 31"/>
          <p:cNvSpPr/>
          <p:nvPr/>
        </p:nvSpPr>
        <p:spPr>
          <a:xfrm>
            <a:off x="539496" y="3877056"/>
            <a:ext cx="3840480" cy="25603"/>
          </a:xfrm>
          <a:prstGeom prst="rect">
            <a:avLst/>
          </a:prstGeom>
          <a:solidFill>
            <a:srgbClr val="E2E8F0"/>
          </a:solidFill>
          <a:ln w="12700">
            <a:solidFill>
              <a:srgbClr val="E2E8F0"/>
            </a:solidFill>
            <a:prstDash val="solid"/>
          </a:ln>
        </p:spPr>
        <p:txBody>
          <a:bodyPr/>
          <a:lstStyle/>
          <a:p>
            <a:endParaRPr lang="en-IN"/>
          </a:p>
        </p:txBody>
      </p:sp>
      <p:sp>
        <p:nvSpPr>
          <p:cNvPr id="37" name="Shape 32"/>
          <p:cNvSpPr/>
          <p:nvPr/>
        </p:nvSpPr>
        <p:spPr>
          <a:xfrm>
            <a:off x="539496" y="4075608"/>
            <a:ext cx="64008" cy="64008"/>
          </a:xfrm>
          <a:prstGeom prst="ellipse">
            <a:avLst/>
          </a:prstGeom>
          <a:solidFill>
            <a:srgbClr val="3B82F6"/>
          </a:solidFill>
          <a:ln w="12700">
            <a:solidFill>
              <a:srgbClr val="3B82F6"/>
            </a:solidFill>
            <a:prstDash val="solid"/>
          </a:ln>
        </p:spPr>
        <p:txBody>
          <a:bodyPr/>
          <a:lstStyle/>
          <a:p>
            <a:endParaRPr lang="en-IN"/>
          </a:p>
        </p:txBody>
      </p:sp>
      <p:sp>
        <p:nvSpPr>
          <p:cNvPr id="38" name="Text 33"/>
          <p:cNvSpPr/>
          <p:nvPr/>
        </p:nvSpPr>
        <p:spPr>
          <a:xfrm>
            <a:off x="667512" y="3986784"/>
            <a:ext cx="3712464" cy="219456"/>
          </a:xfrm>
          <a:prstGeom prst="rect">
            <a:avLst/>
          </a:prstGeom>
          <a:noFill/>
          <a:ln/>
        </p:spPr>
        <p:txBody>
          <a:bodyPr wrap="square" lIns="0" tIns="0" rIns="0" bIns="0" rtlCol="0" anchor="ctr"/>
          <a:lstStyle/>
          <a:p>
            <a:pPr marL="0" indent="0">
              <a:buNone/>
            </a:pPr>
            <a:r>
              <a:rPr lang="en-US" sz="920" dirty="0">
                <a:solidFill>
                  <a:srgbClr val="475569"/>
                </a:solidFill>
              </a:rPr>
              <a:t>Terraform modules for all cloud resources</a:t>
            </a:r>
            <a:endParaRPr lang="en-US" sz="920" dirty="0"/>
          </a:p>
        </p:txBody>
      </p:sp>
      <p:sp>
        <p:nvSpPr>
          <p:cNvPr id="39" name="Shape 34"/>
          <p:cNvSpPr/>
          <p:nvPr/>
        </p:nvSpPr>
        <p:spPr>
          <a:xfrm>
            <a:off x="539496" y="4309434"/>
            <a:ext cx="64008" cy="64008"/>
          </a:xfrm>
          <a:prstGeom prst="ellipse">
            <a:avLst/>
          </a:prstGeom>
          <a:solidFill>
            <a:srgbClr val="3B82F6"/>
          </a:solidFill>
          <a:ln w="12700">
            <a:solidFill>
              <a:srgbClr val="3B82F6"/>
            </a:solidFill>
            <a:prstDash val="solid"/>
          </a:ln>
        </p:spPr>
        <p:txBody>
          <a:bodyPr/>
          <a:lstStyle/>
          <a:p>
            <a:endParaRPr lang="en-IN"/>
          </a:p>
        </p:txBody>
      </p:sp>
      <p:sp>
        <p:nvSpPr>
          <p:cNvPr id="40" name="Text 35"/>
          <p:cNvSpPr/>
          <p:nvPr/>
        </p:nvSpPr>
        <p:spPr>
          <a:xfrm>
            <a:off x="667512" y="4233672"/>
            <a:ext cx="3712464" cy="219456"/>
          </a:xfrm>
          <a:prstGeom prst="rect">
            <a:avLst/>
          </a:prstGeom>
          <a:noFill/>
          <a:ln/>
        </p:spPr>
        <p:txBody>
          <a:bodyPr wrap="square" lIns="0" tIns="0" rIns="0" bIns="0" rtlCol="0" anchor="ctr"/>
          <a:lstStyle/>
          <a:p>
            <a:pPr marL="0" indent="0">
              <a:buNone/>
            </a:pPr>
            <a:r>
              <a:rPr lang="en-US" sz="920" dirty="0">
                <a:solidFill>
                  <a:srgbClr val="475569"/>
                </a:solidFill>
              </a:rPr>
              <a:t>EKS with horizontal auto-scaling</a:t>
            </a:r>
            <a:endParaRPr lang="en-US" sz="920" dirty="0"/>
          </a:p>
        </p:txBody>
      </p:sp>
      <p:sp>
        <p:nvSpPr>
          <p:cNvPr id="41" name="Shape 36"/>
          <p:cNvSpPr/>
          <p:nvPr/>
        </p:nvSpPr>
        <p:spPr>
          <a:xfrm>
            <a:off x="539496" y="4556322"/>
            <a:ext cx="64008" cy="64008"/>
          </a:xfrm>
          <a:prstGeom prst="ellipse">
            <a:avLst/>
          </a:prstGeom>
          <a:solidFill>
            <a:srgbClr val="3B82F6"/>
          </a:solidFill>
          <a:ln w="12700">
            <a:solidFill>
              <a:srgbClr val="3B82F6"/>
            </a:solidFill>
            <a:prstDash val="solid"/>
          </a:ln>
        </p:spPr>
        <p:txBody>
          <a:bodyPr/>
          <a:lstStyle/>
          <a:p>
            <a:endParaRPr lang="en-IN"/>
          </a:p>
        </p:txBody>
      </p:sp>
      <p:sp>
        <p:nvSpPr>
          <p:cNvPr id="42" name="Text 37"/>
          <p:cNvSpPr/>
          <p:nvPr/>
        </p:nvSpPr>
        <p:spPr>
          <a:xfrm>
            <a:off x="667512" y="4480560"/>
            <a:ext cx="3712464" cy="219456"/>
          </a:xfrm>
          <a:prstGeom prst="rect">
            <a:avLst/>
          </a:prstGeom>
          <a:noFill/>
          <a:ln/>
        </p:spPr>
        <p:txBody>
          <a:bodyPr wrap="square" lIns="0" tIns="0" rIns="0" bIns="0" rtlCol="0" anchor="ctr"/>
          <a:lstStyle/>
          <a:p>
            <a:pPr marL="0" indent="0">
              <a:buNone/>
            </a:pPr>
            <a:r>
              <a:rPr lang="en-US" sz="920" dirty="0" err="1">
                <a:solidFill>
                  <a:srgbClr val="475569"/>
                </a:solidFill>
              </a:rPr>
              <a:t>HashiCorp</a:t>
            </a:r>
            <a:r>
              <a:rPr lang="en-US" sz="920" dirty="0">
                <a:solidFill>
                  <a:srgbClr val="475569"/>
                </a:solidFill>
              </a:rPr>
              <a:t>/CyberArk Vault for secrets management</a:t>
            </a:r>
            <a:endParaRPr lang="en-US" sz="920" dirty="0"/>
          </a:p>
        </p:txBody>
      </p:sp>
      <p:sp>
        <p:nvSpPr>
          <p:cNvPr id="43" name="Shape 38"/>
          <p:cNvSpPr/>
          <p:nvPr/>
        </p:nvSpPr>
        <p:spPr>
          <a:xfrm>
            <a:off x="539496" y="4816272"/>
            <a:ext cx="64008" cy="64008"/>
          </a:xfrm>
          <a:prstGeom prst="ellipse">
            <a:avLst/>
          </a:prstGeom>
          <a:solidFill>
            <a:srgbClr val="3B82F6"/>
          </a:solidFill>
          <a:ln w="12700">
            <a:solidFill>
              <a:srgbClr val="3B82F6"/>
            </a:solidFill>
            <a:prstDash val="solid"/>
          </a:ln>
        </p:spPr>
        <p:txBody>
          <a:bodyPr/>
          <a:lstStyle/>
          <a:p>
            <a:endParaRPr lang="en-IN"/>
          </a:p>
        </p:txBody>
      </p:sp>
      <p:sp>
        <p:nvSpPr>
          <p:cNvPr id="44" name="Text 39"/>
          <p:cNvSpPr/>
          <p:nvPr/>
        </p:nvSpPr>
        <p:spPr>
          <a:xfrm>
            <a:off x="667512" y="4727448"/>
            <a:ext cx="3712464" cy="219456"/>
          </a:xfrm>
          <a:prstGeom prst="rect">
            <a:avLst/>
          </a:prstGeom>
          <a:noFill/>
          <a:ln/>
        </p:spPr>
        <p:txBody>
          <a:bodyPr wrap="square" lIns="0" tIns="0" rIns="0" bIns="0" rtlCol="0" anchor="ctr"/>
          <a:lstStyle/>
          <a:p>
            <a:pPr marL="0" indent="0">
              <a:buNone/>
            </a:pPr>
            <a:r>
              <a:rPr lang="en-US" sz="920" dirty="0">
                <a:solidFill>
                  <a:srgbClr val="475569"/>
                </a:solidFill>
              </a:rPr>
              <a:t>GitHub Actions for CI pipelines</a:t>
            </a:r>
            <a:endParaRPr lang="en-US" sz="920" dirty="0"/>
          </a:p>
        </p:txBody>
      </p:sp>
      <p:sp>
        <p:nvSpPr>
          <p:cNvPr id="45" name="Shape 40"/>
          <p:cNvSpPr/>
          <p:nvPr/>
        </p:nvSpPr>
        <p:spPr>
          <a:xfrm>
            <a:off x="4754880" y="3401568"/>
            <a:ext cx="4096512" cy="1664208"/>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46" name="Shape 41"/>
          <p:cNvSpPr/>
          <p:nvPr/>
        </p:nvSpPr>
        <p:spPr>
          <a:xfrm>
            <a:off x="4754880" y="3401568"/>
            <a:ext cx="4096512" cy="27432"/>
          </a:xfrm>
          <a:prstGeom prst="rect">
            <a:avLst/>
          </a:prstGeom>
          <a:solidFill>
            <a:srgbClr val="0F172A"/>
          </a:solidFill>
          <a:ln w="12700">
            <a:solidFill>
              <a:srgbClr val="0F172A"/>
            </a:solidFill>
            <a:prstDash val="solid"/>
          </a:ln>
        </p:spPr>
        <p:txBody>
          <a:bodyPr/>
          <a:lstStyle/>
          <a:p>
            <a:endParaRPr lang="en-IN"/>
          </a:p>
        </p:txBody>
      </p:sp>
      <p:pic>
        <p:nvPicPr>
          <p:cNvPr id="47" name="Image 3" descr="preencoded.png"/>
          <p:cNvPicPr>
            <a:picLocks noChangeAspect="1"/>
          </p:cNvPicPr>
          <p:nvPr/>
        </p:nvPicPr>
        <p:blipFill>
          <a:blip r:embed="rId6"/>
          <a:stretch>
            <a:fillRect/>
          </a:stretch>
        </p:blipFill>
        <p:spPr>
          <a:xfrm>
            <a:off x="4882896" y="3529584"/>
            <a:ext cx="274320" cy="274320"/>
          </a:xfrm>
          <a:prstGeom prst="rect">
            <a:avLst/>
          </a:prstGeom>
        </p:spPr>
      </p:pic>
      <p:sp>
        <p:nvSpPr>
          <p:cNvPr id="48" name="Text 42"/>
          <p:cNvSpPr/>
          <p:nvPr/>
        </p:nvSpPr>
        <p:spPr>
          <a:xfrm>
            <a:off x="5248656" y="3529584"/>
            <a:ext cx="3502152" cy="274320"/>
          </a:xfrm>
          <a:prstGeom prst="rect">
            <a:avLst/>
          </a:prstGeom>
          <a:noFill/>
          <a:ln/>
        </p:spPr>
        <p:txBody>
          <a:bodyPr wrap="square" lIns="0" tIns="0" rIns="0" bIns="0" rtlCol="0" anchor="ctr"/>
          <a:lstStyle/>
          <a:p>
            <a:pPr marL="0" indent="0">
              <a:buNone/>
            </a:pPr>
            <a:r>
              <a:rPr lang="en-US" sz="1150" b="1" dirty="0">
                <a:solidFill>
                  <a:srgbClr val="0F172A"/>
                </a:solidFill>
              </a:rPr>
              <a:t>Observability</a:t>
            </a:r>
            <a:endParaRPr lang="en-US" sz="1150" dirty="0"/>
          </a:p>
        </p:txBody>
      </p:sp>
      <p:sp>
        <p:nvSpPr>
          <p:cNvPr id="49" name="Shape 43"/>
          <p:cNvSpPr/>
          <p:nvPr/>
        </p:nvSpPr>
        <p:spPr>
          <a:xfrm>
            <a:off x="4882896" y="3877056"/>
            <a:ext cx="3840480" cy="25603"/>
          </a:xfrm>
          <a:prstGeom prst="rect">
            <a:avLst/>
          </a:prstGeom>
          <a:solidFill>
            <a:srgbClr val="E2E8F0"/>
          </a:solidFill>
          <a:ln w="12700">
            <a:solidFill>
              <a:srgbClr val="E2E8F0"/>
            </a:solidFill>
            <a:prstDash val="solid"/>
          </a:ln>
        </p:spPr>
        <p:txBody>
          <a:bodyPr/>
          <a:lstStyle/>
          <a:p>
            <a:endParaRPr lang="en-IN"/>
          </a:p>
        </p:txBody>
      </p:sp>
      <p:sp>
        <p:nvSpPr>
          <p:cNvPr id="50" name="Shape 44"/>
          <p:cNvSpPr/>
          <p:nvPr/>
        </p:nvSpPr>
        <p:spPr>
          <a:xfrm>
            <a:off x="4882896" y="4075608"/>
            <a:ext cx="64008" cy="64008"/>
          </a:xfrm>
          <a:prstGeom prst="ellipse">
            <a:avLst/>
          </a:prstGeom>
          <a:solidFill>
            <a:srgbClr val="3B82F6"/>
          </a:solidFill>
          <a:ln w="12700">
            <a:solidFill>
              <a:srgbClr val="3B82F6"/>
            </a:solidFill>
            <a:prstDash val="solid"/>
          </a:ln>
        </p:spPr>
        <p:txBody>
          <a:bodyPr/>
          <a:lstStyle/>
          <a:p>
            <a:endParaRPr lang="en-IN"/>
          </a:p>
        </p:txBody>
      </p:sp>
      <p:sp>
        <p:nvSpPr>
          <p:cNvPr id="51" name="Text 45"/>
          <p:cNvSpPr/>
          <p:nvPr/>
        </p:nvSpPr>
        <p:spPr>
          <a:xfrm>
            <a:off x="5010912" y="3986784"/>
            <a:ext cx="3712464" cy="219456"/>
          </a:xfrm>
          <a:prstGeom prst="rect">
            <a:avLst/>
          </a:prstGeom>
          <a:noFill/>
          <a:ln/>
        </p:spPr>
        <p:txBody>
          <a:bodyPr wrap="square" lIns="0" tIns="0" rIns="0" bIns="0" rtlCol="0" anchor="ctr"/>
          <a:lstStyle/>
          <a:p>
            <a:pPr marL="0" indent="0">
              <a:buNone/>
            </a:pPr>
            <a:r>
              <a:rPr lang="en-US" sz="920" dirty="0">
                <a:solidFill>
                  <a:srgbClr val="475569"/>
                </a:solidFill>
              </a:rPr>
              <a:t>OpenTelemetry — vendor-neutral instrumentation</a:t>
            </a:r>
            <a:endParaRPr lang="en-US" sz="920" dirty="0"/>
          </a:p>
        </p:txBody>
      </p:sp>
      <p:sp>
        <p:nvSpPr>
          <p:cNvPr id="52" name="Shape 46"/>
          <p:cNvSpPr/>
          <p:nvPr/>
        </p:nvSpPr>
        <p:spPr>
          <a:xfrm>
            <a:off x="4882896" y="4322496"/>
            <a:ext cx="64008" cy="64008"/>
          </a:xfrm>
          <a:prstGeom prst="ellipse">
            <a:avLst/>
          </a:prstGeom>
          <a:solidFill>
            <a:srgbClr val="3B82F6"/>
          </a:solidFill>
          <a:ln w="12700">
            <a:solidFill>
              <a:srgbClr val="3B82F6"/>
            </a:solidFill>
            <a:prstDash val="solid"/>
          </a:ln>
        </p:spPr>
        <p:txBody>
          <a:bodyPr/>
          <a:lstStyle/>
          <a:p>
            <a:endParaRPr lang="en-IN"/>
          </a:p>
        </p:txBody>
      </p:sp>
      <p:sp>
        <p:nvSpPr>
          <p:cNvPr id="53" name="Text 47"/>
          <p:cNvSpPr/>
          <p:nvPr/>
        </p:nvSpPr>
        <p:spPr>
          <a:xfrm>
            <a:off x="5010912" y="4233672"/>
            <a:ext cx="3712464" cy="219456"/>
          </a:xfrm>
          <a:prstGeom prst="rect">
            <a:avLst/>
          </a:prstGeom>
          <a:noFill/>
          <a:ln/>
        </p:spPr>
        <p:txBody>
          <a:bodyPr wrap="square" lIns="0" tIns="0" rIns="0" bIns="0" rtlCol="0" anchor="ctr"/>
          <a:lstStyle/>
          <a:p>
            <a:pPr marL="0" indent="0">
              <a:buNone/>
            </a:pPr>
            <a:r>
              <a:rPr lang="en-US" sz="920" dirty="0" err="1">
                <a:solidFill>
                  <a:srgbClr val="475569"/>
                </a:solidFill>
              </a:rPr>
              <a:t>Dynatracefor</a:t>
            </a:r>
            <a:r>
              <a:rPr lang="en-US" sz="920" dirty="0">
                <a:solidFill>
                  <a:srgbClr val="475569"/>
                </a:solidFill>
              </a:rPr>
              <a:t> metrics &amp; dashboards</a:t>
            </a:r>
            <a:endParaRPr lang="en-US" sz="920" dirty="0"/>
          </a:p>
        </p:txBody>
      </p:sp>
      <p:sp>
        <p:nvSpPr>
          <p:cNvPr id="54" name="Shape 48"/>
          <p:cNvSpPr/>
          <p:nvPr/>
        </p:nvSpPr>
        <p:spPr>
          <a:xfrm>
            <a:off x="4882896" y="4569384"/>
            <a:ext cx="64008" cy="64008"/>
          </a:xfrm>
          <a:prstGeom prst="ellipse">
            <a:avLst/>
          </a:prstGeom>
          <a:solidFill>
            <a:srgbClr val="3B82F6"/>
          </a:solidFill>
          <a:ln w="12700">
            <a:solidFill>
              <a:srgbClr val="3B82F6"/>
            </a:solidFill>
            <a:prstDash val="solid"/>
          </a:ln>
        </p:spPr>
        <p:txBody>
          <a:bodyPr/>
          <a:lstStyle/>
          <a:p>
            <a:endParaRPr lang="en-IN"/>
          </a:p>
        </p:txBody>
      </p:sp>
      <p:sp>
        <p:nvSpPr>
          <p:cNvPr id="55" name="Text 49"/>
          <p:cNvSpPr/>
          <p:nvPr/>
        </p:nvSpPr>
        <p:spPr>
          <a:xfrm>
            <a:off x="5010912" y="4480560"/>
            <a:ext cx="3712464" cy="219456"/>
          </a:xfrm>
          <a:prstGeom prst="rect">
            <a:avLst/>
          </a:prstGeom>
          <a:noFill/>
          <a:ln/>
        </p:spPr>
        <p:txBody>
          <a:bodyPr wrap="square" lIns="0" tIns="0" rIns="0" bIns="0" rtlCol="0" anchor="ctr"/>
          <a:lstStyle/>
          <a:p>
            <a:pPr marL="0" indent="0">
              <a:buNone/>
            </a:pPr>
            <a:r>
              <a:rPr lang="en-US" sz="920" dirty="0">
                <a:solidFill>
                  <a:srgbClr val="475569"/>
                </a:solidFill>
              </a:rPr>
              <a:t>Jaeger / Tempo for distributed tracing</a:t>
            </a:r>
            <a:endParaRPr lang="en-US" sz="920" dirty="0"/>
          </a:p>
        </p:txBody>
      </p:sp>
      <p:sp>
        <p:nvSpPr>
          <p:cNvPr id="56" name="Shape 50"/>
          <p:cNvSpPr/>
          <p:nvPr/>
        </p:nvSpPr>
        <p:spPr>
          <a:xfrm>
            <a:off x="4882896" y="4816272"/>
            <a:ext cx="64008" cy="64008"/>
          </a:xfrm>
          <a:prstGeom prst="ellipse">
            <a:avLst/>
          </a:prstGeom>
          <a:solidFill>
            <a:srgbClr val="3B82F6"/>
          </a:solidFill>
          <a:ln w="12700">
            <a:solidFill>
              <a:srgbClr val="3B82F6"/>
            </a:solidFill>
            <a:prstDash val="solid"/>
          </a:ln>
        </p:spPr>
        <p:txBody>
          <a:bodyPr/>
          <a:lstStyle/>
          <a:p>
            <a:endParaRPr lang="en-IN"/>
          </a:p>
        </p:txBody>
      </p:sp>
      <p:sp>
        <p:nvSpPr>
          <p:cNvPr id="57" name="Text 51"/>
          <p:cNvSpPr/>
          <p:nvPr/>
        </p:nvSpPr>
        <p:spPr>
          <a:xfrm>
            <a:off x="5010912" y="4727448"/>
            <a:ext cx="3712464" cy="219456"/>
          </a:xfrm>
          <a:prstGeom prst="rect">
            <a:avLst/>
          </a:prstGeom>
          <a:noFill/>
          <a:ln/>
        </p:spPr>
        <p:txBody>
          <a:bodyPr wrap="square" lIns="0" tIns="0" rIns="0" bIns="0" rtlCol="0" anchor="ctr"/>
          <a:lstStyle/>
          <a:p>
            <a:pPr marL="0" indent="0">
              <a:buNone/>
            </a:pPr>
            <a:r>
              <a:rPr lang="en-US" sz="920" dirty="0">
                <a:solidFill>
                  <a:srgbClr val="475569"/>
                </a:solidFill>
              </a:rPr>
              <a:t>SonarQube quality gates on every PR</a:t>
            </a:r>
            <a:endParaRPr lang="en-US" sz="9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AWS Cost">
    <p:bg>
      <p:bgPr>
        <a:solidFill>
          <a:srgbClr val="F8FAFC"/>
        </a:solidFill>
        <a:effectLst/>
      </p:bgPr>
    </p:bg>
    <p:spTree>
      <p:nvGrpSpPr>
        <p:cNvPr id="1" name=""/>
        <p:cNvGrpSpPr/>
        <p:nvPr/>
      </p:nvGrpSpPr>
      <p:grpSpPr>
        <a:xfrm>
          <a:off x="0" y="0"/>
          <a:ext cx="0" cy="0"/>
          <a:chOff x="0" y="0"/>
          <a:chExt cx="0" cy="0"/>
        </a:xfrm>
      </p:grpSpPr>
      <p:sp>
        <p:nvSpPr>
          <p:cNvPr id="2" name="ChapterLabel"/>
          <p:cNvSpPr/>
          <p:nvPr/>
        </p:nvSpPr>
        <p:spPr>
          <a:xfrm>
            <a:off x="411480" y="274320"/>
            <a:ext cx="8229600" cy="182880"/>
          </a:xfrm>
          <a:prstGeom prst="rect">
            <a:avLst/>
          </a:prstGeom>
          <a:noFill/>
          <a:ln/>
        </p:spPr>
        <p:txBody>
          <a:bodyPr wrap="square" lIns="0" tIns="0" rIns="0" bIns="0" rtlCol="0" anchor="ctr"/>
          <a:lstStyle/>
          <a:p>
            <a:pPr marL="0" indent="0">
              <a:buNone/>
            </a:pPr>
            <a:r>
              <a:rPr lang="en-US" sz="750" b="1" kern="0" spc="250" dirty="0">
                <a:solidFill>
                  <a:srgbClr val="94A3B8"/>
                </a:solidFill>
              </a:rPr>
              <a:t>CHAPTER 1 · ARCHITECTURE</a:t>
            </a:r>
          </a:p>
        </p:txBody>
      </p:sp>
      <p:sp>
        <p:nvSpPr>
          <p:cNvPr id="3" name="HRule"/>
          <p:cNvSpPr/>
          <p:nvPr/>
        </p:nvSpPr>
        <p:spPr>
          <a:xfrm>
            <a:off x="411480" y="493776"/>
            <a:ext cx="8321040" cy="22000"/>
          </a:xfrm>
          <a:prstGeom prst="rect">
            <a:avLst/>
          </a:prstGeom>
          <a:solidFill>
            <a:srgbClr val="E2E8F0"/>
          </a:solidFill>
          <a:ln w="0">
            <a:noFill/>
          </a:ln>
        </p:spPr>
        <p:txBody>
          <a:bodyPr/>
          <a:lstStyle/>
          <a:p>
            <a:endParaRPr lang="en-IN"/>
          </a:p>
        </p:txBody>
      </p:sp>
      <p:sp>
        <p:nvSpPr>
          <p:cNvPr id="4" name="Title"/>
          <p:cNvSpPr/>
          <p:nvPr/>
        </p:nvSpPr>
        <p:spPr>
          <a:xfrm>
            <a:off x="411480" y="540000"/>
            <a:ext cx="8321040" cy="430000"/>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rPr>
              <a:t>AWS Cost Estimate</a:t>
            </a:r>
          </a:p>
        </p:txBody>
      </p:sp>
      <p:sp>
        <p:nvSpPr>
          <p:cNvPr id="5" name="Subtitle"/>
          <p:cNvSpPr/>
          <p:nvPr/>
        </p:nvSpPr>
        <p:spPr>
          <a:xfrm>
            <a:off x="411480" y="960000"/>
            <a:ext cx="8321040" cy="220000"/>
          </a:xfrm>
          <a:prstGeom prst="rect">
            <a:avLst/>
          </a:prstGeom>
          <a:noFill/>
          <a:ln/>
        </p:spPr>
        <p:txBody>
          <a:bodyPr wrap="square" lIns="0" tIns="0" rIns="0" bIns="0" rtlCol="0" anchor="ctr"/>
          <a:lstStyle/>
          <a:p>
            <a:pPr marL="0" indent="0">
              <a:buNone/>
            </a:pPr>
            <a:r>
              <a:rPr lang="en-US" sz="1100" dirty="0">
                <a:solidFill>
                  <a:srgbClr val="475569"/>
                </a:solidFill>
              </a:rPr>
              <a:t>Full-stack AWS hosting for 500 concurrent users — estimated monthly spend</a:t>
            </a:r>
          </a:p>
        </p:txBody>
      </p:sp>
      <p:sp>
        <p:nvSpPr>
          <p:cNvPr id="10" name="C1Bg"/>
          <p:cNvSpPr/>
          <p:nvPr/>
        </p:nvSpPr>
        <p:spPr>
          <a:xfrm>
            <a:off x="411480" y="1250000"/>
            <a:ext cx="2035260" cy="1160000"/>
          </a:xfrm>
          <a:prstGeom prst="rect">
            <a:avLst/>
          </a:prstGeom>
          <a:solidFill>
            <a:srgbClr val="FFFFFF"/>
          </a:solidFill>
          <a:ln w="9525">
            <a:solidFill>
              <a:srgbClr val="E2E8F0"/>
            </a:solidFill>
            <a:prstDash val="solid"/>
          </a:ln>
          <a:effectLst>
            <a:outerShdw blurRad="114300" dist="19050" dir="5400000" algn="bl" rotWithShape="0">
              <a:srgbClr val="000000">
                <a:alpha val="4000"/>
              </a:srgbClr>
            </a:outerShdw>
          </a:effectLst>
        </p:spPr>
        <p:txBody>
          <a:bodyPr/>
          <a:lstStyle/>
          <a:p>
            <a:endParaRPr lang="en-IN"/>
          </a:p>
        </p:txBody>
      </p:sp>
      <p:sp>
        <p:nvSpPr>
          <p:cNvPr id="11" name="C1Bar"/>
          <p:cNvSpPr/>
          <p:nvPr/>
        </p:nvSpPr>
        <p:spPr>
          <a:xfrm>
            <a:off x="411480" y="1250000"/>
            <a:ext cx="2035260" cy="28000"/>
          </a:xfrm>
          <a:prstGeom prst="rect">
            <a:avLst/>
          </a:prstGeom>
          <a:solidFill>
            <a:srgbClr val="3B82F6"/>
          </a:solidFill>
          <a:ln w="0">
            <a:noFill/>
          </a:ln>
        </p:spPr>
        <p:txBody>
          <a:bodyPr/>
          <a:lstStyle/>
          <a:p>
            <a:endParaRPr lang="en-IN"/>
          </a:p>
        </p:txBody>
      </p:sp>
      <p:sp>
        <p:nvSpPr>
          <p:cNvPr id="12" name="C1Content"/>
          <p:cNvSpPr/>
          <p:nvPr/>
        </p:nvSpPr>
        <p:spPr>
          <a:xfrm>
            <a:off x="471480" y="1300000"/>
            <a:ext cx="1915260" cy="1090000"/>
          </a:xfrm>
          <a:prstGeom prst="rect">
            <a:avLst/>
          </a:prstGeom>
          <a:noFill/>
          <a:ln/>
        </p:spPr>
        <p:txBody>
          <a:bodyPr wrap="square" lIns="0" tIns="0" rIns="0" bIns="0" rtlCol="0" anchor="ctr"/>
          <a:lstStyle/>
          <a:p>
            <a:pPr marL="0" indent="0">
              <a:buNone/>
            </a:pPr>
            <a:r>
              <a:rPr lang="en-US" sz="780" b="1" dirty="0">
                <a:solidFill>
                  <a:srgbClr val="3B82F6"/>
                </a:solidFill>
              </a:rPr>
              <a:t>COMPUTE</a:t>
            </a:r>
          </a:p>
          <a:p>
            <a:pPr marL="0" indent="0">
              <a:buNone/>
            </a:pPr>
            <a:r>
              <a:rPr lang="en-US" sz="1500" b="1" dirty="0">
                <a:solidFill>
                  <a:srgbClr val="0F172A"/>
                </a:solidFill>
              </a:rPr>
              <a:t>EKS + EC2</a:t>
            </a:r>
          </a:p>
          <a:p>
            <a:pPr marL="0" indent="0">
              <a:buNone/>
            </a:pPr>
            <a:r>
              <a:rPr lang="en-US" sz="2200" b="1" dirty="0">
                <a:solidFill>
                  <a:srgbClr val="0F172A"/>
                </a:solidFill>
              </a:rPr>
              <a:t>~$620</a:t>
            </a:r>
          </a:p>
          <a:p>
            <a:pPr marL="0" indent="0">
              <a:buNone/>
            </a:pPr>
            <a:r>
              <a:rPr lang="en-US" sz="750" dirty="0">
                <a:solidFill>
                  <a:srgbClr val="64748B"/>
                </a:solidFill>
              </a:rPr>
              <a:t>3x t3.medium nodes + cluster fee</a:t>
            </a:r>
          </a:p>
        </p:txBody>
      </p:sp>
      <p:sp>
        <p:nvSpPr>
          <p:cNvPr id="20" name="C2Bg"/>
          <p:cNvSpPr/>
          <p:nvPr/>
        </p:nvSpPr>
        <p:spPr>
          <a:xfrm>
            <a:off x="2506740" y="1250000"/>
            <a:ext cx="2035260" cy="1160000"/>
          </a:xfrm>
          <a:prstGeom prst="rect">
            <a:avLst/>
          </a:prstGeom>
          <a:solidFill>
            <a:srgbClr val="FFFFFF"/>
          </a:solidFill>
          <a:ln w="9525">
            <a:solidFill>
              <a:srgbClr val="E2E8F0"/>
            </a:solidFill>
            <a:prstDash val="solid"/>
          </a:ln>
          <a:effectLst>
            <a:outerShdw blurRad="114300" dist="19050" dir="5400000" algn="bl" rotWithShape="0">
              <a:srgbClr val="000000">
                <a:alpha val="4000"/>
              </a:srgbClr>
            </a:outerShdw>
          </a:effectLst>
        </p:spPr>
        <p:txBody>
          <a:bodyPr/>
          <a:lstStyle/>
          <a:p>
            <a:endParaRPr lang="en-IN"/>
          </a:p>
        </p:txBody>
      </p:sp>
      <p:sp>
        <p:nvSpPr>
          <p:cNvPr id="21" name="C2Bar"/>
          <p:cNvSpPr/>
          <p:nvPr/>
        </p:nvSpPr>
        <p:spPr>
          <a:xfrm>
            <a:off x="2506740" y="1250000"/>
            <a:ext cx="2035260" cy="28000"/>
          </a:xfrm>
          <a:prstGeom prst="rect">
            <a:avLst/>
          </a:prstGeom>
          <a:solidFill>
            <a:srgbClr val="8B5CF6"/>
          </a:solidFill>
          <a:ln w="0">
            <a:noFill/>
          </a:ln>
        </p:spPr>
        <p:txBody>
          <a:bodyPr/>
          <a:lstStyle/>
          <a:p>
            <a:endParaRPr lang="en-IN"/>
          </a:p>
        </p:txBody>
      </p:sp>
      <p:sp>
        <p:nvSpPr>
          <p:cNvPr id="22" name="C2Content"/>
          <p:cNvSpPr/>
          <p:nvPr/>
        </p:nvSpPr>
        <p:spPr>
          <a:xfrm>
            <a:off x="2566740" y="1300000"/>
            <a:ext cx="1915260" cy="1090000"/>
          </a:xfrm>
          <a:prstGeom prst="rect">
            <a:avLst/>
          </a:prstGeom>
          <a:noFill/>
          <a:ln/>
        </p:spPr>
        <p:txBody>
          <a:bodyPr wrap="square" lIns="0" tIns="0" rIns="0" bIns="0" rtlCol="0" anchor="ctr"/>
          <a:lstStyle/>
          <a:p>
            <a:pPr marL="0" indent="0">
              <a:buNone/>
            </a:pPr>
            <a:r>
              <a:rPr lang="en-US" sz="780" b="1" dirty="0">
                <a:solidFill>
                  <a:srgbClr val="8B5CF6"/>
                </a:solidFill>
              </a:rPr>
              <a:t>DATABASE</a:t>
            </a:r>
          </a:p>
          <a:p>
            <a:pPr marL="0" indent="0">
              <a:buNone/>
            </a:pPr>
            <a:r>
              <a:rPr lang="en-US" sz="1500" b="1" dirty="0">
                <a:solidFill>
                  <a:srgbClr val="0F172A"/>
                </a:solidFill>
              </a:rPr>
              <a:t>RDS + DocDB</a:t>
            </a:r>
          </a:p>
          <a:p>
            <a:pPr marL="0" indent="0">
              <a:buNone/>
            </a:pPr>
            <a:r>
              <a:rPr lang="en-US" sz="2200" b="1" dirty="0">
                <a:solidFill>
                  <a:srgbClr val="0F172A"/>
                </a:solidFill>
              </a:rPr>
              <a:t>~$410</a:t>
            </a:r>
          </a:p>
          <a:p>
            <a:pPr marL="0" indent="0">
              <a:buNone/>
            </a:pPr>
            <a:r>
              <a:rPr lang="en-US" sz="750" dirty="0">
                <a:solidFill>
                  <a:srgbClr val="64748B"/>
                </a:solidFill>
              </a:rPr>
              <a:t>PostgreSQL db.t3.medium + DocDB t3.med</a:t>
            </a:r>
          </a:p>
        </p:txBody>
      </p:sp>
      <p:sp>
        <p:nvSpPr>
          <p:cNvPr id="30" name="C3Bg"/>
          <p:cNvSpPr/>
          <p:nvPr/>
        </p:nvSpPr>
        <p:spPr>
          <a:xfrm>
            <a:off x="4602000" y="1250000"/>
            <a:ext cx="2035260" cy="1160000"/>
          </a:xfrm>
          <a:prstGeom prst="rect">
            <a:avLst/>
          </a:prstGeom>
          <a:solidFill>
            <a:srgbClr val="FFFFFF"/>
          </a:solidFill>
          <a:ln w="9525">
            <a:solidFill>
              <a:srgbClr val="E2E8F0"/>
            </a:solidFill>
            <a:prstDash val="solid"/>
          </a:ln>
          <a:effectLst>
            <a:outerShdw blurRad="114300" dist="19050" dir="5400000" algn="bl" rotWithShape="0">
              <a:srgbClr val="000000">
                <a:alpha val="4000"/>
              </a:srgbClr>
            </a:outerShdw>
          </a:effectLst>
        </p:spPr>
        <p:txBody>
          <a:bodyPr/>
          <a:lstStyle/>
          <a:p>
            <a:endParaRPr lang="en-IN"/>
          </a:p>
        </p:txBody>
      </p:sp>
      <p:sp>
        <p:nvSpPr>
          <p:cNvPr id="31" name="C3Bar"/>
          <p:cNvSpPr/>
          <p:nvPr/>
        </p:nvSpPr>
        <p:spPr>
          <a:xfrm>
            <a:off x="4602000" y="1250000"/>
            <a:ext cx="2035260" cy="28000"/>
          </a:xfrm>
          <a:prstGeom prst="rect">
            <a:avLst/>
          </a:prstGeom>
          <a:solidFill>
            <a:srgbClr val="10B981"/>
          </a:solidFill>
          <a:ln w="0">
            <a:noFill/>
          </a:ln>
        </p:spPr>
        <p:txBody>
          <a:bodyPr/>
          <a:lstStyle/>
          <a:p>
            <a:endParaRPr lang="en-IN"/>
          </a:p>
        </p:txBody>
      </p:sp>
      <p:sp>
        <p:nvSpPr>
          <p:cNvPr id="32" name="C3Content"/>
          <p:cNvSpPr/>
          <p:nvPr/>
        </p:nvSpPr>
        <p:spPr>
          <a:xfrm>
            <a:off x="4662000" y="1300000"/>
            <a:ext cx="1915260" cy="1090000"/>
          </a:xfrm>
          <a:prstGeom prst="rect">
            <a:avLst/>
          </a:prstGeom>
          <a:noFill/>
          <a:ln/>
        </p:spPr>
        <p:txBody>
          <a:bodyPr wrap="square" lIns="0" tIns="0" rIns="0" bIns="0" rtlCol="0" anchor="ctr"/>
          <a:lstStyle/>
          <a:p>
            <a:pPr marL="0" indent="0">
              <a:buNone/>
            </a:pPr>
            <a:r>
              <a:rPr lang="en-US" sz="780" b="1" dirty="0">
                <a:solidFill>
                  <a:srgbClr val="10B981"/>
                </a:solidFill>
              </a:rPr>
              <a:t>MESSAGING</a:t>
            </a:r>
          </a:p>
          <a:p>
            <a:pPr marL="0" indent="0">
              <a:buNone/>
            </a:pPr>
            <a:r>
              <a:rPr lang="en-US" sz="1500" b="1" dirty="0">
                <a:solidFill>
                  <a:srgbClr val="0F172A"/>
                </a:solidFill>
              </a:rPr>
              <a:t>MSK (Kafka)</a:t>
            </a:r>
          </a:p>
          <a:p>
            <a:pPr marL="0" indent="0">
              <a:buNone/>
            </a:pPr>
            <a:r>
              <a:rPr lang="en-US" sz="2200" b="1" dirty="0">
                <a:solidFill>
                  <a:srgbClr val="0F172A"/>
                </a:solidFill>
              </a:rPr>
              <a:t>~$220</a:t>
            </a:r>
          </a:p>
          <a:p>
            <a:pPr marL="0" indent="0">
              <a:buNone/>
            </a:pPr>
            <a:r>
              <a:rPr lang="en-US" sz="750" dirty="0">
                <a:solidFill>
                  <a:srgbClr val="64748B"/>
                </a:solidFill>
              </a:rPr>
              <a:t>2-broker kafka.t3.small + storage</a:t>
            </a:r>
          </a:p>
        </p:txBody>
      </p:sp>
      <p:sp>
        <p:nvSpPr>
          <p:cNvPr id="40" name="C4Bg"/>
          <p:cNvSpPr/>
          <p:nvPr/>
        </p:nvSpPr>
        <p:spPr>
          <a:xfrm>
            <a:off x="6697260" y="1250000"/>
            <a:ext cx="2035260" cy="1160000"/>
          </a:xfrm>
          <a:prstGeom prst="rect">
            <a:avLst/>
          </a:prstGeom>
          <a:solidFill>
            <a:srgbClr val="FFFFFF"/>
          </a:solidFill>
          <a:ln w="9525">
            <a:solidFill>
              <a:srgbClr val="E2E8F0"/>
            </a:solidFill>
            <a:prstDash val="solid"/>
          </a:ln>
          <a:effectLst>
            <a:outerShdw blurRad="114300" dist="19050" dir="5400000" algn="bl" rotWithShape="0">
              <a:srgbClr val="000000">
                <a:alpha val="4000"/>
              </a:srgbClr>
            </a:outerShdw>
          </a:effectLst>
        </p:spPr>
        <p:txBody>
          <a:bodyPr/>
          <a:lstStyle/>
          <a:p>
            <a:endParaRPr lang="en-IN"/>
          </a:p>
        </p:txBody>
      </p:sp>
      <p:sp>
        <p:nvSpPr>
          <p:cNvPr id="41" name="C4Bar"/>
          <p:cNvSpPr/>
          <p:nvPr/>
        </p:nvSpPr>
        <p:spPr>
          <a:xfrm>
            <a:off x="6697260" y="1250000"/>
            <a:ext cx="2035260" cy="28000"/>
          </a:xfrm>
          <a:prstGeom prst="rect">
            <a:avLst/>
          </a:prstGeom>
          <a:solidFill>
            <a:srgbClr val="F59E0B"/>
          </a:solidFill>
          <a:ln w="0">
            <a:noFill/>
          </a:ln>
        </p:spPr>
        <p:txBody>
          <a:bodyPr/>
          <a:lstStyle/>
          <a:p>
            <a:endParaRPr lang="en-IN"/>
          </a:p>
        </p:txBody>
      </p:sp>
      <p:sp>
        <p:nvSpPr>
          <p:cNvPr id="42" name="C4Content"/>
          <p:cNvSpPr/>
          <p:nvPr/>
        </p:nvSpPr>
        <p:spPr>
          <a:xfrm>
            <a:off x="6757260" y="1300000"/>
            <a:ext cx="1915260" cy="1090000"/>
          </a:xfrm>
          <a:prstGeom prst="rect">
            <a:avLst/>
          </a:prstGeom>
          <a:noFill/>
          <a:ln/>
        </p:spPr>
        <p:txBody>
          <a:bodyPr wrap="square" lIns="0" tIns="0" rIns="0" bIns="0" rtlCol="0" anchor="ctr"/>
          <a:lstStyle/>
          <a:p>
            <a:pPr marL="0" indent="0">
              <a:buNone/>
            </a:pPr>
            <a:r>
              <a:rPr lang="en-US" sz="780" b="1" dirty="0">
                <a:solidFill>
                  <a:srgbClr val="F59E0B"/>
                </a:solidFill>
              </a:rPr>
              <a:t>NETWORK + CDN</a:t>
            </a:r>
          </a:p>
          <a:p>
            <a:pPr marL="0" indent="0">
              <a:buNone/>
            </a:pPr>
            <a:r>
              <a:rPr lang="en-US" sz="1500" b="1" dirty="0">
                <a:solidFill>
                  <a:srgbClr val="0F172A"/>
                </a:solidFill>
              </a:rPr>
              <a:t>ALB + CloudFront</a:t>
            </a:r>
          </a:p>
          <a:p>
            <a:pPr marL="0" indent="0">
              <a:buNone/>
            </a:pPr>
            <a:r>
              <a:rPr lang="en-US" sz="2200" b="1" dirty="0">
                <a:solidFill>
                  <a:srgbClr val="0F172A"/>
                </a:solidFill>
              </a:rPr>
              <a:t>~$95</a:t>
            </a:r>
          </a:p>
          <a:p>
            <a:pPr marL="0" indent="0">
              <a:buNone/>
            </a:pPr>
            <a:r>
              <a:rPr lang="en-US" sz="750" dirty="0">
                <a:solidFill>
                  <a:srgbClr val="64748B"/>
                </a:solidFill>
              </a:rPr>
              <a:t>ALB + 1 TB egress via CloudFront</a:t>
            </a:r>
          </a:p>
        </p:txBody>
      </p:sp>
      <p:sp>
        <p:nvSpPr>
          <p:cNvPr id="60" name="TotalBg"/>
          <p:cNvSpPr/>
          <p:nvPr/>
        </p:nvSpPr>
        <p:spPr>
          <a:xfrm>
            <a:off x="411480" y="2480000"/>
            <a:ext cx="8321040" cy="400000"/>
          </a:xfrm>
          <a:prstGeom prst="rect">
            <a:avLst/>
          </a:prstGeom>
          <a:solidFill>
            <a:srgbClr val="0F172A"/>
          </a:solidFill>
          <a:ln w="0">
            <a:noFill/>
          </a:ln>
        </p:spPr>
        <p:txBody>
          <a:bodyPr/>
          <a:lstStyle/>
          <a:p>
            <a:endParaRPr lang="en-IN"/>
          </a:p>
        </p:txBody>
      </p:sp>
      <p:sp>
        <p:nvSpPr>
          <p:cNvPr id="61" name="TotalLabel"/>
          <p:cNvSpPr/>
          <p:nvPr/>
        </p:nvSpPr>
        <p:spPr>
          <a:xfrm>
            <a:off x="530000" y="2480000"/>
            <a:ext cx="4500000" cy="400000"/>
          </a:xfrm>
          <a:prstGeom prst="rect">
            <a:avLst/>
          </a:prstGeom>
          <a:noFill/>
          <a:ln/>
        </p:spPr>
        <p:txBody>
          <a:bodyPr wrap="square" lIns="0" tIns="0" rIns="0" bIns="0" rtlCol="0" anchor="ctr"/>
          <a:lstStyle/>
          <a:p>
            <a:pPr marL="0" indent="0">
              <a:buNone/>
            </a:pPr>
            <a:r>
              <a:rPr lang="en-US" sz="1100" b="1" dirty="0">
                <a:solidFill>
                  <a:srgbClr val="94A3B8"/>
                </a:solidFill>
              </a:rPr>
              <a:t>ESTIMATED TOTAL / MONTH  (500 concurrent users)</a:t>
            </a:r>
          </a:p>
        </p:txBody>
      </p:sp>
      <p:sp>
        <p:nvSpPr>
          <p:cNvPr id="62" name="TotalPrice"/>
          <p:cNvSpPr/>
          <p:nvPr/>
        </p:nvSpPr>
        <p:spPr>
          <a:xfrm>
            <a:off x="5700000" y="2480000"/>
            <a:ext cx="2992520" cy="400000"/>
          </a:xfrm>
          <a:prstGeom prst="rect">
            <a:avLst/>
          </a:prstGeom>
          <a:noFill/>
          <a:ln/>
        </p:spPr>
        <p:txBody>
          <a:bodyPr wrap="square" lIns="0" tIns="0" rIns="0" bIns="0" rtlCol="0" anchor="ctr"/>
          <a:lstStyle/>
          <a:p>
            <a:pPr marL="0" indent="0" algn="r">
              <a:buNone/>
            </a:pPr>
            <a:r>
              <a:rPr lang="en-US" sz="2200" b="1" dirty="0">
                <a:solidFill>
                  <a:srgbClr val="60A5FA"/>
                </a:solidFill>
              </a:rPr>
              <a:t>~$1,700 / mo</a:t>
            </a:r>
          </a:p>
        </p:txBody>
      </p:sp>
      <p:sp>
        <p:nvSpPr>
          <p:cNvPr id="70" name="C5Bg"/>
          <p:cNvSpPr/>
          <p:nvPr/>
        </p:nvSpPr>
        <p:spPr>
          <a:xfrm>
            <a:off x="411480" y="2949999"/>
            <a:ext cx="2733680" cy="939003"/>
          </a:xfrm>
          <a:prstGeom prst="rect">
            <a:avLst/>
          </a:prstGeom>
          <a:solidFill>
            <a:srgbClr val="FFFFFF"/>
          </a:solidFill>
          <a:ln w="9525">
            <a:solidFill>
              <a:srgbClr val="E2E8F0"/>
            </a:solidFill>
            <a:prstDash val="solid"/>
          </a:ln>
          <a:effectLst>
            <a:outerShdw blurRad="114300" dist="19050" dir="5400000" algn="bl" rotWithShape="0">
              <a:srgbClr val="000000">
                <a:alpha val="4000"/>
              </a:srgbClr>
            </a:outerShdw>
          </a:effectLst>
        </p:spPr>
        <p:txBody>
          <a:bodyPr/>
          <a:lstStyle/>
          <a:p>
            <a:endParaRPr lang="en-IN"/>
          </a:p>
        </p:txBody>
      </p:sp>
      <p:sp>
        <p:nvSpPr>
          <p:cNvPr id="71" name="C5Bar"/>
          <p:cNvSpPr/>
          <p:nvPr/>
        </p:nvSpPr>
        <p:spPr>
          <a:xfrm>
            <a:off x="411480" y="2950000"/>
            <a:ext cx="2733680" cy="28000"/>
          </a:xfrm>
          <a:prstGeom prst="rect">
            <a:avLst/>
          </a:prstGeom>
          <a:solidFill>
            <a:srgbClr val="EF4444"/>
          </a:solidFill>
          <a:ln w="0">
            <a:noFill/>
          </a:ln>
        </p:spPr>
        <p:txBody>
          <a:bodyPr/>
          <a:lstStyle/>
          <a:p>
            <a:endParaRPr lang="en-IN"/>
          </a:p>
        </p:txBody>
      </p:sp>
      <p:sp>
        <p:nvSpPr>
          <p:cNvPr id="72" name="C5Content"/>
          <p:cNvSpPr/>
          <p:nvPr/>
        </p:nvSpPr>
        <p:spPr>
          <a:xfrm>
            <a:off x="471480" y="3000000"/>
            <a:ext cx="2673680" cy="612000"/>
          </a:xfrm>
          <a:prstGeom prst="rect">
            <a:avLst/>
          </a:prstGeom>
          <a:noFill/>
          <a:ln/>
        </p:spPr>
        <p:txBody>
          <a:bodyPr wrap="square" lIns="0" tIns="0" rIns="0" bIns="0" rtlCol="0" anchor="t"/>
          <a:lstStyle/>
          <a:p>
            <a:pPr marL="0" indent="0">
              <a:buNone/>
            </a:pPr>
            <a:endParaRPr lang="en-US" sz="780" b="1" dirty="0">
              <a:solidFill>
                <a:srgbClr val="EF4444"/>
              </a:solidFill>
            </a:endParaRPr>
          </a:p>
          <a:p>
            <a:pPr marL="0" indent="0">
              <a:buNone/>
            </a:pPr>
            <a:r>
              <a:rPr lang="en-US" sz="780" b="1" dirty="0">
                <a:solidFill>
                  <a:srgbClr val="EF4444"/>
                </a:solidFill>
              </a:rPr>
              <a:t>OBSERVABILITY</a:t>
            </a:r>
          </a:p>
          <a:p>
            <a:pPr marL="0" indent="0">
              <a:buNone/>
            </a:pPr>
            <a:r>
              <a:rPr lang="en-US" sz="1900" b="1" dirty="0">
                <a:solidFill>
                  <a:srgbClr val="0F172A"/>
                </a:solidFill>
              </a:rPr>
              <a:t>~$180 / mo</a:t>
            </a:r>
          </a:p>
          <a:p>
            <a:pPr marL="0" indent="0">
              <a:buNone/>
            </a:pPr>
            <a:r>
              <a:rPr lang="en-US" sz="750" dirty="0">
                <a:solidFill>
                  <a:srgbClr val="64748B"/>
                </a:solidFill>
              </a:rPr>
              <a:t>CloudWatch + X-Ray + Container Insights</a:t>
            </a:r>
          </a:p>
        </p:txBody>
      </p:sp>
      <p:sp>
        <p:nvSpPr>
          <p:cNvPr id="75" name="C6Bg"/>
          <p:cNvSpPr/>
          <p:nvPr/>
        </p:nvSpPr>
        <p:spPr>
          <a:xfrm>
            <a:off x="3205160" y="2950000"/>
            <a:ext cx="2733680" cy="939002"/>
          </a:xfrm>
          <a:prstGeom prst="rect">
            <a:avLst/>
          </a:prstGeom>
          <a:solidFill>
            <a:srgbClr val="FFFFFF"/>
          </a:solidFill>
          <a:ln w="9525">
            <a:solidFill>
              <a:srgbClr val="E2E8F0"/>
            </a:solidFill>
            <a:prstDash val="solid"/>
          </a:ln>
          <a:effectLst>
            <a:outerShdw blurRad="114300" dist="19050" dir="5400000" algn="bl" rotWithShape="0">
              <a:srgbClr val="000000">
                <a:alpha val="4000"/>
              </a:srgbClr>
            </a:outerShdw>
          </a:effectLst>
        </p:spPr>
        <p:txBody>
          <a:bodyPr/>
          <a:lstStyle/>
          <a:p>
            <a:endParaRPr lang="en-IN"/>
          </a:p>
        </p:txBody>
      </p:sp>
      <p:sp>
        <p:nvSpPr>
          <p:cNvPr id="76" name="C6Bar"/>
          <p:cNvSpPr/>
          <p:nvPr/>
        </p:nvSpPr>
        <p:spPr>
          <a:xfrm>
            <a:off x="3205160" y="2950000"/>
            <a:ext cx="2733680" cy="28000"/>
          </a:xfrm>
          <a:prstGeom prst="rect">
            <a:avLst/>
          </a:prstGeom>
          <a:solidFill>
            <a:srgbClr val="06B6D4"/>
          </a:solidFill>
          <a:ln w="0">
            <a:noFill/>
          </a:ln>
        </p:spPr>
        <p:txBody>
          <a:bodyPr/>
          <a:lstStyle/>
          <a:p>
            <a:endParaRPr lang="en-IN"/>
          </a:p>
        </p:txBody>
      </p:sp>
      <p:sp>
        <p:nvSpPr>
          <p:cNvPr id="77" name="C6Content"/>
          <p:cNvSpPr/>
          <p:nvPr/>
        </p:nvSpPr>
        <p:spPr>
          <a:xfrm>
            <a:off x="3265160" y="3000000"/>
            <a:ext cx="2613680" cy="700000"/>
          </a:xfrm>
          <a:prstGeom prst="rect">
            <a:avLst/>
          </a:prstGeom>
          <a:noFill/>
          <a:ln/>
        </p:spPr>
        <p:txBody>
          <a:bodyPr wrap="square" lIns="0" tIns="0" rIns="0" bIns="0" rtlCol="0" anchor="t"/>
          <a:lstStyle/>
          <a:p>
            <a:pPr marL="0" indent="0">
              <a:buNone/>
            </a:pPr>
            <a:endParaRPr lang="en-US" sz="780" b="1" dirty="0">
              <a:solidFill>
                <a:srgbClr val="06B6D4"/>
              </a:solidFill>
            </a:endParaRPr>
          </a:p>
          <a:p>
            <a:pPr marL="0" indent="0">
              <a:buNone/>
            </a:pPr>
            <a:r>
              <a:rPr lang="en-US" sz="780" b="1" dirty="0">
                <a:solidFill>
                  <a:srgbClr val="06B6D4"/>
                </a:solidFill>
              </a:rPr>
              <a:t>CACHE</a:t>
            </a:r>
          </a:p>
          <a:p>
            <a:pPr marL="0" indent="0">
              <a:buNone/>
            </a:pPr>
            <a:r>
              <a:rPr lang="en-US" sz="1900" b="1" dirty="0">
                <a:solidFill>
                  <a:srgbClr val="0F172A"/>
                </a:solidFill>
              </a:rPr>
              <a:t>~$80 / mo</a:t>
            </a:r>
          </a:p>
          <a:p>
            <a:pPr marL="0" indent="0">
              <a:buNone/>
            </a:pPr>
            <a:r>
              <a:rPr lang="en-US" sz="750" dirty="0">
                <a:solidFill>
                  <a:srgbClr val="64748B"/>
                </a:solidFill>
              </a:rPr>
              <a:t>ElastiCache Redis cache.t3.medium node</a:t>
            </a:r>
          </a:p>
        </p:txBody>
      </p:sp>
      <p:sp>
        <p:nvSpPr>
          <p:cNvPr id="80" name="C7Bg"/>
          <p:cNvSpPr/>
          <p:nvPr/>
        </p:nvSpPr>
        <p:spPr>
          <a:xfrm>
            <a:off x="5998840" y="2949999"/>
            <a:ext cx="2733680" cy="939001"/>
          </a:xfrm>
          <a:prstGeom prst="rect">
            <a:avLst/>
          </a:prstGeom>
          <a:solidFill>
            <a:srgbClr val="FFFFFF"/>
          </a:solidFill>
          <a:ln w="9525">
            <a:solidFill>
              <a:srgbClr val="E2E8F0"/>
            </a:solidFill>
            <a:prstDash val="solid"/>
          </a:ln>
          <a:effectLst>
            <a:outerShdw blurRad="114300" dist="19050" dir="5400000" algn="bl" rotWithShape="0">
              <a:srgbClr val="000000">
                <a:alpha val="4000"/>
              </a:srgbClr>
            </a:outerShdw>
          </a:effectLst>
        </p:spPr>
        <p:txBody>
          <a:bodyPr/>
          <a:lstStyle/>
          <a:p>
            <a:endParaRPr lang="en-IN"/>
          </a:p>
        </p:txBody>
      </p:sp>
      <p:sp>
        <p:nvSpPr>
          <p:cNvPr id="81" name="C7Bar"/>
          <p:cNvSpPr/>
          <p:nvPr/>
        </p:nvSpPr>
        <p:spPr>
          <a:xfrm>
            <a:off x="5998840" y="2950000"/>
            <a:ext cx="2733680" cy="28000"/>
          </a:xfrm>
          <a:prstGeom prst="rect">
            <a:avLst/>
          </a:prstGeom>
          <a:solidFill>
            <a:srgbClr val="EC4899"/>
          </a:solidFill>
          <a:ln w="0">
            <a:noFill/>
          </a:ln>
        </p:spPr>
        <p:txBody>
          <a:bodyPr/>
          <a:lstStyle/>
          <a:p>
            <a:endParaRPr lang="en-IN"/>
          </a:p>
        </p:txBody>
      </p:sp>
      <p:sp>
        <p:nvSpPr>
          <p:cNvPr id="82" name="C7Content"/>
          <p:cNvSpPr/>
          <p:nvPr/>
        </p:nvSpPr>
        <p:spPr>
          <a:xfrm>
            <a:off x="6058840" y="3000000"/>
            <a:ext cx="2613680" cy="700000"/>
          </a:xfrm>
          <a:prstGeom prst="rect">
            <a:avLst/>
          </a:prstGeom>
          <a:noFill/>
          <a:ln/>
        </p:spPr>
        <p:txBody>
          <a:bodyPr wrap="square" lIns="0" tIns="0" rIns="0" bIns="0" rtlCol="0" anchor="t"/>
          <a:lstStyle/>
          <a:p>
            <a:pPr marL="0" indent="0">
              <a:buNone/>
            </a:pPr>
            <a:endParaRPr lang="en-US" sz="780" b="1" dirty="0">
              <a:solidFill>
                <a:srgbClr val="EC4899"/>
              </a:solidFill>
            </a:endParaRPr>
          </a:p>
          <a:p>
            <a:pPr marL="0" indent="0">
              <a:buNone/>
            </a:pPr>
            <a:r>
              <a:rPr lang="en-US" sz="780" b="1" dirty="0">
                <a:solidFill>
                  <a:srgbClr val="EC4899"/>
                </a:solidFill>
              </a:rPr>
              <a:t>CI/CD + IaC</a:t>
            </a:r>
          </a:p>
          <a:p>
            <a:pPr marL="0" indent="0">
              <a:buNone/>
            </a:pPr>
            <a:r>
              <a:rPr lang="en-US" sz="1900" b="1" dirty="0">
                <a:solidFill>
                  <a:srgbClr val="0F172A"/>
                </a:solidFill>
              </a:rPr>
              <a:t>~$95 / mo</a:t>
            </a:r>
          </a:p>
          <a:p>
            <a:pPr marL="0" indent="0">
              <a:buNone/>
            </a:pPr>
            <a:r>
              <a:rPr lang="en-US" sz="750" dirty="0">
                <a:solidFill>
                  <a:srgbClr val="64748B"/>
                </a:solidFill>
              </a:rPr>
              <a:t>ECR + CodePipeline + S3 Terraform state</a:t>
            </a:r>
          </a:p>
        </p:txBody>
      </p:sp>
      <p:sp>
        <p:nvSpPr>
          <p:cNvPr id="90" name="Footer"/>
          <p:cNvSpPr/>
          <p:nvPr/>
        </p:nvSpPr>
        <p:spPr>
          <a:xfrm>
            <a:off x="411480" y="3974083"/>
            <a:ext cx="8321040" cy="200000"/>
          </a:xfrm>
          <a:prstGeom prst="rect">
            <a:avLst/>
          </a:prstGeom>
          <a:noFill/>
          <a:ln/>
        </p:spPr>
        <p:txBody>
          <a:bodyPr wrap="square" lIns="0" tIns="0" rIns="0" bIns="0" rtlCol="0" anchor="ctr"/>
          <a:lstStyle/>
          <a:p>
            <a:pPr marL="0" indent="0">
              <a:buNone/>
            </a:pPr>
            <a:r>
              <a:rPr lang="en-US" sz="700" dirty="0">
                <a:solidFill>
                  <a:srgbClr val="94A3B8"/>
                </a:solidFill>
              </a:rPr>
              <a:t>All figures are approximate on-demand pricing (us-east-1)  |  Reserved Instances / Savings Plans reduce total by 30-40%  |  Assumptions: 500 CCU, ~2 TB/month egress, 4 microservices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11480" y="274320"/>
            <a:ext cx="8229600" cy="182880"/>
          </a:xfrm>
          <a:prstGeom prst="rect">
            <a:avLst/>
          </a:prstGeom>
          <a:noFill/>
          <a:ln/>
        </p:spPr>
        <p:txBody>
          <a:bodyPr wrap="square" lIns="0" tIns="0" rIns="0" bIns="0" rtlCol="0" anchor="ctr"/>
          <a:lstStyle/>
          <a:p>
            <a:pPr marL="0" indent="0">
              <a:buNone/>
            </a:pPr>
            <a:r>
              <a:rPr lang="en-US" sz="750" b="1" kern="0" spc="250" dirty="0">
                <a:solidFill>
                  <a:srgbClr val="94A3B8"/>
                </a:solidFill>
              </a:rPr>
              <a:t>CHAPTER 2 · DATA MIGRATION</a:t>
            </a:r>
            <a:endParaRPr lang="en-US" sz="750" dirty="0"/>
          </a:p>
        </p:txBody>
      </p:sp>
      <p:sp>
        <p:nvSpPr>
          <p:cNvPr id="3" name="Shape 1"/>
          <p:cNvSpPr/>
          <p:nvPr/>
        </p:nvSpPr>
        <p:spPr>
          <a:xfrm>
            <a:off x="411480" y="493776"/>
            <a:ext cx="8321040" cy="25603"/>
          </a:xfrm>
          <a:prstGeom prst="rect">
            <a:avLst/>
          </a:prstGeom>
          <a:solidFill>
            <a:srgbClr val="E2E8F0"/>
          </a:solidFill>
          <a:ln w="12700">
            <a:solidFill>
              <a:srgbClr val="E2E8F0"/>
            </a:solidFill>
            <a:prstDash val="solid"/>
          </a:ln>
        </p:spPr>
        <p:txBody>
          <a:bodyPr/>
          <a:lstStyle/>
          <a:p>
            <a:endParaRPr lang="en-IN"/>
          </a:p>
        </p:txBody>
      </p:sp>
      <p:sp>
        <p:nvSpPr>
          <p:cNvPr id="4" name="Text 2"/>
          <p:cNvSpPr/>
          <p:nvPr/>
        </p:nvSpPr>
        <p:spPr>
          <a:xfrm>
            <a:off x="411480" y="621792"/>
            <a:ext cx="8321040" cy="566928"/>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Data Migration: Expand-Contract Strategy</a:t>
            </a:r>
            <a:endParaRPr lang="en-US" sz="2600" dirty="0"/>
          </a:p>
        </p:txBody>
      </p:sp>
      <p:sp>
        <p:nvSpPr>
          <p:cNvPr id="5" name="Text 3"/>
          <p:cNvSpPr/>
          <p:nvPr/>
        </p:nvSpPr>
        <p:spPr>
          <a:xfrm>
            <a:off x="411480" y="1225296"/>
            <a:ext cx="6858000" cy="256032"/>
          </a:xfrm>
          <a:prstGeom prst="rect">
            <a:avLst/>
          </a:prstGeom>
          <a:noFill/>
          <a:ln/>
        </p:spPr>
        <p:txBody>
          <a:bodyPr wrap="square" lIns="0" tIns="0" rIns="0" bIns="0" rtlCol="0" anchor="ctr"/>
          <a:lstStyle/>
          <a:p>
            <a:pPr marL="0" indent="0">
              <a:buNone/>
            </a:pPr>
            <a:r>
              <a:rPr lang="en-US" sz="1100" dirty="0">
                <a:solidFill>
                  <a:srgbClr val="475569"/>
                </a:solidFill>
              </a:rPr>
              <a:t>Oracle → PostgreSQL / MongoDB via dual-write + event replay — no hard cutover window</a:t>
            </a:r>
            <a:endParaRPr lang="en-US" sz="1100" dirty="0"/>
          </a:p>
        </p:txBody>
      </p:sp>
      <p:sp>
        <p:nvSpPr>
          <p:cNvPr id="6" name="Shape 4"/>
          <p:cNvSpPr/>
          <p:nvPr/>
        </p:nvSpPr>
        <p:spPr>
          <a:xfrm>
            <a:off x="411480" y="1536192"/>
            <a:ext cx="8321040" cy="658368"/>
          </a:xfrm>
          <a:prstGeom prst="rect">
            <a:avLst/>
          </a:prstGeom>
          <a:solidFill>
            <a:srgbClr val="0F172A"/>
          </a:solidFill>
          <a:ln w="12700">
            <a:solidFill>
              <a:srgbClr val="0F172A"/>
            </a:solidFill>
            <a:prstDash val="solid"/>
          </a:ln>
        </p:spPr>
        <p:txBody>
          <a:bodyPr/>
          <a:lstStyle/>
          <a:p>
            <a:endParaRPr lang="en-IN"/>
          </a:p>
        </p:txBody>
      </p:sp>
      <p:sp>
        <p:nvSpPr>
          <p:cNvPr id="7" name="Text 5"/>
          <p:cNvSpPr/>
          <p:nvPr/>
        </p:nvSpPr>
        <p:spPr>
          <a:xfrm>
            <a:off x="502920" y="1572768"/>
            <a:ext cx="2011680" cy="566928"/>
          </a:xfrm>
          <a:prstGeom prst="rect">
            <a:avLst/>
          </a:prstGeom>
          <a:noFill/>
          <a:ln/>
        </p:spPr>
        <p:txBody>
          <a:bodyPr wrap="square" lIns="0" tIns="0" rIns="0" bIns="0" rtlCol="0" anchor="ctr"/>
          <a:lstStyle/>
          <a:p>
            <a:pPr marL="0" indent="0" algn="ctr">
              <a:buNone/>
            </a:pPr>
            <a:r>
              <a:rPr lang="en-US" sz="1000" b="1" dirty="0">
                <a:solidFill>
                  <a:srgbClr val="FFFFFF"/>
                </a:solidFill>
              </a:rPr>
              <a:t>01  Schema Expand</a:t>
            </a:r>
            <a:endParaRPr lang="en-US" sz="1000" dirty="0"/>
          </a:p>
        </p:txBody>
      </p:sp>
      <p:sp>
        <p:nvSpPr>
          <p:cNvPr id="8" name="Text 6"/>
          <p:cNvSpPr/>
          <p:nvPr/>
        </p:nvSpPr>
        <p:spPr>
          <a:xfrm>
            <a:off x="2606040" y="1572768"/>
            <a:ext cx="2011680" cy="566928"/>
          </a:xfrm>
          <a:prstGeom prst="rect">
            <a:avLst/>
          </a:prstGeom>
          <a:noFill/>
          <a:ln/>
        </p:spPr>
        <p:txBody>
          <a:bodyPr wrap="square" lIns="0" tIns="0" rIns="0" bIns="0" rtlCol="0" anchor="ctr"/>
          <a:lstStyle/>
          <a:p>
            <a:pPr marL="0" indent="0" algn="ctr">
              <a:buNone/>
            </a:pPr>
            <a:r>
              <a:rPr lang="en-US" sz="1000" b="1" dirty="0">
                <a:solidFill>
                  <a:srgbClr val="FFFFFF"/>
                </a:solidFill>
              </a:rPr>
              <a:t>02  Event Replay</a:t>
            </a:r>
            <a:endParaRPr lang="en-US" sz="1000" dirty="0"/>
          </a:p>
        </p:txBody>
      </p:sp>
      <p:sp>
        <p:nvSpPr>
          <p:cNvPr id="9" name="Text 7"/>
          <p:cNvSpPr/>
          <p:nvPr/>
        </p:nvSpPr>
        <p:spPr>
          <a:xfrm>
            <a:off x="4709160" y="1572768"/>
            <a:ext cx="2011680" cy="566928"/>
          </a:xfrm>
          <a:prstGeom prst="rect">
            <a:avLst/>
          </a:prstGeom>
          <a:noFill/>
          <a:ln/>
        </p:spPr>
        <p:txBody>
          <a:bodyPr wrap="square" lIns="0" tIns="0" rIns="0" bIns="0" rtlCol="0" anchor="ctr"/>
          <a:lstStyle/>
          <a:p>
            <a:pPr marL="0" indent="0" algn="ctr">
              <a:buNone/>
            </a:pPr>
            <a:r>
              <a:rPr lang="en-US" sz="1000" b="1" dirty="0">
                <a:solidFill>
                  <a:srgbClr val="FFFFFF"/>
                </a:solidFill>
              </a:rPr>
              <a:t>03  Read Switchover</a:t>
            </a:r>
            <a:endParaRPr lang="en-US" sz="1000" dirty="0"/>
          </a:p>
        </p:txBody>
      </p:sp>
      <p:sp>
        <p:nvSpPr>
          <p:cNvPr id="10" name="Text 8"/>
          <p:cNvSpPr/>
          <p:nvPr/>
        </p:nvSpPr>
        <p:spPr>
          <a:xfrm>
            <a:off x="6812280" y="1572768"/>
            <a:ext cx="2011680" cy="566928"/>
          </a:xfrm>
          <a:prstGeom prst="rect">
            <a:avLst/>
          </a:prstGeom>
          <a:noFill/>
          <a:ln/>
        </p:spPr>
        <p:txBody>
          <a:bodyPr wrap="square" lIns="0" tIns="0" rIns="0" bIns="0" rtlCol="0" anchor="ctr"/>
          <a:lstStyle/>
          <a:p>
            <a:pPr marL="0" indent="0" algn="ctr">
              <a:buNone/>
            </a:pPr>
            <a:r>
              <a:rPr lang="en-US" sz="1000" b="1" dirty="0">
                <a:solidFill>
                  <a:srgbClr val="FFFFFF"/>
                </a:solidFill>
              </a:rPr>
              <a:t>04  Contract</a:t>
            </a:r>
            <a:endParaRPr lang="en-US" sz="1000" dirty="0"/>
          </a:p>
        </p:txBody>
      </p:sp>
      <p:sp>
        <p:nvSpPr>
          <p:cNvPr id="11" name="Shape 9"/>
          <p:cNvSpPr/>
          <p:nvPr/>
        </p:nvSpPr>
        <p:spPr>
          <a:xfrm>
            <a:off x="411480" y="2286000"/>
            <a:ext cx="1965960" cy="2633472"/>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12" name="Shape 10"/>
          <p:cNvSpPr/>
          <p:nvPr/>
        </p:nvSpPr>
        <p:spPr>
          <a:xfrm>
            <a:off x="411480" y="2286000"/>
            <a:ext cx="1965960" cy="27432"/>
          </a:xfrm>
          <a:prstGeom prst="rect">
            <a:avLst/>
          </a:prstGeom>
          <a:solidFill>
            <a:srgbClr val="1D4ED8"/>
          </a:solidFill>
          <a:ln w="12700">
            <a:solidFill>
              <a:srgbClr val="1D4ED8"/>
            </a:solidFill>
            <a:prstDash val="solid"/>
          </a:ln>
        </p:spPr>
        <p:txBody>
          <a:bodyPr/>
          <a:lstStyle/>
          <a:p>
            <a:endParaRPr lang="en-IN"/>
          </a:p>
        </p:txBody>
      </p:sp>
      <p:sp>
        <p:nvSpPr>
          <p:cNvPr id="13" name="Text 11"/>
          <p:cNvSpPr/>
          <p:nvPr/>
        </p:nvSpPr>
        <p:spPr>
          <a:xfrm>
            <a:off x="539496" y="2359152"/>
            <a:ext cx="1737360" cy="365760"/>
          </a:xfrm>
          <a:prstGeom prst="rect">
            <a:avLst/>
          </a:prstGeom>
          <a:noFill/>
          <a:ln/>
        </p:spPr>
        <p:txBody>
          <a:bodyPr wrap="square" lIns="0" tIns="0" rIns="0" bIns="0" rtlCol="0" anchor="ctr"/>
          <a:lstStyle/>
          <a:p>
            <a:pPr marL="0" indent="0">
              <a:buNone/>
            </a:pPr>
            <a:r>
              <a:rPr lang="en-US" sz="2200" b="1" dirty="0">
                <a:solidFill>
                  <a:srgbClr val="1D4ED8"/>
                </a:solidFill>
              </a:rPr>
              <a:t>01</a:t>
            </a:r>
            <a:endParaRPr lang="en-US" sz="2200" dirty="0"/>
          </a:p>
        </p:txBody>
      </p:sp>
      <p:sp>
        <p:nvSpPr>
          <p:cNvPr id="14" name="Text 12"/>
          <p:cNvSpPr/>
          <p:nvPr/>
        </p:nvSpPr>
        <p:spPr>
          <a:xfrm>
            <a:off x="539496" y="2761488"/>
            <a:ext cx="1737360" cy="237744"/>
          </a:xfrm>
          <a:prstGeom prst="rect">
            <a:avLst/>
          </a:prstGeom>
          <a:noFill/>
          <a:ln/>
        </p:spPr>
        <p:txBody>
          <a:bodyPr wrap="square" lIns="0" tIns="0" rIns="0" bIns="0" rtlCol="0" anchor="ctr"/>
          <a:lstStyle/>
          <a:p>
            <a:pPr marL="0" indent="0">
              <a:buNone/>
            </a:pPr>
            <a:r>
              <a:rPr lang="en-US" sz="1100" b="1" dirty="0">
                <a:solidFill>
                  <a:srgbClr val="0F172A"/>
                </a:solidFill>
              </a:rPr>
              <a:t>Schema Expand</a:t>
            </a:r>
            <a:endParaRPr lang="en-US" sz="1100" dirty="0"/>
          </a:p>
        </p:txBody>
      </p:sp>
      <p:sp>
        <p:nvSpPr>
          <p:cNvPr id="15" name="Shape 13"/>
          <p:cNvSpPr/>
          <p:nvPr/>
        </p:nvSpPr>
        <p:spPr>
          <a:xfrm>
            <a:off x="539496" y="0"/>
            <a:ext cx="1700784" cy="25603"/>
          </a:xfrm>
          <a:prstGeom prst="rect">
            <a:avLst/>
          </a:prstGeom>
          <a:solidFill>
            <a:srgbClr val="E2E8F0"/>
          </a:solidFill>
          <a:ln w="12700">
            <a:solidFill>
              <a:srgbClr val="E2E8F0"/>
            </a:solidFill>
            <a:prstDash val="solid"/>
          </a:ln>
        </p:spPr>
        <p:txBody>
          <a:bodyPr/>
          <a:lstStyle/>
          <a:p>
            <a:endParaRPr lang="en-IN"/>
          </a:p>
        </p:txBody>
      </p:sp>
      <p:sp>
        <p:nvSpPr>
          <p:cNvPr id="16" name="Shape 14"/>
          <p:cNvSpPr/>
          <p:nvPr/>
        </p:nvSpPr>
        <p:spPr>
          <a:xfrm>
            <a:off x="539496" y="3035808"/>
            <a:ext cx="1719072" cy="22860"/>
          </a:xfrm>
          <a:prstGeom prst="rect">
            <a:avLst/>
          </a:prstGeom>
          <a:solidFill>
            <a:srgbClr val="E2E8F0"/>
          </a:solidFill>
          <a:ln w="12700">
            <a:solidFill>
              <a:srgbClr val="E2E8F0"/>
            </a:solidFill>
            <a:prstDash val="solid"/>
          </a:ln>
        </p:spPr>
        <p:txBody>
          <a:bodyPr/>
          <a:lstStyle/>
          <a:p>
            <a:endParaRPr lang="en-IN"/>
          </a:p>
        </p:txBody>
      </p:sp>
      <p:sp>
        <p:nvSpPr>
          <p:cNvPr id="17" name="Text 15"/>
          <p:cNvSpPr/>
          <p:nvPr/>
        </p:nvSpPr>
        <p:spPr>
          <a:xfrm>
            <a:off x="539496" y="3108960"/>
            <a:ext cx="1737360" cy="1664208"/>
          </a:xfrm>
          <a:prstGeom prst="rect">
            <a:avLst/>
          </a:prstGeom>
          <a:noFill/>
          <a:ln/>
        </p:spPr>
        <p:txBody>
          <a:bodyPr wrap="square" lIns="0" tIns="0" rIns="0" bIns="0" rtlCol="0" anchor="ctr"/>
          <a:lstStyle/>
          <a:p>
            <a:pPr marL="0" indent="0">
              <a:lnSpc>
                <a:spcPct val="150000"/>
              </a:lnSpc>
              <a:buNone/>
            </a:pPr>
            <a:r>
              <a:rPr lang="en-US" sz="880" dirty="0">
                <a:solidFill>
                  <a:srgbClr val="475569"/>
                </a:solidFill>
              </a:rPr>
              <a:t>New PostgreSQL schema deployed alongside Oracle. Legacy app writes to both via a thin dual-write adapter — no application logic changes. Schema divergence tracked via Liquibase.</a:t>
            </a:r>
            <a:endParaRPr lang="en-US" sz="880" dirty="0"/>
          </a:p>
        </p:txBody>
      </p:sp>
      <p:sp>
        <p:nvSpPr>
          <p:cNvPr id="18" name="Shape 16"/>
          <p:cNvSpPr/>
          <p:nvPr/>
        </p:nvSpPr>
        <p:spPr>
          <a:xfrm>
            <a:off x="2514600" y="2286000"/>
            <a:ext cx="1965960" cy="2633472"/>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19" name="Shape 17"/>
          <p:cNvSpPr/>
          <p:nvPr/>
        </p:nvSpPr>
        <p:spPr>
          <a:xfrm>
            <a:off x="2514600" y="2286000"/>
            <a:ext cx="1965960" cy="27432"/>
          </a:xfrm>
          <a:prstGeom prst="rect">
            <a:avLst/>
          </a:prstGeom>
          <a:solidFill>
            <a:srgbClr val="1D4ED8"/>
          </a:solidFill>
          <a:ln w="12700">
            <a:solidFill>
              <a:srgbClr val="1D4ED8"/>
            </a:solidFill>
            <a:prstDash val="solid"/>
          </a:ln>
        </p:spPr>
        <p:txBody>
          <a:bodyPr/>
          <a:lstStyle/>
          <a:p>
            <a:endParaRPr lang="en-IN"/>
          </a:p>
        </p:txBody>
      </p:sp>
      <p:sp>
        <p:nvSpPr>
          <p:cNvPr id="20" name="Text 18"/>
          <p:cNvSpPr/>
          <p:nvPr/>
        </p:nvSpPr>
        <p:spPr>
          <a:xfrm>
            <a:off x="2642616" y="2359152"/>
            <a:ext cx="1737360" cy="365760"/>
          </a:xfrm>
          <a:prstGeom prst="rect">
            <a:avLst/>
          </a:prstGeom>
          <a:noFill/>
          <a:ln/>
        </p:spPr>
        <p:txBody>
          <a:bodyPr wrap="square" lIns="0" tIns="0" rIns="0" bIns="0" rtlCol="0" anchor="ctr"/>
          <a:lstStyle/>
          <a:p>
            <a:pPr marL="0" indent="0">
              <a:buNone/>
            </a:pPr>
            <a:r>
              <a:rPr lang="en-US" sz="2200" b="1" dirty="0">
                <a:solidFill>
                  <a:srgbClr val="1D4ED8"/>
                </a:solidFill>
              </a:rPr>
              <a:t>02</a:t>
            </a:r>
            <a:endParaRPr lang="en-US" sz="2200" dirty="0"/>
          </a:p>
        </p:txBody>
      </p:sp>
      <p:sp>
        <p:nvSpPr>
          <p:cNvPr id="21" name="Text 19"/>
          <p:cNvSpPr/>
          <p:nvPr/>
        </p:nvSpPr>
        <p:spPr>
          <a:xfrm>
            <a:off x="2642616" y="2761488"/>
            <a:ext cx="1737360" cy="237744"/>
          </a:xfrm>
          <a:prstGeom prst="rect">
            <a:avLst/>
          </a:prstGeom>
          <a:noFill/>
          <a:ln/>
        </p:spPr>
        <p:txBody>
          <a:bodyPr wrap="square" lIns="0" tIns="0" rIns="0" bIns="0" rtlCol="0" anchor="ctr"/>
          <a:lstStyle/>
          <a:p>
            <a:pPr marL="0" indent="0">
              <a:buNone/>
            </a:pPr>
            <a:r>
              <a:rPr lang="en-US" sz="1100" b="1" dirty="0">
                <a:solidFill>
                  <a:srgbClr val="0F172A"/>
                </a:solidFill>
              </a:rPr>
              <a:t>Event Replay</a:t>
            </a:r>
            <a:endParaRPr lang="en-US" sz="1100" dirty="0"/>
          </a:p>
        </p:txBody>
      </p:sp>
      <p:sp>
        <p:nvSpPr>
          <p:cNvPr id="22" name="Shape 20"/>
          <p:cNvSpPr/>
          <p:nvPr/>
        </p:nvSpPr>
        <p:spPr>
          <a:xfrm>
            <a:off x="2642616" y="0"/>
            <a:ext cx="1700784" cy="25603"/>
          </a:xfrm>
          <a:prstGeom prst="rect">
            <a:avLst/>
          </a:prstGeom>
          <a:solidFill>
            <a:srgbClr val="E2E8F0"/>
          </a:solidFill>
          <a:ln w="12700">
            <a:solidFill>
              <a:srgbClr val="E2E8F0"/>
            </a:solidFill>
            <a:prstDash val="solid"/>
          </a:ln>
        </p:spPr>
        <p:txBody>
          <a:bodyPr/>
          <a:lstStyle/>
          <a:p>
            <a:endParaRPr lang="en-IN"/>
          </a:p>
        </p:txBody>
      </p:sp>
      <p:sp>
        <p:nvSpPr>
          <p:cNvPr id="23" name="Shape 21"/>
          <p:cNvSpPr/>
          <p:nvPr/>
        </p:nvSpPr>
        <p:spPr>
          <a:xfrm>
            <a:off x="2642616" y="3035808"/>
            <a:ext cx="1719072" cy="22860"/>
          </a:xfrm>
          <a:prstGeom prst="rect">
            <a:avLst/>
          </a:prstGeom>
          <a:solidFill>
            <a:srgbClr val="E2E8F0"/>
          </a:solidFill>
          <a:ln w="12700">
            <a:solidFill>
              <a:srgbClr val="E2E8F0"/>
            </a:solidFill>
            <a:prstDash val="solid"/>
          </a:ln>
        </p:spPr>
        <p:txBody>
          <a:bodyPr/>
          <a:lstStyle/>
          <a:p>
            <a:endParaRPr lang="en-IN"/>
          </a:p>
        </p:txBody>
      </p:sp>
      <p:sp>
        <p:nvSpPr>
          <p:cNvPr id="24" name="Text 22"/>
          <p:cNvSpPr/>
          <p:nvPr/>
        </p:nvSpPr>
        <p:spPr>
          <a:xfrm>
            <a:off x="2642616" y="3108960"/>
            <a:ext cx="1737360" cy="1664208"/>
          </a:xfrm>
          <a:prstGeom prst="rect">
            <a:avLst/>
          </a:prstGeom>
          <a:noFill/>
          <a:ln/>
        </p:spPr>
        <p:txBody>
          <a:bodyPr wrap="square" lIns="0" tIns="0" rIns="0" bIns="0" rtlCol="0" anchor="ctr"/>
          <a:lstStyle/>
          <a:p>
            <a:pPr marL="0" indent="0">
              <a:lnSpc>
                <a:spcPct val="150000"/>
              </a:lnSpc>
              <a:buNone/>
            </a:pPr>
            <a:r>
              <a:rPr lang="en-US" sz="880" dirty="0">
                <a:solidFill>
                  <a:srgbClr val="475569"/>
                </a:solidFill>
              </a:rPr>
              <a:t>Historical Oracle data replayed as domain events through Apache Pulsar into the new event store. Replay jobs are idempotent and restartable at any offset. Verified via SHA-256 manifests.</a:t>
            </a:r>
            <a:endParaRPr lang="en-US" sz="880" dirty="0"/>
          </a:p>
        </p:txBody>
      </p:sp>
      <p:sp>
        <p:nvSpPr>
          <p:cNvPr id="25" name="Shape 23"/>
          <p:cNvSpPr/>
          <p:nvPr/>
        </p:nvSpPr>
        <p:spPr>
          <a:xfrm>
            <a:off x="4617720" y="2286000"/>
            <a:ext cx="1965960" cy="2633472"/>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26" name="Shape 24"/>
          <p:cNvSpPr/>
          <p:nvPr/>
        </p:nvSpPr>
        <p:spPr>
          <a:xfrm>
            <a:off x="4617720" y="2286000"/>
            <a:ext cx="1965960" cy="27432"/>
          </a:xfrm>
          <a:prstGeom prst="rect">
            <a:avLst/>
          </a:prstGeom>
          <a:solidFill>
            <a:srgbClr val="1D4ED8"/>
          </a:solidFill>
          <a:ln w="12700">
            <a:solidFill>
              <a:srgbClr val="1D4ED8"/>
            </a:solidFill>
            <a:prstDash val="solid"/>
          </a:ln>
        </p:spPr>
        <p:txBody>
          <a:bodyPr/>
          <a:lstStyle/>
          <a:p>
            <a:endParaRPr lang="en-IN"/>
          </a:p>
        </p:txBody>
      </p:sp>
      <p:sp>
        <p:nvSpPr>
          <p:cNvPr id="27" name="Text 25"/>
          <p:cNvSpPr/>
          <p:nvPr/>
        </p:nvSpPr>
        <p:spPr>
          <a:xfrm>
            <a:off x="4745736" y="2359152"/>
            <a:ext cx="1737360" cy="365760"/>
          </a:xfrm>
          <a:prstGeom prst="rect">
            <a:avLst/>
          </a:prstGeom>
          <a:noFill/>
          <a:ln/>
        </p:spPr>
        <p:txBody>
          <a:bodyPr wrap="square" lIns="0" tIns="0" rIns="0" bIns="0" rtlCol="0" anchor="ctr"/>
          <a:lstStyle/>
          <a:p>
            <a:pPr marL="0" indent="0">
              <a:buNone/>
            </a:pPr>
            <a:r>
              <a:rPr lang="en-US" sz="2200" b="1" dirty="0">
                <a:solidFill>
                  <a:srgbClr val="1D4ED8"/>
                </a:solidFill>
              </a:rPr>
              <a:t>03</a:t>
            </a:r>
            <a:endParaRPr lang="en-US" sz="2200" dirty="0"/>
          </a:p>
        </p:txBody>
      </p:sp>
      <p:sp>
        <p:nvSpPr>
          <p:cNvPr id="28" name="Text 26"/>
          <p:cNvSpPr/>
          <p:nvPr/>
        </p:nvSpPr>
        <p:spPr>
          <a:xfrm>
            <a:off x="4745736" y="2761488"/>
            <a:ext cx="1737360" cy="237744"/>
          </a:xfrm>
          <a:prstGeom prst="rect">
            <a:avLst/>
          </a:prstGeom>
          <a:noFill/>
          <a:ln/>
        </p:spPr>
        <p:txBody>
          <a:bodyPr wrap="square" lIns="0" tIns="0" rIns="0" bIns="0" rtlCol="0" anchor="ctr"/>
          <a:lstStyle/>
          <a:p>
            <a:pPr marL="0" indent="0">
              <a:buNone/>
            </a:pPr>
            <a:r>
              <a:rPr lang="en-US" sz="1100" b="1" dirty="0">
                <a:solidFill>
                  <a:srgbClr val="0F172A"/>
                </a:solidFill>
              </a:rPr>
              <a:t>Read Switchover</a:t>
            </a:r>
            <a:endParaRPr lang="en-US" sz="1100" dirty="0"/>
          </a:p>
        </p:txBody>
      </p:sp>
      <p:sp>
        <p:nvSpPr>
          <p:cNvPr id="29" name="Shape 27"/>
          <p:cNvSpPr/>
          <p:nvPr/>
        </p:nvSpPr>
        <p:spPr>
          <a:xfrm>
            <a:off x="4745736" y="0"/>
            <a:ext cx="1700784" cy="25603"/>
          </a:xfrm>
          <a:prstGeom prst="rect">
            <a:avLst/>
          </a:prstGeom>
          <a:solidFill>
            <a:srgbClr val="E2E8F0"/>
          </a:solidFill>
          <a:ln w="12700">
            <a:solidFill>
              <a:srgbClr val="E2E8F0"/>
            </a:solidFill>
            <a:prstDash val="solid"/>
          </a:ln>
        </p:spPr>
        <p:txBody>
          <a:bodyPr/>
          <a:lstStyle/>
          <a:p>
            <a:endParaRPr lang="en-IN"/>
          </a:p>
        </p:txBody>
      </p:sp>
      <p:sp>
        <p:nvSpPr>
          <p:cNvPr id="30" name="Shape 28"/>
          <p:cNvSpPr/>
          <p:nvPr/>
        </p:nvSpPr>
        <p:spPr>
          <a:xfrm>
            <a:off x="4745736" y="3035808"/>
            <a:ext cx="1719072" cy="22860"/>
          </a:xfrm>
          <a:prstGeom prst="rect">
            <a:avLst/>
          </a:prstGeom>
          <a:solidFill>
            <a:srgbClr val="E2E8F0"/>
          </a:solidFill>
          <a:ln w="12700">
            <a:solidFill>
              <a:srgbClr val="E2E8F0"/>
            </a:solidFill>
            <a:prstDash val="solid"/>
          </a:ln>
        </p:spPr>
        <p:txBody>
          <a:bodyPr/>
          <a:lstStyle/>
          <a:p>
            <a:endParaRPr lang="en-IN"/>
          </a:p>
        </p:txBody>
      </p:sp>
      <p:sp>
        <p:nvSpPr>
          <p:cNvPr id="31" name="Text 29"/>
          <p:cNvSpPr/>
          <p:nvPr/>
        </p:nvSpPr>
        <p:spPr>
          <a:xfrm>
            <a:off x="4745736" y="3108960"/>
            <a:ext cx="1737360" cy="1664208"/>
          </a:xfrm>
          <a:prstGeom prst="rect">
            <a:avLst/>
          </a:prstGeom>
          <a:noFill/>
          <a:ln/>
        </p:spPr>
        <p:txBody>
          <a:bodyPr wrap="square" lIns="0" tIns="0" rIns="0" bIns="0" rtlCol="0" anchor="ctr"/>
          <a:lstStyle/>
          <a:p>
            <a:pPr marL="0" indent="0">
              <a:lnSpc>
                <a:spcPct val="150000"/>
              </a:lnSpc>
              <a:buNone/>
            </a:pPr>
            <a:r>
              <a:rPr lang="en-US" sz="880" dirty="0">
                <a:solidFill>
                  <a:srgbClr val="475569"/>
                </a:solidFill>
              </a:rPr>
              <a:t>New services read exclusively from PostgreSQL / MongoDB. Oracle remains write-of-record. A/B consistency probes run 24/7 — automated alerts on &gt;0.001% aggregate drift.</a:t>
            </a:r>
            <a:endParaRPr lang="en-US" sz="880" dirty="0"/>
          </a:p>
        </p:txBody>
      </p:sp>
      <p:sp>
        <p:nvSpPr>
          <p:cNvPr id="32" name="Shape 30"/>
          <p:cNvSpPr/>
          <p:nvPr/>
        </p:nvSpPr>
        <p:spPr>
          <a:xfrm>
            <a:off x="6720840" y="2286000"/>
            <a:ext cx="1965960" cy="2633472"/>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33" name="Shape 31"/>
          <p:cNvSpPr/>
          <p:nvPr/>
        </p:nvSpPr>
        <p:spPr>
          <a:xfrm>
            <a:off x="6720840" y="2286000"/>
            <a:ext cx="1965960" cy="27432"/>
          </a:xfrm>
          <a:prstGeom prst="rect">
            <a:avLst/>
          </a:prstGeom>
          <a:solidFill>
            <a:srgbClr val="1D4ED8"/>
          </a:solidFill>
          <a:ln w="12700">
            <a:solidFill>
              <a:srgbClr val="1D4ED8"/>
            </a:solidFill>
            <a:prstDash val="solid"/>
          </a:ln>
        </p:spPr>
        <p:txBody>
          <a:bodyPr/>
          <a:lstStyle/>
          <a:p>
            <a:endParaRPr lang="en-IN"/>
          </a:p>
        </p:txBody>
      </p:sp>
      <p:sp>
        <p:nvSpPr>
          <p:cNvPr id="34" name="Text 32"/>
          <p:cNvSpPr/>
          <p:nvPr/>
        </p:nvSpPr>
        <p:spPr>
          <a:xfrm>
            <a:off x="6848856" y="2359152"/>
            <a:ext cx="1737360" cy="365760"/>
          </a:xfrm>
          <a:prstGeom prst="rect">
            <a:avLst/>
          </a:prstGeom>
          <a:noFill/>
          <a:ln/>
        </p:spPr>
        <p:txBody>
          <a:bodyPr wrap="square" lIns="0" tIns="0" rIns="0" bIns="0" rtlCol="0" anchor="ctr"/>
          <a:lstStyle/>
          <a:p>
            <a:pPr marL="0" indent="0">
              <a:buNone/>
            </a:pPr>
            <a:r>
              <a:rPr lang="en-US" sz="2200" b="1" dirty="0">
                <a:solidFill>
                  <a:srgbClr val="1D4ED8"/>
                </a:solidFill>
              </a:rPr>
              <a:t>04</a:t>
            </a:r>
            <a:endParaRPr lang="en-US" sz="2200" dirty="0"/>
          </a:p>
        </p:txBody>
      </p:sp>
      <p:sp>
        <p:nvSpPr>
          <p:cNvPr id="35" name="Text 33"/>
          <p:cNvSpPr/>
          <p:nvPr/>
        </p:nvSpPr>
        <p:spPr>
          <a:xfrm>
            <a:off x="6848856" y="2761488"/>
            <a:ext cx="1737360" cy="237744"/>
          </a:xfrm>
          <a:prstGeom prst="rect">
            <a:avLst/>
          </a:prstGeom>
          <a:noFill/>
          <a:ln/>
        </p:spPr>
        <p:txBody>
          <a:bodyPr wrap="square" lIns="0" tIns="0" rIns="0" bIns="0" rtlCol="0" anchor="ctr"/>
          <a:lstStyle/>
          <a:p>
            <a:pPr marL="0" indent="0">
              <a:buNone/>
            </a:pPr>
            <a:r>
              <a:rPr lang="en-US" sz="1100" b="1" dirty="0">
                <a:solidFill>
                  <a:srgbClr val="0F172A"/>
                </a:solidFill>
              </a:rPr>
              <a:t>Contract</a:t>
            </a:r>
            <a:endParaRPr lang="en-US" sz="1100" dirty="0"/>
          </a:p>
        </p:txBody>
      </p:sp>
      <p:sp>
        <p:nvSpPr>
          <p:cNvPr id="36" name="Shape 34"/>
          <p:cNvSpPr/>
          <p:nvPr/>
        </p:nvSpPr>
        <p:spPr>
          <a:xfrm>
            <a:off x="6848856" y="0"/>
            <a:ext cx="1700784" cy="25603"/>
          </a:xfrm>
          <a:prstGeom prst="rect">
            <a:avLst/>
          </a:prstGeom>
          <a:solidFill>
            <a:srgbClr val="E2E8F0"/>
          </a:solidFill>
          <a:ln w="12700">
            <a:solidFill>
              <a:srgbClr val="E2E8F0"/>
            </a:solidFill>
            <a:prstDash val="solid"/>
          </a:ln>
        </p:spPr>
        <p:txBody>
          <a:bodyPr/>
          <a:lstStyle/>
          <a:p>
            <a:endParaRPr lang="en-IN"/>
          </a:p>
        </p:txBody>
      </p:sp>
      <p:sp>
        <p:nvSpPr>
          <p:cNvPr id="37" name="Shape 35"/>
          <p:cNvSpPr/>
          <p:nvPr/>
        </p:nvSpPr>
        <p:spPr>
          <a:xfrm>
            <a:off x="6848856" y="3035808"/>
            <a:ext cx="1719072" cy="22860"/>
          </a:xfrm>
          <a:prstGeom prst="rect">
            <a:avLst/>
          </a:prstGeom>
          <a:solidFill>
            <a:srgbClr val="E2E8F0"/>
          </a:solidFill>
          <a:ln w="12700">
            <a:solidFill>
              <a:srgbClr val="E2E8F0"/>
            </a:solidFill>
            <a:prstDash val="solid"/>
          </a:ln>
        </p:spPr>
        <p:txBody>
          <a:bodyPr/>
          <a:lstStyle/>
          <a:p>
            <a:endParaRPr lang="en-IN"/>
          </a:p>
        </p:txBody>
      </p:sp>
      <p:sp>
        <p:nvSpPr>
          <p:cNvPr id="38" name="Text 36"/>
          <p:cNvSpPr/>
          <p:nvPr/>
        </p:nvSpPr>
        <p:spPr>
          <a:xfrm>
            <a:off x="6848856" y="3108960"/>
            <a:ext cx="1737360" cy="1664208"/>
          </a:xfrm>
          <a:prstGeom prst="rect">
            <a:avLst/>
          </a:prstGeom>
          <a:noFill/>
          <a:ln/>
        </p:spPr>
        <p:txBody>
          <a:bodyPr wrap="square" lIns="0" tIns="0" rIns="0" bIns="0" rtlCol="0" anchor="ctr"/>
          <a:lstStyle/>
          <a:p>
            <a:pPr marL="0" indent="0">
              <a:lnSpc>
                <a:spcPct val="150000"/>
              </a:lnSpc>
              <a:buNone/>
            </a:pPr>
            <a:r>
              <a:rPr lang="en-US" sz="880" dirty="0">
                <a:solidFill>
                  <a:srgbClr val="475569"/>
                </a:solidFill>
              </a:rPr>
              <a:t>Dual-write adapter removed. Oracle demoted to cold archive. Schema slimmed to remove backward-compat columns. Oracle decommissioned after 60-day read-only grace window.</a:t>
            </a:r>
            <a:endParaRPr lang="en-US" sz="880" dirty="0"/>
          </a:p>
        </p:txBody>
      </p:sp>
      <p:sp>
        <p:nvSpPr>
          <p:cNvPr id="39" name="Shape 37"/>
          <p:cNvSpPr/>
          <p:nvPr/>
        </p:nvSpPr>
        <p:spPr>
          <a:xfrm>
            <a:off x="411480" y="4983480"/>
            <a:ext cx="8321040" cy="25603"/>
          </a:xfrm>
          <a:prstGeom prst="rect">
            <a:avLst/>
          </a:prstGeom>
          <a:solidFill>
            <a:srgbClr val="E2E8F0"/>
          </a:solidFill>
          <a:ln w="12700">
            <a:solidFill>
              <a:srgbClr val="E2E8F0"/>
            </a:solidFill>
            <a:prstDash val="solid"/>
          </a:ln>
        </p:spPr>
        <p:txBody>
          <a:bodyPr/>
          <a:lstStyle/>
          <a:p>
            <a:endParaRPr lang="en-IN"/>
          </a:p>
        </p:txBody>
      </p:sp>
      <p:sp>
        <p:nvSpPr>
          <p:cNvPr id="40" name="Text 38"/>
          <p:cNvSpPr/>
          <p:nvPr/>
        </p:nvSpPr>
        <p:spPr>
          <a:xfrm>
            <a:off x="411480" y="5029200"/>
            <a:ext cx="8321040" cy="164592"/>
          </a:xfrm>
          <a:prstGeom prst="rect">
            <a:avLst/>
          </a:prstGeom>
          <a:noFill/>
          <a:ln/>
        </p:spPr>
        <p:txBody>
          <a:bodyPr wrap="square" lIns="0" tIns="0" rIns="0" bIns="0" rtlCol="0" anchor="ctr"/>
          <a:lstStyle/>
          <a:p>
            <a:pPr marL="0" indent="0">
              <a:buNone/>
            </a:pPr>
            <a:r>
              <a:rPr lang="en-US" sz="850" dirty="0">
                <a:solidFill>
                  <a:srgbClr val="94A3B8"/>
                </a:solidFill>
              </a:rPr>
              <a:t>Expand-Contract eliminates the hard cutover window  ·  Both stores remain consistent throughout  ·  Schema changes backward-compatible until Contract phase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11480" y="274320"/>
            <a:ext cx="8229600" cy="182880"/>
          </a:xfrm>
          <a:prstGeom prst="rect">
            <a:avLst/>
          </a:prstGeom>
          <a:noFill/>
          <a:ln/>
        </p:spPr>
        <p:txBody>
          <a:bodyPr wrap="square" lIns="0" tIns="0" rIns="0" bIns="0" rtlCol="0" anchor="ctr"/>
          <a:lstStyle/>
          <a:p>
            <a:pPr marL="0" indent="0">
              <a:buNone/>
            </a:pPr>
            <a:r>
              <a:rPr lang="en-US" sz="750" b="1" kern="0" spc="250" dirty="0">
                <a:solidFill>
                  <a:srgbClr val="94A3B8"/>
                </a:solidFill>
              </a:rPr>
              <a:t>CHAPTER 3 · TESTING &amp; ROLLOUT</a:t>
            </a:r>
            <a:endParaRPr lang="en-US" sz="750" dirty="0"/>
          </a:p>
        </p:txBody>
      </p:sp>
      <p:sp>
        <p:nvSpPr>
          <p:cNvPr id="3" name="Shape 1"/>
          <p:cNvSpPr/>
          <p:nvPr/>
        </p:nvSpPr>
        <p:spPr>
          <a:xfrm>
            <a:off x="411480" y="493776"/>
            <a:ext cx="8321040" cy="25603"/>
          </a:xfrm>
          <a:prstGeom prst="rect">
            <a:avLst/>
          </a:prstGeom>
          <a:solidFill>
            <a:srgbClr val="E2E8F0"/>
          </a:solidFill>
          <a:ln w="12700">
            <a:solidFill>
              <a:srgbClr val="E2E8F0"/>
            </a:solidFill>
            <a:prstDash val="solid"/>
          </a:ln>
        </p:spPr>
        <p:txBody>
          <a:bodyPr/>
          <a:lstStyle/>
          <a:p>
            <a:endParaRPr lang="en-IN"/>
          </a:p>
        </p:txBody>
      </p:sp>
      <p:sp>
        <p:nvSpPr>
          <p:cNvPr id="4" name="Text 2"/>
          <p:cNvSpPr/>
          <p:nvPr/>
        </p:nvSpPr>
        <p:spPr>
          <a:xfrm>
            <a:off x="411480" y="621792"/>
            <a:ext cx="8321040" cy="566928"/>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Shift-Left Quality Strategy</a:t>
            </a:r>
            <a:endParaRPr lang="en-US" sz="2600" dirty="0"/>
          </a:p>
        </p:txBody>
      </p:sp>
      <p:sp>
        <p:nvSpPr>
          <p:cNvPr id="5" name="Text 3"/>
          <p:cNvSpPr/>
          <p:nvPr/>
        </p:nvSpPr>
        <p:spPr>
          <a:xfrm>
            <a:off x="411480" y="1225296"/>
            <a:ext cx="6858000" cy="256032"/>
          </a:xfrm>
          <a:prstGeom prst="rect">
            <a:avLst/>
          </a:prstGeom>
          <a:noFill/>
          <a:ln/>
        </p:spPr>
        <p:txBody>
          <a:bodyPr wrap="square" lIns="0" tIns="0" rIns="0" bIns="0" rtlCol="0" anchor="ctr"/>
          <a:lstStyle/>
          <a:p>
            <a:pPr marL="0" indent="0">
              <a:buNone/>
            </a:pPr>
            <a:r>
              <a:rPr lang="en-US" sz="1100" dirty="0">
                <a:solidFill>
                  <a:srgbClr val="475569"/>
                </a:solidFill>
              </a:rPr>
              <a:t>Test earlier, test smarter — production confidence without production risk</a:t>
            </a:r>
            <a:endParaRPr lang="en-US" sz="1100" dirty="0"/>
          </a:p>
        </p:txBody>
      </p:sp>
      <p:sp>
        <p:nvSpPr>
          <p:cNvPr id="6" name="Shape 4"/>
          <p:cNvSpPr/>
          <p:nvPr/>
        </p:nvSpPr>
        <p:spPr>
          <a:xfrm>
            <a:off x="411480" y="1572768"/>
            <a:ext cx="8321040" cy="749808"/>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7" name="Shape 5"/>
          <p:cNvSpPr/>
          <p:nvPr/>
        </p:nvSpPr>
        <p:spPr>
          <a:xfrm>
            <a:off x="530352" y="1773936"/>
            <a:ext cx="329184" cy="329184"/>
          </a:xfrm>
          <a:prstGeom prst="rect">
            <a:avLst/>
          </a:prstGeom>
          <a:solidFill>
            <a:srgbClr val="1D4ED8">
              <a:alpha val="10000"/>
            </a:srgbClr>
          </a:solidFill>
          <a:ln w="6350">
            <a:solidFill>
              <a:srgbClr val="1D4ED8"/>
            </a:solidFill>
            <a:prstDash val="solid"/>
          </a:ln>
        </p:spPr>
        <p:txBody>
          <a:bodyPr/>
          <a:lstStyle/>
          <a:p>
            <a:endParaRPr lang="en-IN"/>
          </a:p>
        </p:txBody>
      </p:sp>
      <p:sp>
        <p:nvSpPr>
          <p:cNvPr id="8" name="Text 6"/>
          <p:cNvSpPr/>
          <p:nvPr/>
        </p:nvSpPr>
        <p:spPr>
          <a:xfrm>
            <a:off x="530352" y="1773936"/>
            <a:ext cx="329184" cy="329184"/>
          </a:xfrm>
          <a:prstGeom prst="rect">
            <a:avLst/>
          </a:prstGeom>
          <a:noFill/>
          <a:ln/>
        </p:spPr>
        <p:txBody>
          <a:bodyPr wrap="square" lIns="0" tIns="0" rIns="0" bIns="0" rtlCol="0" anchor="ctr"/>
          <a:lstStyle/>
          <a:p>
            <a:pPr marL="0" indent="0" algn="ctr">
              <a:buNone/>
            </a:pPr>
            <a:r>
              <a:rPr lang="en-US" sz="1200" b="1" dirty="0">
                <a:solidFill>
                  <a:srgbClr val="1D4ED8"/>
                </a:solidFill>
              </a:rPr>
              <a:t>01</a:t>
            </a:r>
            <a:endParaRPr lang="en-US" sz="1200" dirty="0"/>
          </a:p>
        </p:txBody>
      </p:sp>
      <p:sp>
        <p:nvSpPr>
          <p:cNvPr id="9" name="Text 7"/>
          <p:cNvSpPr/>
          <p:nvPr/>
        </p:nvSpPr>
        <p:spPr>
          <a:xfrm>
            <a:off x="987552" y="1700784"/>
            <a:ext cx="7589520" cy="237744"/>
          </a:xfrm>
          <a:prstGeom prst="rect">
            <a:avLst/>
          </a:prstGeom>
          <a:noFill/>
          <a:ln/>
        </p:spPr>
        <p:txBody>
          <a:bodyPr wrap="square" lIns="0" tIns="0" rIns="0" bIns="0" rtlCol="0" anchor="ctr"/>
          <a:lstStyle/>
          <a:p>
            <a:pPr marL="0" indent="0">
              <a:buNone/>
            </a:pPr>
            <a:r>
              <a:rPr lang="en-US" sz="1150" b="1" dirty="0">
                <a:solidFill>
                  <a:srgbClr val="0F172A"/>
                </a:solidFill>
              </a:rPr>
              <a:t>Property-Based &amp; Mutation Testing</a:t>
            </a:r>
            <a:endParaRPr lang="en-US" sz="1150" dirty="0"/>
          </a:p>
        </p:txBody>
      </p:sp>
      <p:sp>
        <p:nvSpPr>
          <p:cNvPr id="10" name="Text 8"/>
          <p:cNvSpPr/>
          <p:nvPr/>
        </p:nvSpPr>
        <p:spPr>
          <a:xfrm>
            <a:off x="987552" y="1956816"/>
            <a:ext cx="7589520" cy="292608"/>
          </a:xfrm>
          <a:prstGeom prst="rect">
            <a:avLst/>
          </a:prstGeom>
          <a:noFill/>
          <a:ln/>
        </p:spPr>
        <p:txBody>
          <a:bodyPr wrap="square" lIns="0" tIns="0" rIns="0" bIns="0" rtlCol="0" anchor="ctr"/>
          <a:lstStyle/>
          <a:p>
            <a:pPr marL="0" indent="0">
              <a:buNone/>
            </a:pPr>
            <a:r>
              <a:rPr lang="en-US" sz="920" dirty="0">
                <a:solidFill>
                  <a:srgbClr val="475569"/>
                </a:solidFill>
              </a:rPr>
              <a:t>fast-check generates thousands of edge-case inputs automatically. Stryker mutation testing verifies that test suites actually detect real bugs — not just execute lines of code.</a:t>
            </a:r>
            <a:endParaRPr lang="en-US" sz="920" dirty="0"/>
          </a:p>
        </p:txBody>
      </p:sp>
      <p:sp>
        <p:nvSpPr>
          <p:cNvPr id="11" name="Shape 9"/>
          <p:cNvSpPr/>
          <p:nvPr/>
        </p:nvSpPr>
        <p:spPr>
          <a:xfrm>
            <a:off x="411480" y="2441448"/>
            <a:ext cx="8321040" cy="749808"/>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12" name="Shape 10"/>
          <p:cNvSpPr/>
          <p:nvPr/>
        </p:nvSpPr>
        <p:spPr>
          <a:xfrm>
            <a:off x="530352" y="2642616"/>
            <a:ext cx="329184" cy="329184"/>
          </a:xfrm>
          <a:prstGeom prst="rect">
            <a:avLst/>
          </a:prstGeom>
          <a:solidFill>
            <a:srgbClr val="1D4ED8">
              <a:alpha val="10000"/>
            </a:srgbClr>
          </a:solidFill>
          <a:ln w="6350">
            <a:solidFill>
              <a:srgbClr val="1D4ED8"/>
            </a:solidFill>
            <a:prstDash val="solid"/>
          </a:ln>
        </p:spPr>
        <p:txBody>
          <a:bodyPr/>
          <a:lstStyle/>
          <a:p>
            <a:endParaRPr lang="en-IN"/>
          </a:p>
        </p:txBody>
      </p:sp>
      <p:sp>
        <p:nvSpPr>
          <p:cNvPr id="13" name="Text 11"/>
          <p:cNvSpPr/>
          <p:nvPr/>
        </p:nvSpPr>
        <p:spPr>
          <a:xfrm>
            <a:off x="530352" y="2642616"/>
            <a:ext cx="329184" cy="329184"/>
          </a:xfrm>
          <a:prstGeom prst="rect">
            <a:avLst/>
          </a:prstGeom>
          <a:noFill/>
          <a:ln/>
        </p:spPr>
        <p:txBody>
          <a:bodyPr wrap="square" lIns="0" tIns="0" rIns="0" bIns="0" rtlCol="0" anchor="ctr"/>
          <a:lstStyle/>
          <a:p>
            <a:pPr marL="0" indent="0" algn="ctr">
              <a:buNone/>
            </a:pPr>
            <a:r>
              <a:rPr lang="en-US" sz="1200" b="1" dirty="0">
                <a:solidFill>
                  <a:srgbClr val="1D4ED8"/>
                </a:solidFill>
              </a:rPr>
              <a:t>02</a:t>
            </a:r>
            <a:endParaRPr lang="en-US" sz="1200" dirty="0"/>
          </a:p>
        </p:txBody>
      </p:sp>
      <p:sp>
        <p:nvSpPr>
          <p:cNvPr id="14" name="Text 12"/>
          <p:cNvSpPr/>
          <p:nvPr/>
        </p:nvSpPr>
        <p:spPr>
          <a:xfrm>
            <a:off x="987552" y="2569464"/>
            <a:ext cx="7589520" cy="237744"/>
          </a:xfrm>
          <a:prstGeom prst="rect">
            <a:avLst/>
          </a:prstGeom>
          <a:noFill/>
          <a:ln/>
        </p:spPr>
        <p:txBody>
          <a:bodyPr wrap="square" lIns="0" tIns="0" rIns="0" bIns="0" rtlCol="0" anchor="ctr"/>
          <a:lstStyle/>
          <a:p>
            <a:pPr marL="0" indent="0">
              <a:buNone/>
            </a:pPr>
            <a:r>
              <a:rPr lang="en-US" sz="1150" b="1" dirty="0">
                <a:solidFill>
                  <a:srgbClr val="0F172A"/>
                </a:solidFill>
              </a:rPr>
              <a:t>Trace-Based Integration</a:t>
            </a:r>
            <a:endParaRPr lang="en-US" sz="1150" dirty="0"/>
          </a:p>
        </p:txBody>
      </p:sp>
      <p:sp>
        <p:nvSpPr>
          <p:cNvPr id="15" name="Text 13"/>
          <p:cNvSpPr/>
          <p:nvPr/>
        </p:nvSpPr>
        <p:spPr>
          <a:xfrm>
            <a:off x="987552" y="2825496"/>
            <a:ext cx="7589520" cy="292608"/>
          </a:xfrm>
          <a:prstGeom prst="rect">
            <a:avLst/>
          </a:prstGeom>
          <a:noFill/>
          <a:ln/>
        </p:spPr>
        <p:txBody>
          <a:bodyPr wrap="square" lIns="0" tIns="0" rIns="0" bIns="0" rtlCol="0" anchor="ctr"/>
          <a:lstStyle/>
          <a:p>
            <a:pPr marL="0" indent="0">
              <a:buNone/>
            </a:pPr>
            <a:r>
              <a:rPr lang="en-US" sz="920" dirty="0">
                <a:solidFill>
                  <a:srgbClr val="475569"/>
                </a:solidFill>
              </a:rPr>
              <a:t>Tracetest replays production OpenTelemetry traces as integration tests. Assertions target spans, not mocked responses — catches real distributed timing failures pre-deployment.</a:t>
            </a:r>
            <a:endParaRPr lang="en-US" sz="920" dirty="0"/>
          </a:p>
        </p:txBody>
      </p:sp>
      <p:sp>
        <p:nvSpPr>
          <p:cNvPr id="16" name="Shape 14"/>
          <p:cNvSpPr/>
          <p:nvPr/>
        </p:nvSpPr>
        <p:spPr>
          <a:xfrm>
            <a:off x="411480" y="3310128"/>
            <a:ext cx="8321040" cy="749808"/>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17" name="Shape 15"/>
          <p:cNvSpPr/>
          <p:nvPr/>
        </p:nvSpPr>
        <p:spPr>
          <a:xfrm>
            <a:off x="530352" y="3511296"/>
            <a:ext cx="329184" cy="329184"/>
          </a:xfrm>
          <a:prstGeom prst="rect">
            <a:avLst/>
          </a:prstGeom>
          <a:solidFill>
            <a:srgbClr val="1D4ED8">
              <a:alpha val="10000"/>
            </a:srgbClr>
          </a:solidFill>
          <a:ln w="6350">
            <a:solidFill>
              <a:srgbClr val="1D4ED8"/>
            </a:solidFill>
            <a:prstDash val="solid"/>
          </a:ln>
        </p:spPr>
        <p:txBody>
          <a:bodyPr/>
          <a:lstStyle/>
          <a:p>
            <a:endParaRPr lang="en-IN"/>
          </a:p>
        </p:txBody>
      </p:sp>
      <p:sp>
        <p:nvSpPr>
          <p:cNvPr id="18" name="Text 16"/>
          <p:cNvSpPr/>
          <p:nvPr/>
        </p:nvSpPr>
        <p:spPr>
          <a:xfrm>
            <a:off x="530352" y="3511296"/>
            <a:ext cx="329184" cy="329184"/>
          </a:xfrm>
          <a:prstGeom prst="rect">
            <a:avLst/>
          </a:prstGeom>
          <a:noFill/>
          <a:ln/>
        </p:spPr>
        <p:txBody>
          <a:bodyPr wrap="square" lIns="0" tIns="0" rIns="0" bIns="0" rtlCol="0" anchor="ctr"/>
          <a:lstStyle/>
          <a:p>
            <a:pPr marL="0" indent="0" algn="ctr">
              <a:buNone/>
            </a:pPr>
            <a:r>
              <a:rPr lang="en-US" sz="1200" b="1" dirty="0">
                <a:solidFill>
                  <a:srgbClr val="1D4ED8"/>
                </a:solidFill>
              </a:rPr>
              <a:t>03</a:t>
            </a:r>
            <a:endParaRPr lang="en-US" sz="1200" dirty="0"/>
          </a:p>
        </p:txBody>
      </p:sp>
      <p:sp>
        <p:nvSpPr>
          <p:cNvPr id="19" name="Text 17"/>
          <p:cNvSpPr/>
          <p:nvPr/>
        </p:nvSpPr>
        <p:spPr>
          <a:xfrm>
            <a:off x="987552" y="3438144"/>
            <a:ext cx="7589520" cy="237744"/>
          </a:xfrm>
          <a:prstGeom prst="rect">
            <a:avLst/>
          </a:prstGeom>
          <a:noFill/>
          <a:ln/>
        </p:spPr>
        <p:txBody>
          <a:bodyPr wrap="square" lIns="0" tIns="0" rIns="0" bIns="0" rtlCol="0" anchor="ctr"/>
          <a:lstStyle/>
          <a:p>
            <a:pPr marL="0" indent="0">
              <a:buNone/>
            </a:pPr>
            <a:r>
              <a:rPr lang="en-US" sz="1150" b="1" dirty="0">
                <a:solidFill>
                  <a:srgbClr val="0F172A"/>
                </a:solidFill>
              </a:rPr>
              <a:t>Production Traffic Mirroring</a:t>
            </a:r>
            <a:endParaRPr lang="en-US" sz="1150" dirty="0"/>
          </a:p>
        </p:txBody>
      </p:sp>
      <p:sp>
        <p:nvSpPr>
          <p:cNvPr id="20" name="Text 18"/>
          <p:cNvSpPr/>
          <p:nvPr/>
        </p:nvSpPr>
        <p:spPr>
          <a:xfrm>
            <a:off x="987552" y="3694176"/>
            <a:ext cx="7589520" cy="292608"/>
          </a:xfrm>
          <a:prstGeom prst="rect">
            <a:avLst/>
          </a:prstGeom>
          <a:noFill/>
          <a:ln/>
        </p:spPr>
        <p:txBody>
          <a:bodyPr wrap="square" lIns="0" tIns="0" rIns="0" bIns="0" rtlCol="0" anchor="ctr"/>
          <a:lstStyle/>
          <a:p>
            <a:pPr marL="0" indent="0">
              <a:buNone/>
            </a:pPr>
            <a:r>
              <a:rPr lang="en-US" sz="920" dirty="0">
                <a:solidFill>
                  <a:srgbClr val="475569"/>
                </a:solidFill>
              </a:rPr>
              <a:t>Shadowtraf (eBPF) mirrors 10% of live traffic to the new service stack in a dark environment. Real payloads, zero user impact — divergence reports generated every hour.</a:t>
            </a:r>
            <a:endParaRPr lang="en-US" sz="920" dirty="0"/>
          </a:p>
        </p:txBody>
      </p:sp>
      <p:sp>
        <p:nvSpPr>
          <p:cNvPr id="21" name="Shape 19"/>
          <p:cNvSpPr/>
          <p:nvPr/>
        </p:nvSpPr>
        <p:spPr>
          <a:xfrm>
            <a:off x="411480" y="4178808"/>
            <a:ext cx="8321040" cy="749808"/>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22" name="Shape 20"/>
          <p:cNvSpPr/>
          <p:nvPr/>
        </p:nvSpPr>
        <p:spPr>
          <a:xfrm>
            <a:off x="530352" y="4379976"/>
            <a:ext cx="329184" cy="329184"/>
          </a:xfrm>
          <a:prstGeom prst="rect">
            <a:avLst/>
          </a:prstGeom>
          <a:solidFill>
            <a:srgbClr val="1D4ED8">
              <a:alpha val="10000"/>
            </a:srgbClr>
          </a:solidFill>
          <a:ln w="6350">
            <a:solidFill>
              <a:srgbClr val="1D4ED8"/>
            </a:solidFill>
            <a:prstDash val="solid"/>
          </a:ln>
        </p:spPr>
        <p:txBody>
          <a:bodyPr/>
          <a:lstStyle/>
          <a:p>
            <a:endParaRPr lang="en-IN"/>
          </a:p>
        </p:txBody>
      </p:sp>
      <p:sp>
        <p:nvSpPr>
          <p:cNvPr id="23" name="Text 21"/>
          <p:cNvSpPr/>
          <p:nvPr/>
        </p:nvSpPr>
        <p:spPr>
          <a:xfrm>
            <a:off x="530352" y="4379976"/>
            <a:ext cx="329184" cy="329184"/>
          </a:xfrm>
          <a:prstGeom prst="rect">
            <a:avLst/>
          </a:prstGeom>
          <a:noFill/>
          <a:ln/>
        </p:spPr>
        <p:txBody>
          <a:bodyPr wrap="square" lIns="0" tIns="0" rIns="0" bIns="0" rtlCol="0" anchor="ctr"/>
          <a:lstStyle/>
          <a:p>
            <a:pPr marL="0" indent="0" algn="ctr">
              <a:buNone/>
            </a:pPr>
            <a:r>
              <a:rPr lang="en-US" sz="1200" b="1" dirty="0">
                <a:solidFill>
                  <a:srgbClr val="1D4ED8"/>
                </a:solidFill>
              </a:rPr>
              <a:t>04</a:t>
            </a:r>
            <a:endParaRPr lang="en-US" sz="1200" dirty="0"/>
          </a:p>
        </p:txBody>
      </p:sp>
      <p:sp>
        <p:nvSpPr>
          <p:cNvPr id="24" name="Text 22"/>
          <p:cNvSpPr/>
          <p:nvPr/>
        </p:nvSpPr>
        <p:spPr>
          <a:xfrm>
            <a:off x="987552" y="4306824"/>
            <a:ext cx="7589520" cy="237744"/>
          </a:xfrm>
          <a:prstGeom prst="rect">
            <a:avLst/>
          </a:prstGeom>
          <a:noFill/>
          <a:ln/>
        </p:spPr>
        <p:txBody>
          <a:bodyPr wrap="square" lIns="0" tIns="0" rIns="0" bIns="0" rtlCol="0" anchor="ctr"/>
          <a:lstStyle/>
          <a:p>
            <a:pPr marL="0" indent="0">
              <a:buNone/>
            </a:pPr>
            <a:r>
              <a:rPr lang="en-US" sz="1150" b="1" dirty="0">
                <a:solidFill>
                  <a:srgbClr val="0F172A"/>
                </a:solidFill>
              </a:rPr>
              <a:t>Continuous Schema Contracts</a:t>
            </a:r>
            <a:endParaRPr lang="en-US" sz="1150" dirty="0"/>
          </a:p>
        </p:txBody>
      </p:sp>
      <p:sp>
        <p:nvSpPr>
          <p:cNvPr id="25" name="Text 23"/>
          <p:cNvSpPr/>
          <p:nvPr/>
        </p:nvSpPr>
        <p:spPr>
          <a:xfrm>
            <a:off x="987552" y="4562856"/>
            <a:ext cx="7589520" cy="292608"/>
          </a:xfrm>
          <a:prstGeom prst="rect">
            <a:avLst/>
          </a:prstGeom>
          <a:noFill/>
          <a:ln/>
        </p:spPr>
        <p:txBody>
          <a:bodyPr wrap="square" lIns="0" tIns="0" rIns="0" bIns="0" rtlCol="0" anchor="ctr"/>
          <a:lstStyle/>
          <a:p>
            <a:pPr marL="0" indent="0">
              <a:buNone/>
            </a:pPr>
            <a:r>
              <a:rPr lang="en-US" sz="920" dirty="0">
                <a:solidFill>
                  <a:srgbClr val="475569"/>
                </a:solidFill>
              </a:rPr>
              <a:t>Protobuf / Avro schemas enforced via a Buf registry. Breaking changes blocked at CI. Consumer-driven contract tests via Pact run on every pull request before any service deploys.</a:t>
            </a:r>
            <a:endParaRPr lang="en-US" sz="9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11480" y="274320"/>
            <a:ext cx="8229600" cy="182880"/>
          </a:xfrm>
          <a:prstGeom prst="rect">
            <a:avLst/>
          </a:prstGeom>
          <a:noFill/>
          <a:ln/>
        </p:spPr>
        <p:txBody>
          <a:bodyPr wrap="square" lIns="0" tIns="0" rIns="0" bIns="0" rtlCol="0" anchor="ctr"/>
          <a:lstStyle/>
          <a:p>
            <a:pPr marL="0" indent="0">
              <a:buNone/>
            </a:pPr>
            <a:r>
              <a:rPr lang="en-US" sz="750" b="1" kern="0" spc="250" dirty="0">
                <a:solidFill>
                  <a:srgbClr val="94A3B8"/>
                </a:solidFill>
              </a:rPr>
              <a:t>CHAPTER 3 · TESTING &amp; ROLLOUT</a:t>
            </a:r>
            <a:endParaRPr lang="en-US" sz="750" dirty="0"/>
          </a:p>
        </p:txBody>
      </p:sp>
      <p:sp>
        <p:nvSpPr>
          <p:cNvPr id="3" name="Shape 1"/>
          <p:cNvSpPr/>
          <p:nvPr/>
        </p:nvSpPr>
        <p:spPr>
          <a:xfrm>
            <a:off x="411480" y="493776"/>
            <a:ext cx="8321040" cy="25603"/>
          </a:xfrm>
          <a:prstGeom prst="rect">
            <a:avLst/>
          </a:prstGeom>
          <a:solidFill>
            <a:srgbClr val="E2E8F0"/>
          </a:solidFill>
          <a:ln w="12700">
            <a:solidFill>
              <a:srgbClr val="E2E8F0"/>
            </a:solidFill>
            <a:prstDash val="solid"/>
          </a:ln>
        </p:spPr>
        <p:txBody>
          <a:bodyPr/>
          <a:lstStyle/>
          <a:p>
            <a:endParaRPr lang="en-IN"/>
          </a:p>
        </p:txBody>
      </p:sp>
      <p:sp>
        <p:nvSpPr>
          <p:cNvPr id="4" name="Text 2"/>
          <p:cNvSpPr/>
          <p:nvPr/>
        </p:nvSpPr>
        <p:spPr>
          <a:xfrm>
            <a:off x="411480" y="621792"/>
            <a:ext cx="8321040" cy="566928"/>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SLO-Gated Progressive Delivery</a:t>
            </a:r>
            <a:endParaRPr lang="en-US" sz="2600" dirty="0"/>
          </a:p>
        </p:txBody>
      </p:sp>
      <p:sp>
        <p:nvSpPr>
          <p:cNvPr id="5" name="Text 3"/>
          <p:cNvSpPr/>
          <p:nvPr/>
        </p:nvSpPr>
        <p:spPr>
          <a:xfrm>
            <a:off x="411480" y="1225296"/>
            <a:ext cx="6858000" cy="256032"/>
          </a:xfrm>
          <a:prstGeom prst="rect">
            <a:avLst/>
          </a:prstGeom>
          <a:noFill/>
          <a:ln/>
        </p:spPr>
        <p:txBody>
          <a:bodyPr wrap="square" lIns="0" tIns="0" rIns="0" bIns="0" rtlCol="0" anchor="ctr"/>
          <a:lstStyle/>
          <a:p>
            <a:pPr marL="0" indent="0">
              <a:buNone/>
            </a:pPr>
            <a:r>
              <a:rPr lang="en-US" sz="1100" dirty="0">
                <a:solidFill>
                  <a:srgbClr val="475569"/>
                </a:solidFill>
              </a:rPr>
              <a:t>Automated promotion and rollback driven by service-level objectives — no manual gates</a:t>
            </a:r>
            <a:endParaRPr lang="en-US" sz="1100" dirty="0"/>
          </a:p>
        </p:txBody>
      </p:sp>
      <p:sp>
        <p:nvSpPr>
          <p:cNvPr id="6" name="Shape 4"/>
          <p:cNvSpPr/>
          <p:nvPr/>
        </p:nvSpPr>
        <p:spPr>
          <a:xfrm>
            <a:off x="411480" y="1572768"/>
            <a:ext cx="6583680" cy="100584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7" name="Shape 5"/>
          <p:cNvSpPr/>
          <p:nvPr/>
        </p:nvSpPr>
        <p:spPr>
          <a:xfrm>
            <a:off x="411480" y="1572768"/>
            <a:ext cx="27432" cy="1005840"/>
          </a:xfrm>
          <a:prstGeom prst="rect">
            <a:avLst/>
          </a:prstGeom>
          <a:solidFill>
            <a:srgbClr val="1D4ED8"/>
          </a:solidFill>
          <a:ln w="12700">
            <a:solidFill>
              <a:srgbClr val="1D4ED8"/>
            </a:solidFill>
            <a:prstDash val="solid"/>
          </a:ln>
        </p:spPr>
        <p:txBody>
          <a:bodyPr/>
          <a:lstStyle/>
          <a:p>
            <a:endParaRPr lang="en-IN"/>
          </a:p>
        </p:txBody>
      </p:sp>
      <p:sp>
        <p:nvSpPr>
          <p:cNvPr id="8" name="Shape 6"/>
          <p:cNvSpPr/>
          <p:nvPr/>
        </p:nvSpPr>
        <p:spPr>
          <a:xfrm>
            <a:off x="548640" y="1664208"/>
            <a:ext cx="329184" cy="329184"/>
          </a:xfrm>
          <a:prstGeom prst="rect">
            <a:avLst/>
          </a:prstGeom>
          <a:solidFill>
            <a:srgbClr val="1D4ED8">
              <a:alpha val="10000"/>
            </a:srgbClr>
          </a:solidFill>
          <a:ln w="6350">
            <a:solidFill>
              <a:srgbClr val="1D4ED8"/>
            </a:solidFill>
            <a:prstDash val="solid"/>
          </a:ln>
        </p:spPr>
        <p:txBody>
          <a:bodyPr/>
          <a:lstStyle/>
          <a:p>
            <a:endParaRPr lang="en-IN"/>
          </a:p>
        </p:txBody>
      </p:sp>
      <p:sp>
        <p:nvSpPr>
          <p:cNvPr id="9" name="Text 7"/>
          <p:cNvSpPr/>
          <p:nvPr/>
        </p:nvSpPr>
        <p:spPr>
          <a:xfrm>
            <a:off x="548640" y="1664208"/>
            <a:ext cx="329184" cy="329184"/>
          </a:xfrm>
          <a:prstGeom prst="rect">
            <a:avLst/>
          </a:prstGeom>
          <a:noFill/>
          <a:ln/>
        </p:spPr>
        <p:txBody>
          <a:bodyPr wrap="square" lIns="0" tIns="0" rIns="0" bIns="0" rtlCol="0" anchor="ctr"/>
          <a:lstStyle/>
          <a:p>
            <a:pPr marL="0" indent="0" algn="ctr">
              <a:buNone/>
            </a:pPr>
            <a:r>
              <a:rPr lang="en-US" sz="1200" b="1" dirty="0">
                <a:solidFill>
                  <a:srgbClr val="1D4ED8"/>
                </a:solidFill>
              </a:rPr>
              <a:t>1</a:t>
            </a:r>
            <a:endParaRPr lang="en-US" sz="1200" dirty="0"/>
          </a:p>
        </p:txBody>
      </p:sp>
      <p:sp>
        <p:nvSpPr>
          <p:cNvPr id="10" name="Text 8"/>
          <p:cNvSpPr/>
          <p:nvPr/>
        </p:nvSpPr>
        <p:spPr>
          <a:xfrm>
            <a:off x="1005840" y="1627632"/>
            <a:ext cx="5852160" cy="237744"/>
          </a:xfrm>
          <a:prstGeom prst="rect">
            <a:avLst/>
          </a:prstGeom>
          <a:noFill/>
          <a:ln/>
        </p:spPr>
        <p:txBody>
          <a:bodyPr wrap="square" lIns="0" tIns="0" rIns="0" bIns="0" rtlCol="0" anchor="ctr"/>
          <a:lstStyle/>
          <a:p>
            <a:pPr marL="0" indent="0">
              <a:buNone/>
            </a:pPr>
            <a:r>
              <a:rPr lang="en-US" sz="1200" b="1" dirty="0">
                <a:solidFill>
                  <a:srgbClr val="0F172A"/>
                </a:solidFill>
              </a:rPr>
              <a:t>Dark Launch</a:t>
            </a:r>
            <a:endParaRPr lang="en-US" sz="1200" dirty="0"/>
          </a:p>
        </p:txBody>
      </p:sp>
      <p:sp>
        <p:nvSpPr>
          <p:cNvPr id="11" name="Text 9"/>
          <p:cNvSpPr/>
          <p:nvPr/>
        </p:nvSpPr>
        <p:spPr>
          <a:xfrm>
            <a:off x="1005840" y="1883664"/>
            <a:ext cx="5852160" cy="457200"/>
          </a:xfrm>
          <a:prstGeom prst="rect">
            <a:avLst/>
          </a:prstGeom>
          <a:noFill/>
          <a:ln/>
        </p:spPr>
        <p:txBody>
          <a:bodyPr wrap="square" lIns="0" tIns="0" rIns="0" bIns="0" rtlCol="0" anchor="ctr"/>
          <a:lstStyle/>
          <a:p>
            <a:pPr marL="0" indent="0">
              <a:lnSpc>
                <a:spcPct val="140000"/>
              </a:lnSpc>
              <a:buNone/>
            </a:pPr>
            <a:r>
              <a:rPr lang="en-US" sz="920" dirty="0">
                <a:solidFill>
                  <a:srgbClr val="475569"/>
                </a:solidFill>
              </a:rPr>
              <a:t>New service deployed to production but receives zero routed traffic. Smoke tests, dependency checks, and readiness probes must all pass for 30 minutes before any traffic is shifted. Canary weight starts at 0%.</a:t>
            </a:r>
            <a:endParaRPr lang="en-US" sz="920" dirty="0"/>
          </a:p>
        </p:txBody>
      </p:sp>
      <p:sp>
        <p:nvSpPr>
          <p:cNvPr id="12" name="Shape 10"/>
          <p:cNvSpPr/>
          <p:nvPr/>
        </p:nvSpPr>
        <p:spPr>
          <a:xfrm>
            <a:off x="411480" y="2724912"/>
            <a:ext cx="6583680" cy="100584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13" name="Shape 11"/>
          <p:cNvSpPr/>
          <p:nvPr/>
        </p:nvSpPr>
        <p:spPr>
          <a:xfrm>
            <a:off x="411480" y="2724912"/>
            <a:ext cx="27432" cy="1005840"/>
          </a:xfrm>
          <a:prstGeom prst="rect">
            <a:avLst/>
          </a:prstGeom>
          <a:solidFill>
            <a:srgbClr val="1D4ED8"/>
          </a:solidFill>
          <a:ln w="12700">
            <a:solidFill>
              <a:srgbClr val="1D4ED8"/>
            </a:solidFill>
            <a:prstDash val="solid"/>
          </a:ln>
        </p:spPr>
        <p:txBody>
          <a:bodyPr/>
          <a:lstStyle/>
          <a:p>
            <a:endParaRPr lang="en-IN"/>
          </a:p>
        </p:txBody>
      </p:sp>
      <p:sp>
        <p:nvSpPr>
          <p:cNvPr id="14" name="Shape 12"/>
          <p:cNvSpPr/>
          <p:nvPr/>
        </p:nvSpPr>
        <p:spPr>
          <a:xfrm>
            <a:off x="548640" y="2816352"/>
            <a:ext cx="329184" cy="329184"/>
          </a:xfrm>
          <a:prstGeom prst="rect">
            <a:avLst/>
          </a:prstGeom>
          <a:solidFill>
            <a:srgbClr val="1D4ED8">
              <a:alpha val="10000"/>
            </a:srgbClr>
          </a:solidFill>
          <a:ln w="6350">
            <a:solidFill>
              <a:srgbClr val="1D4ED8"/>
            </a:solidFill>
            <a:prstDash val="solid"/>
          </a:ln>
        </p:spPr>
        <p:txBody>
          <a:bodyPr/>
          <a:lstStyle/>
          <a:p>
            <a:endParaRPr lang="en-IN"/>
          </a:p>
        </p:txBody>
      </p:sp>
      <p:sp>
        <p:nvSpPr>
          <p:cNvPr id="15" name="Text 13"/>
          <p:cNvSpPr/>
          <p:nvPr/>
        </p:nvSpPr>
        <p:spPr>
          <a:xfrm>
            <a:off x="548640" y="2816352"/>
            <a:ext cx="329184" cy="329184"/>
          </a:xfrm>
          <a:prstGeom prst="rect">
            <a:avLst/>
          </a:prstGeom>
          <a:noFill/>
          <a:ln/>
        </p:spPr>
        <p:txBody>
          <a:bodyPr wrap="square" lIns="0" tIns="0" rIns="0" bIns="0" rtlCol="0" anchor="ctr"/>
          <a:lstStyle/>
          <a:p>
            <a:pPr marL="0" indent="0" algn="ctr">
              <a:buNone/>
            </a:pPr>
            <a:r>
              <a:rPr lang="en-US" sz="1200" b="1" dirty="0">
                <a:solidFill>
                  <a:srgbClr val="1D4ED8"/>
                </a:solidFill>
              </a:rPr>
              <a:t>2</a:t>
            </a:r>
            <a:endParaRPr lang="en-US" sz="1200" dirty="0"/>
          </a:p>
        </p:txBody>
      </p:sp>
      <p:sp>
        <p:nvSpPr>
          <p:cNvPr id="16" name="Text 14"/>
          <p:cNvSpPr/>
          <p:nvPr/>
        </p:nvSpPr>
        <p:spPr>
          <a:xfrm>
            <a:off x="1005840" y="2779776"/>
            <a:ext cx="5852160" cy="237744"/>
          </a:xfrm>
          <a:prstGeom prst="rect">
            <a:avLst/>
          </a:prstGeom>
          <a:noFill/>
          <a:ln/>
        </p:spPr>
        <p:txBody>
          <a:bodyPr wrap="square" lIns="0" tIns="0" rIns="0" bIns="0" rtlCol="0" anchor="ctr"/>
          <a:lstStyle/>
          <a:p>
            <a:pPr marL="0" indent="0">
              <a:buNone/>
            </a:pPr>
            <a:r>
              <a:rPr lang="en-US" sz="1200" b="1" dirty="0">
                <a:solidFill>
                  <a:srgbClr val="0F172A"/>
                </a:solidFill>
              </a:rPr>
              <a:t>SLO-Gated Canary</a:t>
            </a:r>
            <a:endParaRPr lang="en-US" sz="1200" dirty="0"/>
          </a:p>
        </p:txBody>
      </p:sp>
      <p:sp>
        <p:nvSpPr>
          <p:cNvPr id="17" name="Text 15"/>
          <p:cNvSpPr/>
          <p:nvPr/>
        </p:nvSpPr>
        <p:spPr>
          <a:xfrm>
            <a:off x="1005840" y="3035808"/>
            <a:ext cx="5852160" cy="457200"/>
          </a:xfrm>
          <a:prstGeom prst="rect">
            <a:avLst/>
          </a:prstGeom>
          <a:noFill/>
          <a:ln/>
        </p:spPr>
        <p:txBody>
          <a:bodyPr wrap="square" lIns="0" tIns="0" rIns="0" bIns="0" rtlCol="0" anchor="ctr"/>
          <a:lstStyle/>
          <a:p>
            <a:pPr marL="0" indent="0">
              <a:lnSpc>
                <a:spcPct val="140000"/>
              </a:lnSpc>
              <a:buNone/>
            </a:pPr>
            <a:r>
              <a:rPr lang="en-US" sz="920" dirty="0">
                <a:solidFill>
                  <a:srgbClr val="475569"/>
                </a:solidFill>
              </a:rPr>
              <a:t>Argo Rollouts increments traffic 2% → 10% → 30% → 60% automatically. Each step promotes only if error rate &lt;0.5%, p99 latency within 120% of baseline, and Apdex ≥0.95 for 20 consecutive minutes.</a:t>
            </a:r>
            <a:endParaRPr lang="en-US" sz="920" dirty="0"/>
          </a:p>
        </p:txBody>
      </p:sp>
      <p:sp>
        <p:nvSpPr>
          <p:cNvPr id="18" name="Shape 16"/>
          <p:cNvSpPr/>
          <p:nvPr/>
        </p:nvSpPr>
        <p:spPr>
          <a:xfrm>
            <a:off x="411480" y="3877056"/>
            <a:ext cx="6583680" cy="100584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19" name="Shape 17"/>
          <p:cNvSpPr/>
          <p:nvPr/>
        </p:nvSpPr>
        <p:spPr>
          <a:xfrm>
            <a:off x="411480" y="3877056"/>
            <a:ext cx="27432" cy="1005840"/>
          </a:xfrm>
          <a:prstGeom prst="rect">
            <a:avLst/>
          </a:prstGeom>
          <a:solidFill>
            <a:srgbClr val="1D4ED8"/>
          </a:solidFill>
          <a:ln w="12700">
            <a:solidFill>
              <a:srgbClr val="1D4ED8"/>
            </a:solidFill>
            <a:prstDash val="solid"/>
          </a:ln>
        </p:spPr>
        <p:txBody>
          <a:bodyPr/>
          <a:lstStyle/>
          <a:p>
            <a:endParaRPr lang="en-IN"/>
          </a:p>
        </p:txBody>
      </p:sp>
      <p:sp>
        <p:nvSpPr>
          <p:cNvPr id="20" name="Shape 18"/>
          <p:cNvSpPr/>
          <p:nvPr/>
        </p:nvSpPr>
        <p:spPr>
          <a:xfrm>
            <a:off x="548640" y="3968496"/>
            <a:ext cx="329184" cy="329184"/>
          </a:xfrm>
          <a:prstGeom prst="rect">
            <a:avLst/>
          </a:prstGeom>
          <a:solidFill>
            <a:srgbClr val="1D4ED8">
              <a:alpha val="10000"/>
            </a:srgbClr>
          </a:solidFill>
          <a:ln w="6350">
            <a:solidFill>
              <a:srgbClr val="1D4ED8"/>
            </a:solidFill>
            <a:prstDash val="solid"/>
          </a:ln>
        </p:spPr>
        <p:txBody>
          <a:bodyPr/>
          <a:lstStyle/>
          <a:p>
            <a:endParaRPr lang="en-IN"/>
          </a:p>
        </p:txBody>
      </p:sp>
      <p:sp>
        <p:nvSpPr>
          <p:cNvPr id="21" name="Text 19"/>
          <p:cNvSpPr/>
          <p:nvPr/>
        </p:nvSpPr>
        <p:spPr>
          <a:xfrm>
            <a:off x="548640" y="3968496"/>
            <a:ext cx="329184" cy="329184"/>
          </a:xfrm>
          <a:prstGeom prst="rect">
            <a:avLst/>
          </a:prstGeom>
          <a:noFill/>
          <a:ln/>
        </p:spPr>
        <p:txBody>
          <a:bodyPr wrap="square" lIns="0" tIns="0" rIns="0" bIns="0" rtlCol="0" anchor="ctr"/>
          <a:lstStyle/>
          <a:p>
            <a:pPr marL="0" indent="0" algn="ctr">
              <a:buNone/>
            </a:pPr>
            <a:r>
              <a:rPr lang="en-US" sz="1200" b="1" dirty="0">
                <a:solidFill>
                  <a:srgbClr val="1D4ED8"/>
                </a:solidFill>
              </a:rPr>
              <a:t>3</a:t>
            </a:r>
            <a:endParaRPr lang="en-US" sz="1200" dirty="0"/>
          </a:p>
        </p:txBody>
      </p:sp>
      <p:sp>
        <p:nvSpPr>
          <p:cNvPr id="22" name="Text 20"/>
          <p:cNvSpPr/>
          <p:nvPr/>
        </p:nvSpPr>
        <p:spPr>
          <a:xfrm>
            <a:off x="1005840" y="3931920"/>
            <a:ext cx="5852160" cy="237744"/>
          </a:xfrm>
          <a:prstGeom prst="rect">
            <a:avLst/>
          </a:prstGeom>
          <a:noFill/>
          <a:ln/>
        </p:spPr>
        <p:txBody>
          <a:bodyPr wrap="square" lIns="0" tIns="0" rIns="0" bIns="0" rtlCol="0" anchor="ctr"/>
          <a:lstStyle/>
          <a:p>
            <a:pPr marL="0" indent="0">
              <a:buNone/>
            </a:pPr>
            <a:r>
              <a:rPr lang="en-US" sz="1200" b="1" dirty="0">
                <a:solidFill>
                  <a:srgbClr val="0F172A"/>
                </a:solidFill>
              </a:rPr>
              <a:t>Automated Full Promotion</a:t>
            </a:r>
            <a:endParaRPr lang="en-US" sz="1200" dirty="0"/>
          </a:p>
        </p:txBody>
      </p:sp>
      <p:sp>
        <p:nvSpPr>
          <p:cNvPr id="23" name="Text 21"/>
          <p:cNvSpPr/>
          <p:nvPr/>
        </p:nvSpPr>
        <p:spPr>
          <a:xfrm>
            <a:off x="1005840" y="4187952"/>
            <a:ext cx="5852160" cy="457200"/>
          </a:xfrm>
          <a:prstGeom prst="rect">
            <a:avLst/>
          </a:prstGeom>
          <a:noFill/>
          <a:ln/>
        </p:spPr>
        <p:txBody>
          <a:bodyPr wrap="square" lIns="0" tIns="0" rIns="0" bIns="0" rtlCol="0" anchor="ctr"/>
          <a:lstStyle/>
          <a:p>
            <a:pPr marL="0" indent="0">
              <a:lnSpc>
                <a:spcPct val="140000"/>
              </a:lnSpc>
              <a:buNone/>
            </a:pPr>
            <a:r>
              <a:rPr lang="en-US" sz="920" dirty="0">
                <a:solidFill>
                  <a:srgbClr val="475569"/>
                </a:solidFill>
              </a:rPr>
              <a:t>At 100% traffic, Argo Rollouts severs the stable revision after a final 60-minute bake period. No human sign-off required. Any SLO breach during the bake triggers full rollback to stable in under 90 seconds.</a:t>
            </a:r>
            <a:endParaRPr lang="en-US" sz="920" dirty="0"/>
          </a:p>
        </p:txBody>
      </p:sp>
      <p:sp>
        <p:nvSpPr>
          <p:cNvPr id="24" name="Shape 22"/>
          <p:cNvSpPr/>
          <p:nvPr/>
        </p:nvSpPr>
        <p:spPr>
          <a:xfrm>
            <a:off x="7132320" y="1572768"/>
            <a:ext cx="1600200" cy="3456432"/>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25" name="Shape 23"/>
          <p:cNvSpPr/>
          <p:nvPr/>
        </p:nvSpPr>
        <p:spPr>
          <a:xfrm>
            <a:off x="7132320" y="1572768"/>
            <a:ext cx="1600200" cy="27432"/>
          </a:xfrm>
          <a:prstGeom prst="rect">
            <a:avLst/>
          </a:prstGeom>
          <a:solidFill>
            <a:srgbClr val="0F172A"/>
          </a:solidFill>
          <a:ln w="12700">
            <a:solidFill>
              <a:srgbClr val="0F172A"/>
            </a:solidFill>
            <a:prstDash val="solid"/>
          </a:ln>
        </p:spPr>
        <p:txBody>
          <a:bodyPr/>
          <a:lstStyle/>
          <a:p>
            <a:endParaRPr lang="en-IN"/>
          </a:p>
        </p:txBody>
      </p:sp>
      <p:sp>
        <p:nvSpPr>
          <p:cNvPr id="26" name="Text 24"/>
          <p:cNvSpPr/>
          <p:nvPr/>
        </p:nvSpPr>
        <p:spPr>
          <a:xfrm>
            <a:off x="7269480" y="1664208"/>
            <a:ext cx="1335024" cy="256032"/>
          </a:xfrm>
          <a:prstGeom prst="rect">
            <a:avLst/>
          </a:prstGeom>
          <a:noFill/>
          <a:ln/>
        </p:spPr>
        <p:txBody>
          <a:bodyPr wrap="square" lIns="0" tIns="0" rIns="0" bIns="0" rtlCol="0" anchor="ctr"/>
          <a:lstStyle/>
          <a:p>
            <a:pPr marL="0" indent="0">
              <a:buNone/>
            </a:pPr>
            <a:r>
              <a:rPr lang="en-US" sz="750" b="1" kern="0" spc="100" dirty="0">
                <a:solidFill>
                  <a:srgbClr val="0F172A"/>
                </a:solidFill>
              </a:rPr>
              <a:t>AUTO-ROLLBACK TRIGGERS</a:t>
            </a:r>
            <a:endParaRPr lang="en-US" sz="750" dirty="0"/>
          </a:p>
        </p:txBody>
      </p:sp>
      <p:sp>
        <p:nvSpPr>
          <p:cNvPr id="27" name="Shape 25"/>
          <p:cNvSpPr/>
          <p:nvPr/>
        </p:nvSpPr>
        <p:spPr>
          <a:xfrm>
            <a:off x="7269480" y="1965960"/>
            <a:ext cx="1316736" cy="25603"/>
          </a:xfrm>
          <a:prstGeom prst="rect">
            <a:avLst/>
          </a:prstGeom>
          <a:solidFill>
            <a:srgbClr val="E2E8F0"/>
          </a:solidFill>
          <a:ln w="12700">
            <a:solidFill>
              <a:srgbClr val="E2E8F0"/>
            </a:solidFill>
            <a:prstDash val="solid"/>
          </a:ln>
        </p:spPr>
        <p:txBody>
          <a:bodyPr/>
          <a:lstStyle/>
          <a:p>
            <a:endParaRPr lang="en-IN"/>
          </a:p>
        </p:txBody>
      </p:sp>
      <p:sp>
        <p:nvSpPr>
          <p:cNvPr id="28" name="Text 26"/>
          <p:cNvSpPr/>
          <p:nvPr/>
        </p:nvSpPr>
        <p:spPr>
          <a:xfrm>
            <a:off x="7269480" y="2084832"/>
            <a:ext cx="1335024" cy="219456"/>
          </a:xfrm>
          <a:prstGeom prst="rect">
            <a:avLst/>
          </a:prstGeom>
          <a:noFill/>
          <a:ln/>
        </p:spPr>
        <p:txBody>
          <a:bodyPr wrap="square" lIns="0" tIns="0" rIns="0" bIns="0" rtlCol="0" anchor="ctr"/>
          <a:lstStyle/>
          <a:p>
            <a:pPr marL="0" indent="0">
              <a:buNone/>
            </a:pPr>
            <a:r>
              <a:rPr lang="en-US" sz="950" b="1" dirty="0">
                <a:solidFill>
                  <a:srgbClr val="0F172A"/>
                </a:solidFill>
              </a:rPr>
              <a:t>SLO Breach</a:t>
            </a:r>
            <a:endParaRPr lang="en-US" sz="950" dirty="0"/>
          </a:p>
        </p:txBody>
      </p:sp>
      <p:sp>
        <p:nvSpPr>
          <p:cNvPr id="29" name="Text 27"/>
          <p:cNvSpPr/>
          <p:nvPr/>
        </p:nvSpPr>
        <p:spPr>
          <a:xfrm>
            <a:off x="7269480" y="2313432"/>
            <a:ext cx="1335024" cy="292608"/>
          </a:xfrm>
          <a:prstGeom prst="rect">
            <a:avLst/>
          </a:prstGeom>
          <a:noFill/>
          <a:ln/>
        </p:spPr>
        <p:txBody>
          <a:bodyPr wrap="square" lIns="0" tIns="0" rIns="0" bIns="0" rtlCol="0" anchor="ctr"/>
          <a:lstStyle/>
          <a:p>
            <a:pPr marL="0" indent="0">
              <a:lnSpc>
                <a:spcPct val="140000"/>
              </a:lnSpc>
              <a:buNone/>
            </a:pPr>
            <a:r>
              <a:rPr lang="en-US" sz="850" dirty="0">
                <a:solidFill>
                  <a:srgbClr val="475569"/>
                </a:solidFill>
              </a:rPr>
              <a:t>Error rate &gt;0.5% for 5 min</a:t>
            </a:r>
            <a:endParaRPr lang="en-US" sz="850" dirty="0"/>
          </a:p>
        </p:txBody>
      </p:sp>
      <p:sp>
        <p:nvSpPr>
          <p:cNvPr id="30" name="Shape 28"/>
          <p:cNvSpPr/>
          <p:nvPr/>
        </p:nvSpPr>
        <p:spPr>
          <a:xfrm>
            <a:off x="7269480" y="2651760"/>
            <a:ext cx="1316736" cy="25603"/>
          </a:xfrm>
          <a:prstGeom prst="rect">
            <a:avLst/>
          </a:prstGeom>
          <a:solidFill>
            <a:srgbClr val="E2E8F0"/>
          </a:solidFill>
          <a:ln w="12700">
            <a:solidFill>
              <a:srgbClr val="E2E8F0"/>
            </a:solidFill>
            <a:prstDash val="solid"/>
          </a:ln>
        </p:spPr>
        <p:txBody>
          <a:bodyPr/>
          <a:lstStyle/>
          <a:p>
            <a:endParaRPr lang="en-IN"/>
          </a:p>
        </p:txBody>
      </p:sp>
      <p:sp>
        <p:nvSpPr>
          <p:cNvPr id="31" name="Text 29"/>
          <p:cNvSpPr/>
          <p:nvPr/>
        </p:nvSpPr>
        <p:spPr>
          <a:xfrm>
            <a:off x="7269480" y="3035808"/>
            <a:ext cx="1335024" cy="219456"/>
          </a:xfrm>
          <a:prstGeom prst="rect">
            <a:avLst/>
          </a:prstGeom>
          <a:noFill/>
          <a:ln/>
        </p:spPr>
        <p:txBody>
          <a:bodyPr wrap="square" lIns="0" tIns="0" rIns="0" bIns="0" rtlCol="0" anchor="ctr"/>
          <a:lstStyle/>
          <a:p>
            <a:pPr marL="0" indent="0">
              <a:buNone/>
            </a:pPr>
            <a:r>
              <a:rPr lang="en-US" sz="950" b="1" dirty="0">
                <a:solidFill>
                  <a:srgbClr val="0F172A"/>
                </a:solidFill>
              </a:rPr>
              <a:t>Latency Spike</a:t>
            </a:r>
            <a:endParaRPr lang="en-US" sz="950" dirty="0"/>
          </a:p>
        </p:txBody>
      </p:sp>
      <p:sp>
        <p:nvSpPr>
          <p:cNvPr id="32" name="Text 30"/>
          <p:cNvSpPr/>
          <p:nvPr/>
        </p:nvSpPr>
        <p:spPr>
          <a:xfrm>
            <a:off x="7269480" y="3264408"/>
            <a:ext cx="1335024" cy="292608"/>
          </a:xfrm>
          <a:prstGeom prst="rect">
            <a:avLst/>
          </a:prstGeom>
          <a:noFill/>
          <a:ln/>
        </p:spPr>
        <p:txBody>
          <a:bodyPr wrap="square" lIns="0" tIns="0" rIns="0" bIns="0" rtlCol="0" anchor="ctr"/>
          <a:lstStyle/>
          <a:p>
            <a:pPr marL="0" indent="0">
              <a:lnSpc>
                <a:spcPct val="140000"/>
              </a:lnSpc>
              <a:buNone/>
            </a:pPr>
            <a:r>
              <a:rPr lang="en-US" sz="850" dirty="0">
                <a:solidFill>
                  <a:srgbClr val="475569"/>
                </a:solidFill>
              </a:rPr>
              <a:t>p99 &gt;120% of baseline for 3 min</a:t>
            </a:r>
            <a:endParaRPr lang="en-US" sz="850" dirty="0"/>
          </a:p>
        </p:txBody>
      </p:sp>
      <p:sp>
        <p:nvSpPr>
          <p:cNvPr id="33" name="Shape 31"/>
          <p:cNvSpPr/>
          <p:nvPr/>
        </p:nvSpPr>
        <p:spPr>
          <a:xfrm>
            <a:off x="7269480" y="3602736"/>
            <a:ext cx="1316736" cy="25603"/>
          </a:xfrm>
          <a:prstGeom prst="rect">
            <a:avLst/>
          </a:prstGeom>
          <a:solidFill>
            <a:srgbClr val="E2E8F0"/>
          </a:solidFill>
          <a:ln w="12700">
            <a:solidFill>
              <a:srgbClr val="E2E8F0"/>
            </a:solidFill>
            <a:prstDash val="solid"/>
          </a:ln>
        </p:spPr>
        <p:txBody>
          <a:bodyPr/>
          <a:lstStyle/>
          <a:p>
            <a:endParaRPr lang="en-IN"/>
          </a:p>
        </p:txBody>
      </p:sp>
      <p:sp>
        <p:nvSpPr>
          <p:cNvPr id="34" name="Text 32"/>
          <p:cNvSpPr/>
          <p:nvPr/>
        </p:nvSpPr>
        <p:spPr>
          <a:xfrm>
            <a:off x="7269480" y="3986784"/>
            <a:ext cx="1335024" cy="219456"/>
          </a:xfrm>
          <a:prstGeom prst="rect">
            <a:avLst/>
          </a:prstGeom>
          <a:noFill/>
          <a:ln/>
        </p:spPr>
        <p:txBody>
          <a:bodyPr wrap="square" lIns="0" tIns="0" rIns="0" bIns="0" rtlCol="0" anchor="ctr"/>
          <a:lstStyle/>
          <a:p>
            <a:pPr marL="0" indent="0">
              <a:buNone/>
            </a:pPr>
            <a:r>
              <a:rPr lang="en-US" sz="950" b="1" dirty="0">
                <a:solidFill>
                  <a:srgbClr val="0F172A"/>
                </a:solidFill>
              </a:rPr>
              <a:t>Crash Loop</a:t>
            </a:r>
            <a:endParaRPr lang="en-US" sz="950" dirty="0"/>
          </a:p>
        </p:txBody>
      </p:sp>
      <p:sp>
        <p:nvSpPr>
          <p:cNvPr id="35" name="Text 33"/>
          <p:cNvSpPr/>
          <p:nvPr/>
        </p:nvSpPr>
        <p:spPr>
          <a:xfrm>
            <a:off x="7269480" y="4215384"/>
            <a:ext cx="1335024" cy="292608"/>
          </a:xfrm>
          <a:prstGeom prst="rect">
            <a:avLst/>
          </a:prstGeom>
          <a:noFill/>
          <a:ln/>
        </p:spPr>
        <p:txBody>
          <a:bodyPr wrap="square" lIns="0" tIns="0" rIns="0" bIns="0" rtlCol="0" anchor="ctr"/>
          <a:lstStyle/>
          <a:p>
            <a:pPr marL="0" indent="0">
              <a:lnSpc>
                <a:spcPct val="140000"/>
              </a:lnSpc>
              <a:buNone/>
            </a:pPr>
            <a:r>
              <a:rPr lang="en-US" sz="850" dirty="0">
                <a:solidFill>
                  <a:srgbClr val="475569"/>
                </a:solidFill>
              </a:rPr>
              <a:t>Pod restarts &gt;3 in rolling window</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11480" y="274320"/>
            <a:ext cx="8229600" cy="182880"/>
          </a:xfrm>
          <a:prstGeom prst="rect">
            <a:avLst/>
          </a:prstGeom>
          <a:noFill/>
          <a:ln/>
        </p:spPr>
        <p:txBody>
          <a:bodyPr wrap="square" lIns="0" tIns="0" rIns="0" bIns="0" rtlCol="0" anchor="ctr"/>
          <a:lstStyle/>
          <a:p>
            <a:pPr marL="0" indent="0">
              <a:buNone/>
            </a:pPr>
            <a:r>
              <a:rPr lang="en-US" sz="750" b="1" kern="0" spc="250" dirty="0">
                <a:solidFill>
                  <a:srgbClr val="94A3B8"/>
                </a:solidFill>
              </a:rPr>
              <a:t>CHAPTER 4 · TEAM &amp; EXECUTION</a:t>
            </a:r>
            <a:endParaRPr lang="en-US" sz="750" dirty="0"/>
          </a:p>
        </p:txBody>
      </p:sp>
      <p:sp>
        <p:nvSpPr>
          <p:cNvPr id="3" name="Shape 1"/>
          <p:cNvSpPr/>
          <p:nvPr/>
        </p:nvSpPr>
        <p:spPr>
          <a:xfrm>
            <a:off x="411480" y="493776"/>
            <a:ext cx="8321040" cy="25603"/>
          </a:xfrm>
          <a:prstGeom prst="rect">
            <a:avLst/>
          </a:prstGeom>
          <a:solidFill>
            <a:srgbClr val="E2E8F0"/>
          </a:solidFill>
          <a:ln w="12700">
            <a:solidFill>
              <a:srgbClr val="E2E8F0"/>
            </a:solidFill>
            <a:prstDash val="solid"/>
          </a:ln>
        </p:spPr>
        <p:txBody>
          <a:bodyPr/>
          <a:lstStyle/>
          <a:p>
            <a:endParaRPr lang="en-IN"/>
          </a:p>
        </p:txBody>
      </p:sp>
      <p:sp>
        <p:nvSpPr>
          <p:cNvPr id="4" name="Text 2"/>
          <p:cNvSpPr/>
          <p:nvPr/>
        </p:nvSpPr>
        <p:spPr>
          <a:xfrm>
            <a:off x="411480" y="621792"/>
            <a:ext cx="8321040" cy="566928"/>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Team Topology: Platform &amp; Stream Model</a:t>
            </a:r>
            <a:endParaRPr lang="en-US" sz="2600" dirty="0"/>
          </a:p>
        </p:txBody>
      </p:sp>
      <p:sp>
        <p:nvSpPr>
          <p:cNvPr id="5" name="Text 3"/>
          <p:cNvSpPr/>
          <p:nvPr/>
        </p:nvSpPr>
        <p:spPr>
          <a:xfrm>
            <a:off x="411480" y="1225296"/>
            <a:ext cx="6858000" cy="256032"/>
          </a:xfrm>
          <a:prstGeom prst="rect">
            <a:avLst/>
          </a:prstGeom>
          <a:noFill/>
          <a:ln/>
        </p:spPr>
        <p:txBody>
          <a:bodyPr wrap="square" lIns="0" tIns="0" rIns="0" bIns="0" rtlCol="0" anchor="ctr"/>
          <a:lstStyle/>
          <a:p>
            <a:pPr marL="0" indent="0">
              <a:buNone/>
            </a:pPr>
            <a:r>
              <a:rPr lang="en-US" sz="1100" dirty="0">
                <a:solidFill>
                  <a:srgbClr val="475569"/>
                </a:solidFill>
              </a:rPr>
              <a:t>Enabling autonomous delivery without sacrificing consistency or governance</a:t>
            </a:r>
            <a:endParaRPr lang="en-US" sz="1100" dirty="0"/>
          </a:p>
        </p:txBody>
      </p:sp>
      <p:sp>
        <p:nvSpPr>
          <p:cNvPr id="6" name="Shape 4"/>
          <p:cNvSpPr/>
          <p:nvPr/>
        </p:nvSpPr>
        <p:spPr>
          <a:xfrm>
            <a:off x="411480" y="1572768"/>
            <a:ext cx="2651760" cy="160020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7" name="Shape 5"/>
          <p:cNvSpPr/>
          <p:nvPr/>
        </p:nvSpPr>
        <p:spPr>
          <a:xfrm>
            <a:off x="411480" y="1572768"/>
            <a:ext cx="2651760" cy="27432"/>
          </a:xfrm>
          <a:prstGeom prst="rect">
            <a:avLst/>
          </a:prstGeom>
          <a:solidFill>
            <a:srgbClr val="0F172A"/>
          </a:solidFill>
          <a:ln w="12700">
            <a:solidFill>
              <a:srgbClr val="0F172A"/>
            </a:solidFill>
            <a:prstDash val="solid"/>
          </a:ln>
        </p:spPr>
        <p:txBody>
          <a:bodyPr/>
          <a:lstStyle/>
          <a:p>
            <a:endParaRPr lang="en-IN"/>
          </a:p>
        </p:txBody>
      </p:sp>
      <p:sp>
        <p:nvSpPr>
          <p:cNvPr id="8" name="Text 6"/>
          <p:cNvSpPr/>
          <p:nvPr/>
        </p:nvSpPr>
        <p:spPr>
          <a:xfrm>
            <a:off x="539496" y="1682496"/>
            <a:ext cx="2423160" cy="256032"/>
          </a:xfrm>
          <a:prstGeom prst="rect">
            <a:avLst/>
          </a:prstGeom>
          <a:noFill/>
          <a:ln/>
        </p:spPr>
        <p:txBody>
          <a:bodyPr wrap="square" lIns="0" tIns="0" rIns="0" bIns="0" rtlCol="0" anchor="ctr"/>
          <a:lstStyle/>
          <a:p>
            <a:pPr marL="0" indent="0">
              <a:buNone/>
            </a:pPr>
            <a:r>
              <a:rPr lang="en-US" sz="1100" b="1" dirty="0">
                <a:solidFill>
                  <a:srgbClr val="0F172A"/>
                </a:solidFill>
              </a:rPr>
              <a:t>Engineering Enablement Lead</a:t>
            </a:r>
            <a:endParaRPr lang="en-US" sz="1100" dirty="0"/>
          </a:p>
        </p:txBody>
      </p:sp>
      <p:sp>
        <p:nvSpPr>
          <p:cNvPr id="9" name="Shape 7"/>
          <p:cNvSpPr/>
          <p:nvPr/>
        </p:nvSpPr>
        <p:spPr>
          <a:xfrm>
            <a:off x="539496" y="1993392"/>
            <a:ext cx="2395728" cy="25603"/>
          </a:xfrm>
          <a:prstGeom prst="rect">
            <a:avLst/>
          </a:prstGeom>
          <a:solidFill>
            <a:srgbClr val="E2E8F0"/>
          </a:solidFill>
          <a:ln w="12700">
            <a:solidFill>
              <a:srgbClr val="E2E8F0"/>
            </a:solidFill>
            <a:prstDash val="solid"/>
          </a:ln>
        </p:spPr>
        <p:txBody>
          <a:bodyPr/>
          <a:lstStyle/>
          <a:p>
            <a:endParaRPr lang="en-IN"/>
          </a:p>
        </p:txBody>
      </p:sp>
      <p:sp>
        <p:nvSpPr>
          <p:cNvPr id="10" name="Text 8"/>
          <p:cNvSpPr/>
          <p:nvPr/>
        </p:nvSpPr>
        <p:spPr>
          <a:xfrm>
            <a:off x="539496" y="2075688"/>
            <a:ext cx="2423160" cy="960120"/>
          </a:xfrm>
          <a:prstGeom prst="rect">
            <a:avLst/>
          </a:prstGeom>
          <a:noFill/>
          <a:ln/>
        </p:spPr>
        <p:txBody>
          <a:bodyPr wrap="square" lIns="0" tIns="0" rIns="0" bIns="0" rtlCol="0" anchor="ctr"/>
          <a:lstStyle/>
          <a:p>
            <a:pPr marL="0" indent="0">
              <a:lnSpc>
                <a:spcPct val="145000"/>
              </a:lnSpc>
              <a:buNone/>
            </a:pPr>
            <a:r>
              <a:rPr lang="en-US" sz="920" dirty="0">
                <a:solidFill>
                  <a:srgbClr val="475569"/>
                </a:solidFill>
              </a:rPr>
              <a:t>Drives the internal developer platform vision. Owns Backstage, golden-path templates, and self-service provisioning. Removes friction for all stream-aligned teams.</a:t>
            </a:r>
            <a:endParaRPr lang="en-US" sz="920" dirty="0"/>
          </a:p>
        </p:txBody>
      </p:sp>
      <p:sp>
        <p:nvSpPr>
          <p:cNvPr id="11" name="Shape 9"/>
          <p:cNvSpPr/>
          <p:nvPr/>
        </p:nvSpPr>
        <p:spPr>
          <a:xfrm>
            <a:off x="3246120" y="1572768"/>
            <a:ext cx="2651760" cy="160020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12" name="Shape 10"/>
          <p:cNvSpPr/>
          <p:nvPr/>
        </p:nvSpPr>
        <p:spPr>
          <a:xfrm>
            <a:off x="3246120" y="1572768"/>
            <a:ext cx="2651760" cy="27432"/>
          </a:xfrm>
          <a:prstGeom prst="rect">
            <a:avLst/>
          </a:prstGeom>
          <a:solidFill>
            <a:srgbClr val="0F172A"/>
          </a:solidFill>
          <a:ln w="12700">
            <a:solidFill>
              <a:srgbClr val="0F172A"/>
            </a:solidFill>
            <a:prstDash val="solid"/>
          </a:ln>
        </p:spPr>
        <p:txBody>
          <a:bodyPr/>
          <a:lstStyle/>
          <a:p>
            <a:endParaRPr lang="en-IN"/>
          </a:p>
        </p:txBody>
      </p:sp>
      <p:sp>
        <p:nvSpPr>
          <p:cNvPr id="13" name="Text 11"/>
          <p:cNvSpPr/>
          <p:nvPr/>
        </p:nvSpPr>
        <p:spPr>
          <a:xfrm>
            <a:off x="3374136" y="1682496"/>
            <a:ext cx="2423160" cy="256032"/>
          </a:xfrm>
          <a:prstGeom prst="rect">
            <a:avLst/>
          </a:prstGeom>
          <a:noFill/>
          <a:ln/>
        </p:spPr>
        <p:txBody>
          <a:bodyPr wrap="square" lIns="0" tIns="0" rIns="0" bIns="0" rtlCol="0" anchor="ctr"/>
          <a:lstStyle/>
          <a:p>
            <a:pPr marL="0" indent="0">
              <a:buNone/>
            </a:pPr>
            <a:r>
              <a:rPr lang="en-US" sz="1100" b="1" dirty="0">
                <a:solidFill>
                  <a:srgbClr val="0F172A"/>
                </a:solidFill>
              </a:rPr>
              <a:t>Stream-Aligned Teams ×4</a:t>
            </a:r>
            <a:endParaRPr lang="en-US" sz="1100" dirty="0"/>
          </a:p>
        </p:txBody>
      </p:sp>
      <p:sp>
        <p:nvSpPr>
          <p:cNvPr id="14" name="Shape 12"/>
          <p:cNvSpPr/>
          <p:nvPr/>
        </p:nvSpPr>
        <p:spPr>
          <a:xfrm>
            <a:off x="3374136" y="1993392"/>
            <a:ext cx="2395728" cy="25603"/>
          </a:xfrm>
          <a:prstGeom prst="rect">
            <a:avLst/>
          </a:prstGeom>
          <a:solidFill>
            <a:srgbClr val="E2E8F0"/>
          </a:solidFill>
          <a:ln w="12700">
            <a:solidFill>
              <a:srgbClr val="E2E8F0"/>
            </a:solidFill>
            <a:prstDash val="solid"/>
          </a:ln>
        </p:spPr>
        <p:txBody>
          <a:bodyPr/>
          <a:lstStyle/>
          <a:p>
            <a:endParaRPr lang="en-IN"/>
          </a:p>
        </p:txBody>
      </p:sp>
      <p:sp>
        <p:nvSpPr>
          <p:cNvPr id="15" name="Text 13"/>
          <p:cNvSpPr/>
          <p:nvPr/>
        </p:nvSpPr>
        <p:spPr>
          <a:xfrm>
            <a:off x="3374136" y="2075688"/>
            <a:ext cx="2423160" cy="960120"/>
          </a:xfrm>
          <a:prstGeom prst="rect">
            <a:avLst/>
          </a:prstGeom>
          <a:noFill/>
          <a:ln/>
        </p:spPr>
        <p:txBody>
          <a:bodyPr wrap="square" lIns="0" tIns="0" rIns="0" bIns="0" rtlCol="0" anchor="ctr"/>
          <a:lstStyle/>
          <a:p>
            <a:pPr marL="0" indent="0">
              <a:lnSpc>
                <a:spcPct val="145000"/>
              </a:lnSpc>
              <a:buNone/>
            </a:pPr>
            <a:r>
              <a:rPr lang="en-US" sz="920" dirty="0">
                <a:solidFill>
                  <a:srgbClr val="475569"/>
                </a:solidFill>
              </a:rPr>
              <a:t>Four squads per business capability: Checkout, Catalogue, Fulfilment, Identity. Each: 1 Tech Lead + 2 Backend + 1 Frontend + 1 QA — fully autonomous from design to production.</a:t>
            </a:r>
            <a:endParaRPr lang="en-US" sz="920" dirty="0"/>
          </a:p>
        </p:txBody>
      </p:sp>
      <p:sp>
        <p:nvSpPr>
          <p:cNvPr id="16" name="Shape 14"/>
          <p:cNvSpPr/>
          <p:nvPr/>
        </p:nvSpPr>
        <p:spPr>
          <a:xfrm>
            <a:off x="6080760" y="1572768"/>
            <a:ext cx="2651760" cy="160020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17" name="Shape 15"/>
          <p:cNvSpPr/>
          <p:nvPr/>
        </p:nvSpPr>
        <p:spPr>
          <a:xfrm>
            <a:off x="6080760" y="1572768"/>
            <a:ext cx="2651760" cy="27432"/>
          </a:xfrm>
          <a:prstGeom prst="rect">
            <a:avLst/>
          </a:prstGeom>
          <a:solidFill>
            <a:srgbClr val="0F172A"/>
          </a:solidFill>
          <a:ln w="12700">
            <a:solidFill>
              <a:srgbClr val="0F172A"/>
            </a:solidFill>
            <a:prstDash val="solid"/>
          </a:ln>
        </p:spPr>
        <p:txBody>
          <a:bodyPr/>
          <a:lstStyle/>
          <a:p>
            <a:endParaRPr lang="en-IN"/>
          </a:p>
        </p:txBody>
      </p:sp>
      <p:sp>
        <p:nvSpPr>
          <p:cNvPr id="18" name="Text 16"/>
          <p:cNvSpPr/>
          <p:nvPr/>
        </p:nvSpPr>
        <p:spPr>
          <a:xfrm>
            <a:off x="6208776" y="1682496"/>
            <a:ext cx="2423160" cy="256032"/>
          </a:xfrm>
          <a:prstGeom prst="rect">
            <a:avLst/>
          </a:prstGeom>
          <a:noFill/>
          <a:ln/>
        </p:spPr>
        <p:txBody>
          <a:bodyPr wrap="square" lIns="0" tIns="0" rIns="0" bIns="0" rtlCol="0" anchor="ctr"/>
          <a:lstStyle/>
          <a:p>
            <a:pPr marL="0" indent="0">
              <a:buNone/>
            </a:pPr>
            <a:r>
              <a:rPr lang="en-US" sz="1100" b="1" dirty="0">
                <a:solidFill>
                  <a:srgbClr val="0F172A"/>
                </a:solidFill>
              </a:rPr>
              <a:t>Platform Core Squad</a:t>
            </a:r>
            <a:endParaRPr lang="en-US" sz="1100" dirty="0"/>
          </a:p>
        </p:txBody>
      </p:sp>
      <p:sp>
        <p:nvSpPr>
          <p:cNvPr id="19" name="Shape 17"/>
          <p:cNvSpPr/>
          <p:nvPr/>
        </p:nvSpPr>
        <p:spPr>
          <a:xfrm>
            <a:off x="6208776" y="1993392"/>
            <a:ext cx="2395728" cy="25603"/>
          </a:xfrm>
          <a:prstGeom prst="rect">
            <a:avLst/>
          </a:prstGeom>
          <a:solidFill>
            <a:srgbClr val="E2E8F0"/>
          </a:solidFill>
          <a:ln w="12700">
            <a:solidFill>
              <a:srgbClr val="E2E8F0"/>
            </a:solidFill>
            <a:prstDash val="solid"/>
          </a:ln>
        </p:spPr>
        <p:txBody>
          <a:bodyPr/>
          <a:lstStyle/>
          <a:p>
            <a:endParaRPr lang="en-IN"/>
          </a:p>
        </p:txBody>
      </p:sp>
      <p:sp>
        <p:nvSpPr>
          <p:cNvPr id="20" name="Text 18"/>
          <p:cNvSpPr/>
          <p:nvPr/>
        </p:nvSpPr>
        <p:spPr>
          <a:xfrm>
            <a:off x="6208776" y="2075688"/>
            <a:ext cx="2423160" cy="960120"/>
          </a:xfrm>
          <a:prstGeom prst="rect">
            <a:avLst/>
          </a:prstGeom>
          <a:noFill/>
          <a:ln/>
        </p:spPr>
        <p:txBody>
          <a:bodyPr wrap="square" lIns="0" tIns="0" rIns="0" bIns="0" rtlCol="0" anchor="ctr"/>
          <a:lstStyle/>
          <a:p>
            <a:pPr marL="0" indent="0">
              <a:lnSpc>
                <a:spcPct val="145000"/>
              </a:lnSpc>
              <a:buNone/>
            </a:pPr>
            <a:r>
              <a:rPr lang="en-US" sz="920" dirty="0">
                <a:solidFill>
                  <a:srgbClr val="475569"/>
                </a:solidFill>
              </a:rPr>
              <a:t>Owns Kubernetes clusters, Crossplane control plane, Cilium mesh, and shared observability stack. Publishes versioned platform contracts — stream teams are consumers, not operators.</a:t>
            </a:r>
            <a:endParaRPr lang="en-US" sz="920" dirty="0"/>
          </a:p>
        </p:txBody>
      </p:sp>
      <p:sp>
        <p:nvSpPr>
          <p:cNvPr id="21" name="Shape 19"/>
          <p:cNvSpPr/>
          <p:nvPr/>
        </p:nvSpPr>
        <p:spPr>
          <a:xfrm>
            <a:off x="411480" y="3401568"/>
            <a:ext cx="4160520" cy="160020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22" name="Shape 20"/>
          <p:cNvSpPr/>
          <p:nvPr/>
        </p:nvSpPr>
        <p:spPr>
          <a:xfrm>
            <a:off x="411480" y="3401568"/>
            <a:ext cx="4160520" cy="27432"/>
          </a:xfrm>
          <a:prstGeom prst="rect">
            <a:avLst/>
          </a:prstGeom>
          <a:solidFill>
            <a:srgbClr val="0F172A"/>
          </a:solidFill>
          <a:ln w="12700">
            <a:solidFill>
              <a:srgbClr val="0F172A"/>
            </a:solidFill>
            <a:prstDash val="solid"/>
          </a:ln>
        </p:spPr>
        <p:txBody>
          <a:bodyPr/>
          <a:lstStyle/>
          <a:p>
            <a:endParaRPr lang="en-IN"/>
          </a:p>
        </p:txBody>
      </p:sp>
      <p:sp>
        <p:nvSpPr>
          <p:cNvPr id="23" name="Text 21"/>
          <p:cNvSpPr/>
          <p:nvPr/>
        </p:nvSpPr>
        <p:spPr>
          <a:xfrm>
            <a:off x="539496" y="3511296"/>
            <a:ext cx="3931920" cy="256032"/>
          </a:xfrm>
          <a:prstGeom prst="rect">
            <a:avLst/>
          </a:prstGeom>
          <a:noFill/>
          <a:ln/>
        </p:spPr>
        <p:txBody>
          <a:bodyPr wrap="square" lIns="0" tIns="0" rIns="0" bIns="0" rtlCol="0" anchor="ctr"/>
          <a:lstStyle/>
          <a:p>
            <a:pPr marL="0" indent="0">
              <a:buNone/>
            </a:pPr>
            <a:r>
              <a:rPr lang="en-US" sz="1100" b="1" dirty="0">
                <a:solidFill>
                  <a:srgbClr val="0F172A"/>
                </a:solidFill>
              </a:rPr>
              <a:t>Data Reliability Engineer</a:t>
            </a:r>
            <a:endParaRPr lang="en-US" sz="1100" dirty="0"/>
          </a:p>
        </p:txBody>
      </p:sp>
      <p:sp>
        <p:nvSpPr>
          <p:cNvPr id="24" name="Shape 22"/>
          <p:cNvSpPr/>
          <p:nvPr/>
        </p:nvSpPr>
        <p:spPr>
          <a:xfrm>
            <a:off x="539496" y="3822192"/>
            <a:ext cx="3904488" cy="25603"/>
          </a:xfrm>
          <a:prstGeom prst="rect">
            <a:avLst/>
          </a:prstGeom>
          <a:solidFill>
            <a:srgbClr val="E2E8F0"/>
          </a:solidFill>
          <a:ln w="12700">
            <a:solidFill>
              <a:srgbClr val="E2E8F0"/>
            </a:solidFill>
            <a:prstDash val="solid"/>
          </a:ln>
        </p:spPr>
        <p:txBody>
          <a:bodyPr/>
          <a:lstStyle/>
          <a:p>
            <a:endParaRPr lang="en-IN"/>
          </a:p>
        </p:txBody>
      </p:sp>
      <p:sp>
        <p:nvSpPr>
          <p:cNvPr id="25" name="Text 23"/>
          <p:cNvSpPr/>
          <p:nvPr/>
        </p:nvSpPr>
        <p:spPr>
          <a:xfrm>
            <a:off x="539496" y="3904488"/>
            <a:ext cx="3931920" cy="960120"/>
          </a:xfrm>
          <a:prstGeom prst="rect">
            <a:avLst/>
          </a:prstGeom>
          <a:noFill/>
          <a:ln/>
        </p:spPr>
        <p:txBody>
          <a:bodyPr wrap="square" lIns="0" tIns="0" rIns="0" bIns="0" rtlCol="0" anchor="ctr"/>
          <a:lstStyle/>
          <a:p>
            <a:pPr marL="0" indent="0">
              <a:lnSpc>
                <a:spcPct val="145000"/>
              </a:lnSpc>
              <a:buNone/>
            </a:pPr>
            <a:r>
              <a:rPr lang="en-US" sz="920" dirty="0">
                <a:solidFill>
                  <a:srgbClr val="475569"/>
                </a:solidFill>
              </a:rPr>
              <a:t>Embeds with stream teams during migration sprints. Owns dual-write adapter health, event-replay pipelines, and schema registry governance. Bridges legacy DBA knowledge to the new paradigm.</a:t>
            </a:r>
            <a:endParaRPr lang="en-US" sz="920" dirty="0"/>
          </a:p>
        </p:txBody>
      </p:sp>
      <p:sp>
        <p:nvSpPr>
          <p:cNvPr id="26" name="Shape 24"/>
          <p:cNvSpPr/>
          <p:nvPr/>
        </p:nvSpPr>
        <p:spPr>
          <a:xfrm>
            <a:off x="4754880" y="3401568"/>
            <a:ext cx="4160520" cy="160020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27" name="Shape 25"/>
          <p:cNvSpPr/>
          <p:nvPr/>
        </p:nvSpPr>
        <p:spPr>
          <a:xfrm>
            <a:off x="4754880" y="3401568"/>
            <a:ext cx="4160520" cy="27432"/>
          </a:xfrm>
          <a:prstGeom prst="rect">
            <a:avLst/>
          </a:prstGeom>
          <a:solidFill>
            <a:srgbClr val="0F172A"/>
          </a:solidFill>
          <a:ln w="12700">
            <a:solidFill>
              <a:srgbClr val="0F172A"/>
            </a:solidFill>
            <a:prstDash val="solid"/>
          </a:ln>
        </p:spPr>
        <p:txBody>
          <a:bodyPr/>
          <a:lstStyle/>
          <a:p>
            <a:endParaRPr lang="en-IN"/>
          </a:p>
        </p:txBody>
      </p:sp>
      <p:sp>
        <p:nvSpPr>
          <p:cNvPr id="28" name="Text 26"/>
          <p:cNvSpPr/>
          <p:nvPr/>
        </p:nvSpPr>
        <p:spPr>
          <a:xfrm>
            <a:off x="4882896" y="3511296"/>
            <a:ext cx="3931920" cy="256032"/>
          </a:xfrm>
          <a:prstGeom prst="rect">
            <a:avLst/>
          </a:prstGeom>
          <a:noFill/>
          <a:ln/>
        </p:spPr>
        <p:txBody>
          <a:bodyPr wrap="square" lIns="0" tIns="0" rIns="0" bIns="0" rtlCol="0" anchor="ctr"/>
          <a:lstStyle/>
          <a:p>
            <a:pPr marL="0" indent="0">
              <a:buNone/>
            </a:pPr>
            <a:r>
              <a:rPr lang="en-US" sz="1100" b="1" dirty="0">
                <a:solidFill>
                  <a:srgbClr val="0F172A"/>
                </a:solidFill>
              </a:rPr>
              <a:t>Security &amp; Compliance Guild</a:t>
            </a:r>
            <a:endParaRPr lang="en-US" sz="1100" dirty="0"/>
          </a:p>
        </p:txBody>
      </p:sp>
      <p:sp>
        <p:nvSpPr>
          <p:cNvPr id="29" name="Shape 27"/>
          <p:cNvSpPr/>
          <p:nvPr/>
        </p:nvSpPr>
        <p:spPr>
          <a:xfrm>
            <a:off x="4882896" y="3822192"/>
            <a:ext cx="3904488" cy="25603"/>
          </a:xfrm>
          <a:prstGeom prst="rect">
            <a:avLst/>
          </a:prstGeom>
          <a:solidFill>
            <a:srgbClr val="E2E8F0"/>
          </a:solidFill>
          <a:ln w="12700">
            <a:solidFill>
              <a:srgbClr val="E2E8F0"/>
            </a:solidFill>
            <a:prstDash val="solid"/>
          </a:ln>
        </p:spPr>
        <p:txBody>
          <a:bodyPr/>
          <a:lstStyle/>
          <a:p>
            <a:endParaRPr lang="en-IN"/>
          </a:p>
        </p:txBody>
      </p:sp>
      <p:sp>
        <p:nvSpPr>
          <p:cNvPr id="30" name="Text 28"/>
          <p:cNvSpPr/>
          <p:nvPr/>
        </p:nvSpPr>
        <p:spPr>
          <a:xfrm>
            <a:off x="4882896" y="3904488"/>
            <a:ext cx="3931920" cy="960120"/>
          </a:xfrm>
          <a:prstGeom prst="rect">
            <a:avLst/>
          </a:prstGeom>
          <a:noFill/>
          <a:ln/>
        </p:spPr>
        <p:txBody>
          <a:bodyPr wrap="square" lIns="0" tIns="0" rIns="0" bIns="0" rtlCol="0" anchor="ctr"/>
          <a:lstStyle/>
          <a:p>
            <a:pPr marL="0" indent="0">
              <a:lnSpc>
                <a:spcPct val="145000"/>
              </a:lnSpc>
              <a:buNone/>
            </a:pPr>
            <a:r>
              <a:rPr lang="en-US" sz="920" dirty="0">
                <a:solidFill>
                  <a:srgbClr val="475569"/>
                </a:solidFill>
              </a:rPr>
              <a:t>Cross-cutting chapter, not a gate. Embeds security champions in each stream team. Owns SBOM generation, SLSA Level 3 build provenance, and runtime policy via OPA/Gatekeeper.</a:t>
            </a:r>
            <a:endParaRPr lang="en-US" sz="9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11480" y="274320"/>
            <a:ext cx="8229600" cy="182880"/>
          </a:xfrm>
          <a:prstGeom prst="rect">
            <a:avLst/>
          </a:prstGeom>
          <a:noFill/>
          <a:ln/>
        </p:spPr>
        <p:txBody>
          <a:bodyPr wrap="square" lIns="0" tIns="0" rIns="0" bIns="0" rtlCol="0" anchor="ctr"/>
          <a:lstStyle/>
          <a:p>
            <a:pPr marL="0" indent="0">
              <a:buNone/>
            </a:pPr>
            <a:r>
              <a:rPr lang="en-US" sz="750" b="1" kern="0" spc="250" dirty="0">
                <a:solidFill>
                  <a:srgbClr val="94A3B8"/>
                </a:solidFill>
              </a:rPr>
              <a:t>CHAPTER 4 · TEAM &amp; EXECUTION</a:t>
            </a:r>
            <a:endParaRPr lang="en-US" sz="750" dirty="0"/>
          </a:p>
        </p:txBody>
      </p:sp>
      <p:sp>
        <p:nvSpPr>
          <p:cNvPr id="3" name="Shape 1"/>
          <p:cNvSpPr/>
          <p:nvPr/>
        </p:nvSpPr>
        <p:spPr>
          <a:xfrm>
            <a:off x="411480" y="493776"/>
            <a:ext cx="8321040" cy="25603"/>
          </a:xfrm>
          <a:prstGeom prst="rect">
            <a:avLst/>
          </a:prstGeom>
          <a:solidFill>
            <a:srgbClr val="E2E8F0"/>
          </a:solidFill>
          <a:ln w="12700">
            <a:solidFill>
              <a:srgbClr val="E2E8F0"/>
            </a:solidFill>
            <a:prstDash val="solid"/>
          </a:ln>
        </p:spPr>
        <p:txBody>
          <a:bodyPr/>
          <a:lstStyle/>
          <a:p>
            <a:endParaRPr lang="en-IN"/>
          </a:p>
        </p:txBody>
      </p:sp>
      <p:sp>
        <p:nvSpPr>
          <p:cNvPr id="4" name="Text 2"/>
          <p:cNvSpPr/>
          <p:nvPr/>
        </p:nvSpPr>
        <p:spPr>
          <a:xfrm>
            <a:off x="411480" y="621792"/>
            <a:ext cx="8321040" cy="566928"/>
          </a:xfrm>
          <a:prstGeom prst="rect">
            <a:avLst/>
          </a:prstGeom>
          <a:noFill/>
          <a:ln/>
        </p:spPr>
        <p:txBody>
          <a:bodyPr wrap="square" lIns="0" tIns="0" rIns="0" bIns="0"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Execution Roadmap</a:t>
            </a:r>
            <a:endParaRPr lang="en-US" sz="2600" dirty="0"/>
          </a:p>
        </p:txBody>
      </p:sp>
      <p:sp>
        <p:nvSpPr>
          <p:cNvPr id="5" name="Text 3"/>
          <p:cNvSpPr/>
          <p:nvPr/>
        </p:nvSpPr>
        <p:spPr>
          <a:xfrm>
            <a:off x="411480" y="1225296"/>
            <a:ext cx="6858000" cy="256032"/>
          </a:xfrm>
          <a:prstGeom prst="rect">
            <a:avLst/>
          </a:prstGeom>
          <a:noFill/>
          <a:ln/>
        </p:spPr>
        <p:txBody>
          <a:bodyPr wrap="square" lIns="0" tIns="0" rIns="0" bIns="0" rtlCol="0" anchor="ctr"/>
          <a:lstStyle/>
          <a:p>
            <a:pPr marL="0" indent="0">
              <a:buNone/>
            </a:pPr>
            <a:r>
              <a:rPr lang="en-US" sz="1100" dirty="0">
                <a:solidFill>
                  <a:srgbClr val="475569"/>
                </a:solidFill>
              </a:rPr>
              <a:t>Capability-led phases — each ships real business value, not just infrastructure</a:t>
            </a:r>
            <a:endParaRPr lang="en-US" sz="1100" dirty="0"/>
          </a:p>
        </p:txBody>
      </p:sp>
      <p:sp>
        <p:nvSpPr>
          <p:cNvPr id="6" name="Shape 4"/>
          <p:cNvSpPr/>
          <p:nvPr/>
        </p:nvSpPr>
        <p:spPr>
          <a:xfrm>
            <a:off x="411480" y="1572768"/>
            <a:ext cx="961949" cy="292608"/>
          </a:xfrm>
          <a:prstGeom prst="rect">
            <a:avLst/>
          </a:prstGeom>
          <a:solidFill>
            <a:srgbClr val="0F172A"/>
          </a:solidFill>
          <a:ln w="12700">
            <a:solidFill>
              <a:srgbClr val="0F172A"/>
            </a:solidFill>
            <a:prstDash val="solid"/>
          </a:ln>
        </p:spPr>
        <p:txBody>
          <a:bodyPr/>
          <a:lstStyle/>
          <a:p>
            <a:endParaRPr lang="en-IN"/>
          </a:p>
        </p:txBody>
      </p:sp>
      <p:sp>
        <p:nvSpPr>
          <p:cNvPr id="7" name="Text 5"/>
          <p:cNvSpPr/>
          <p:nvPr/>
        </p:nvSpPr>
        <p:spPr>
          <a:xfrm>
            <a:off x="484632" y="1572768"/>
            <a:ext cx="888797" cy="292608"/>
          </a:xfrm>
          <a:prstGeom prst="rect">
            <a:avLst/>
          </a:prstGeom>
          <a:noFill/>
          <a:ln/>
        </p:spPr>
        <p:txBody>
          <a:bodyPr wrap="square" lIns="0" tIns="0" rIns="0" bIns="0" rtlCol="0" anchor="ctr"/>
          <a:lstStyle/>
          <a:p>
            <a:pPr marL="0" indent="0">
              <a:buNone/>
            </a:pPr>
            <a:r>
              <a:rPr lang="en-US" sz="800" b="1" dirty="0">
                <a:solidFill>
                  <a:srgbClr val="FFFFFF"/>
                </a:solidFill>
              </a:rPr>
              <a:t>Wks 1–4</a:t>
            </a:r>
            <a:endParaRPr lang="en-US" sz="800" dirty="0"/>
          </a:p>
        </p:txBody>
      </p:sp>
      <p:sp>
        <p:nvSpPr>
          <p:cNvPr id="8" name="Shape 6"/>
          <p:cNvSpPr/>
          <p:nvPr/>
        </p:nvSpPr>
        <p:spPr>
          <a:xfrm>
            <a:off x="1410005" y="1572768"/>
            <a:ext cx="3125419" cy="292608"/>
          </a:xfrm>
          <a:prstGeom prst="rect">
            <a:avLst/>
          </a:prstGeom>
          <a:solidFill>
            <a:srgbClr val="0F172A"/>
          </a:solidFill>
          <a:ln w="12700">
            <a:solidFill>
              <a:srgbClr val="0F172A"/>
            </a:solidFill>
            <a:prstDash val="solid"/>
          </a:ln>
        </p:spPr>
        <p:txBody>
          <a:bodyPr/>
          <a:lstStyle/>
          <a:p>
            <a:endParaRPr lang="en-IN"/>
          </a:p>
        </p:txBody>
      </p:sp>
      <p:sp>
        <p:nvSpPr>
          <p:cNvPr id="9" name="Text 7"/>
          <p:cNvSpPr/>
          <p:nvPr/>
        </p:nvSpPr>
        <p:spPr>
          <a:xfrm>
            <a:off x="1483157" y="1572768"/>
            <a:ext cx="3052267" cy="292608"/>
          </a:xfrm>
          <a:prstGeom prst="rect">
            <a:avLst/>
          </a:prstGeom>
          <a:noFill/>
          <a:ln/>
        </p:spPr>
        <p:txBody>
          <a:bodyPr wrap="square" lIns="0" tIns="0" rIns="0" bIns="0" rtlCol="0" anchor="ctr"/>
          <a:lstStyle/>
          <a:p>
            <a:pPr marL="0" indent="0">
              <a:buNone/>
            </a:pPr>
            <a:r>
              <a:rPr lang="en-US" sz="800" b="1" dirty="0">
                <a:solidFill>
                  <a:srgbClr val="FFFFFF"/>
                </a:solidFill>
              </a:rPr>
              <a:t>Wks 5–20</a:t>
            </a:r>
            <a:endParaRPr lang="en-US" sz="800" dirty="0"/>
          </a:p>
        </p:txBody>
      </p:sp>
      <p:sp>
        <p:nvSpPr>
          <p:cNvPr id="10" name="Shape 8"/>
          <p:cNvSpPr/>
          <p:nvPr/>
        </p:nvSpPr>
        <p:spPr>
          <a:xfrm>
            <a:off x="4572000" y="1572768"/>
            <a:ext cx="1627632" cy="292608"/>
          </a:xfrm>
          <a:prstGeom prst="rect">
            <a:avLst/>
          </a:prstGeom>
          <a:solidFill>
            <a:srgbClr val="0F172A"/>
          </a:solidFill>
          <a:ln w="12700">
            <a:solidFill>
              <a:srgbClr val="0F172A"/>
            </a:solidFill>
            <a:prstDash val="solid"/>
          </a:ln>
        </p:spPr>
        <p:txBody>
          <a:bodyPr/>
          <a:lstStyle/>
          <a:p>
            <a:endParaRPr lang="en-IN"/>
          </a:p>
        </p:txBody>
      </p:sp>
      <p:sp>
        <p:nvSpPr>
          <p:cNvPr id="11" name="Text 9"/>
          <p:cNvSpPr/>
          <p:nvPr/>
        </p:nvSpPr>
        <p:spPr>
          <a:xfrm>
            <a:off x="4645152" y="1572768"/>
            <a:ext cx="1554480" cy="292608"/>
          </a:xfrm>
          <a:prstGeom prst="rect">
            <a:avLst/>
          </a:prstGeom>
          <a:noFill/>
          <a:ln/>
        </p:spPr>
        <p:txBody>
          <a:bodyPr wrap="square" lIns="0" tIns="0" rIns="0" bIns="0" rtlCol="0" anchor="ctr"/>
          <a:lstStyle/>
          <a:p>
            <a:pPr marL="0" indent="0">
              <a:buNone/>
            </a:pPr>
            <a:r>
              <a:rPr lang="en-US" sz="800" b="1" dirty="0">
                <a:solidFill>
                  <a:srgbClr val="FFFFFF"/>
                </a:solidFill>
              </a:rPr>
              <a:t>Wks 21–28</a:t>
            </a:r>
            <a:endParaRPr lang="en-US" sz="800" dirty="0"/>
          </a:p>
        </p:txBody>
      </p:sp>
      <p:sp>
        <p:nvSpPr>
          <p:cNvPr id="12" name="Shape 10"/>
          <p:cNvSpPr/>
          <p:nvPr/>
        </p:nvSpPr>
        <p:spPr>
          <a:xfrm>
            <a:off x="6236208" y="1572768"/>
            <a:ext cx="1627632" cy="292608"/>
          </a:xfrm>
          <a:prstGeom prst="rect">
            <a:avLst/>
          </a:prstGeom>
          <a:solidFill>
            <a:srgbClr val="0F172A"/>
          </a:solidFill>
          <a:ln w="12700">
            <a:solidFill>
              <a:srgbClr val="0F172A"/>
            </a:solidFill>
            <a:prstDash val="solid"/>
          </a:ln>
        </p:spPr>
        <p:txBody>
          <a:bodyPr/>
          <a:lstStyle/>
          <a:p>
            <a:endParaRPr lang="en-IN"/>
          </a:p>
        </p:txBody>
      </p:sp>
      <p:sp>
        <p:nvSpPr>
          <p:cNvPr id="13" name="Text 11"/>
          <p:cNvSpPr/>
          <p:nvPr/>
        </p:nvSpPr>
        <p:spPr>
          <a:xfrm>
            <a:off x="6309360" y="1572768"/>
            <a:ext cx="1554480" cy="292608"/>
          </a:xfrm>
          <a:prstGeom prst="rect">
            <a:avLst/>
          </a:prstGeom>
          <a:noFill/>
          <a:ln/>
        </p:spPr>
        <p:txBody>
          <a:bodyPr wrap="square" lIns="0" tIns="0" rIns="0" bIns="0" rtlCol="0" anchor="ctr"/>
          <a:lstStyle/>
          <a:p>
            <a:pPr marL="0" indent="0">
              <a:buNone/>
            </a:pPr>
            <a:r>
              <a:rPr lang="en-US" sz="800" b="1" dirty="0">
                <a:solidFill>
                  <a:srgbClr val="FFFFFF"/>
                </a:solidFill>
              </a:rPr>
              <a:t>Wks 29–36</a:t>
            </a:r>
            <a:endParaRPr lang="en-US" sz="800" dirty="0"/>
          </a:p>
        </p:txBody>
      </p:sp>
      <p:sp>
        <p:nvSpPr>
          <p:cNvPr id="14" name="Shape 12"/>
          <p:cNvSpPr/>
          <p:nvPr/>
        </p:nvSpPr>
        <p:spPr>
          <a:xfrm>
            <a:off x="7900416" y="1572768"/>
            <a:ext cx="961949" cy="292608"/>
          </a:xfrm>
          <a:prstGeom prst="rect">
            <a:avLst/>
          </a:prstGeom>
          <a:solidFill>
            <a:srgbClr val="0F172A"/>
          </a:solidFill>
          <a:ln w="12700">
            <a:solidFill>
              <a:srgbClr val="0F172A"/>
            </a:solidFill>
            <a:prstDash val="solid"/>
          </a:ln>
        </p:spPr>
        <p:txBody>
          <a:bodyPr/>
          <a:lstStyle/>
          <a:p>
            <a:endParaRPr lang="en-IN"/>
          </a:p>
        </p:txBody>
      </p:sp>
      <p:sp>
        <p:nvSpPr>
          <p:cNvPr id="15" name="Text 13"/>
          <p:cNvSpPr/>
          <p:nvPr/>
        </p:nvSpPr>
        <p:spPr>
          <a:xfrm>
            <a:off x="7973568" y="1572768"/>
            <a:ext cx="888797" cy="292608"/>
          </a:xfrm>
          <a:prstGeom prst="rect">
            <a:avLst/>
          </a:prstGeom>
          <a:noFill/>
          <a:ln/>
        </p:spPr>
        <p:txBody>
          <a:bodyPr wrap="square" lIns="0" tIns="0" rIns="0" bIns="0" rtlCol="0" anchor="ctr"/>
          <a:lstStyle/>
          <a:p>
            <a:pPr marL="0" indent="0">
              <a:buNone/>
            </a:pPr>
            <a:r>
              <a:rPr lang="en-US" sz="800" b="1" dirty="0">
                <a:solidFill>
                  <a:srgbClr val="FFFFFF"/>
                </a:solidFill>
              </a:rPr>
              <a:t>Wks 37–44</a:t>
            </a:r>
            <a:endParaRPr lang="en-US" sz="800" dirty="0"/>
          </a:p>
        </p:txBody>
      </p:sp>
      <p:sp>
        <p:nvSpPr>
          <p:cNvPr id="16" name="Shape 14"/>
          <p:cNvSpPr/>
          <p:nvPr/>
        </p:nvSpPr>
        <p:spPr>
          <a:xfrm>
            <a:off x="411480" y="1938528"/>
            <a:ext cx="943661" cy="292608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17" name="Text 15"/>
          <p:cNvSpPr/>
          <p:nvPr/>
        </p:nvSpPr>
        <p:spPr>
          <a:xfrm>
            <a:off x="502920" y="2011680"/>
            <a:ext cx="815645" cy="347472"/>
          </a:xfrm>
          <a:prstGeom prst="rect">
            <a:avLst/>
          </a:prstGeom>
          <a:noFill/>
          <a:ln/>
        </p:spPr>
        <p:txBody>
          <a:bodyPr wrap="square" lIns="0" tIns="0" rIns="0" bIns="0" rtlCol="0" anchor="ctr"/>
          <a:lstStyle/>
          <a:p>
            <a:pPr marL="0" indent="0">
              <a:buNone/>
            </a:pPr>
            <a:r>
              <a:rPr lang="en-US" sz="2000" b="1" dirty="0">
                <a:solidFill>
                  <a:srgbClr val="1D4ED8"/>
                </a:solidFill>
              </a:rPr>
              <a:t>01</a:t>
            </a:r>
            <a:endParaRPr lang="en-US" sz="2000" dirty="0"/>
          </a:p>
        </p:txBody>
      </p:sp>
      <p:sp>
        <p:nvSpPr>
          <p:cNvPr id="18" name="Text 16"/>
          <p:cNvSpPr/>
          <p:nvPr/>
        </p:nvSpPr>
        <p:spPr>
          <a:xfrm>
            <a:off x="502920" y="2377440"/>
            <a:ext cx="815645" cy="502920"/>
          </a:xfrm>
          <a:prstGeom prst="rect">
            <a:avLst/>
          </a:prstGeom>
          <a:noFill/>
          <a:ln/>
        </p:spPr>
        <p:txBody>
          <a:bodyPr wrap="square" lIns="0" tIns="0" rIns="0" bIns="0" rtlCol="0" anchor="ctr"/>
          <a:lstStyle/>
          <a:p>
            <a:pPr marL="0" indent="0">
              <a:buNone/>
            </a:pPr>
            <a:r>
              <a:rPr lang="en-US" sz="950" b="1" dirty="0">
                <a:solidFill>
                  <a:srgbClr val="0F172A"/>
                </a:solidFill>
              </a:rPr>
              <a:t>Foundation</a:t>
            </a:r>
            <a:endParaRPr lang="en-US" sz="950" dirty="0"/>
          </a:p>
          <a:p>
            <a:pPr marL="0" indent="0">
              <a:buNone/>
            </a:pPr>
            <a:r>
              <a:rPr lang="en-US" sz="950" b="1" dirty="0">
                <a:solidFill>
                  <a:srgbClr val="0F172A"/>
                </a:solidFill>
              </a:rPr>
              <a:t>Sprint</a:t>
            </a:r>
            <a:endParaRPr lang="en-US" sz="950" dirty="0"/>
          </a:p>
        </p:txBody>
      </p:sp>
      <p:sp>
        <p:nvSpPr>
          <p:cNvPr id="19" name="Shape 17"/>
          <p:cNvSpPr/>
          <p:nvPr/>
        </p:nvSpPr>
        <p:spPr>
          <a:xfrm>
            <a:off x="502920" y="2907792"/>
            <a:ext cx="779069" cy="25603"/>
          </a:xfrm>
          <a:prstGeom prst="rect">
            <a:avLst/>
          </a:prstGeom>
          <a:solidFill>
            <a:srgbClr val="E2E8F0"/>
          </a:solidFill>
          <a:ln w="12700">
            <a:solidFill>
              <a:srgbClr val="E2E8F0"/>
            </a:solidFill>
            <a:prstDash val="solid"/>
          </a:ln>
        </p:spPr>
        <p:txBody>
          <a:bodyPr/>
          <a:lstStyle/>
          <a:p>
            <a:endParaRPr lang="en-IN"/>
          </a:p>
        </p:txBody>
      </p:sp>
      <p:sp>
        <p:nvSpPr>
          <p:cNvPr id="20" name="Text 18"/>
          <p:cNvSpPr/>
          <p:nvPr/>
        </p:nvSpPr>
        <p:spPr>
          <a:xfrm>
            <a:off x="502920" y="2980944"/>
            <a:ext cx="833933" cy="1719072"/>
          </a:xfrm>
          <a:prstGeom prst="rect">
            <a:avLst/>
          </a:prstGeom>
          <a:noFill/>
          <a:ln/>
        </p:spPr>
        <p:txBody>
          <a:bodyPr wrap="square" lIns="0" tIns="0" rIns="0" bIns="0" rtlCol="0" anchor="ctr"/>
          <a:lstStyle/>
          <a:p>
            <a:pPr marL="0" indent="0">
              <a:lnSpc>
                <a:spcPct val="150000"/>
              </a:lnSpc>
              <a:buNone/>
            </a:pPr>
            <a:r>
              <a:rPr lang="en-US" sz="800" dirty="0">
                <a:solidFill>
                  <a:srgbClr val="475569"/>
                </a:solidFill>
              </a:rPr>
              <a:t>Platform core live, CI/CD pipelines established, API gateway configured, service mesh deployed, first domain extracted from monolith (Identity service)</a:t>
            </a:r>
            <a:endParaRPr lang="en-US" sz="800" dirty="0"/>
          </a:p>
        </p:txBody>
      </p:sp>
      <p:sp>
        <p:nvSpPr>
          <p:cNvPr id="21" name="Shape 19"/>
          <p:cNvSpPr/>
          <p:nvPr/>
        </p:nvSpPr>
        <p:spPr>
          <a:xfrm>
            <a:off x="1410005" y="1938528"/>
            <a:ext cx="3107131" cy="292608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22" name="Text 20"/>
          <p:cNvSpPr/>
          <p:nvPr/>
        </p:nvSpPr>
        <p:spPr>
          <a:xfrm>
            <a:off x="1501445" y="2011680"/>
            <a:ext cx="2979115" cy="347472"/>
          </a:xfrm>
          <a:prstGeom prst="rect">
            <a:avLst/>
          </a:prstGeom>
          <a:noFill/>
          <a:ln/>
        </p:spPr>
        <p:txBody>
          <a:bodyPr wrap="square" lIns="0" tIns="0" rIns="0" bIns="0" rtlCol="0" anchor="ctr"/>
          <a:lstStyle/>
          <a:p>
            <a:pPr marL="0" indent="0">
              <a:buNone/>
            </a:pPr>
            <a:r>
              <a:rPr lang="en-US" sz="2000" b="1" dirty="0">
                <a:solidFill>
                  <a:srgbClr val="1D4ED8"/>
                </a:solidFill>
              </a:rPr>
              <a:t>02</a:t>
            </a:r>
            <a:endParaRPr lang="en-US" sz="2000" dirty="0"/>
          </a:p>
        </p:txBody>
      </p:sp>
      <p:sp>
        <p:nvSpPr>
          <p:cNvPr id="23" name="Text 21"/>
          <p:cNvSpPr/>
          <p:nvPr/>
        </p:nvSpPr>
        <p:spPr>
          <a:xfrm>
            <a:off x="1501445" y="2377440"/>
            <a:ext cx="2979115" cy="502920"/>
          </a:xfrm>
          <a:prstGeom prst="rect">
            <a:avLst/>
          </a:prstGeom>
          <a:noFill/>
          <a:ln/>
        </p:spPr>
        <p:txBody>
          <a:bodyPr wrap="square" lIns="0" tIns="0" rIns="0" bIns="0" rtlCol="0" anchor="ctr"/>
          <a:lstStyle/>
          <a:p>
            <a:pPr marL="0" indent="0">
              <a:buNone/>
            </a:pPr>
            <a:r>
              <a:rPr lang="en-US" sz="950" b="1" dirty="0">
                <a:solidFill>
                  <a:srgbClr val="0F172A"/>
                </a:solidFill>
              </a:rPr>
              <a:t>Domain</a:t>
            </a:r>
            <a:endParaRPr lang="en-US" sz="950" dirty="0"/>
          </a:p>
          <a:p>
            <a:pPr marL="0" indent="0">
              <a:buNone/>
            </a:pPr>
            <a:r>
              <a:rPr lang="en-US" sz="950" b="1" dirty="0">
                <a:solidFill>
                  <a:srgbClr val="0F172A"/>
                </a:solidFill>
              </a:rPr>
              <a:t>Extraction</a:t>
            </a:r>
            <a:endParaRPr lang="en-US" sz="950" dirty="0"/>
          </a:p>
        </p:txBody>
      </p:sp>
      <p:sp>
        <p:nvSpPr>
          <p:cNvPr id="24" name="Shape 22"/>
          <p:cNvSpPr/>
          <p:nvPr/>
        </p:nvSpPr>
        <p:spPr>
          <a:xfrm>
            <a:off x="1501445" y="2907792"/>
            <a:ext cx="2942539" cy="25603"/>
          </a:xfrm>
          <a:prstGeom prst="rect">
            <a:avLst/>
          </a:prstGeom>
          <a:solidFill>
            <a:srgbClr val="E2E8F0"/>
          </a:solidFill>
          <a:ln w="12700">
            <a:solidFill>
              <a:srgbClr val="E2E8F0"/>
            </a:solidFill>
            <a:prstDash val="solid"/>
          </a:ln>
        </p:spPr>
        <p:txBody>
          <a:bodyPr/>
          <a:lstStyle/>
          <a:p>
            <a:endParaRPr lang="en-IN"/>
          </a:p>
        </p:txBody>
      </p:sp>
      <p:sp>
        <p:nvSpPr>
          <p:cNvPr id="25" name="Text 23"/>
          <p:cNvSpPr/>
          <p:nvPr/>
        </p:nvSpPr>
        <p:spPr>
          <a:xfrm>
            <a:off x="1501445" y="2980944"/>
            <a:ext cx="2997403" cy="1719072"/>
          </a:xfrm>
          <a:prstGeom prst="rect">
            <a:avLst/>
          </a:prstGeom>
          <a:noFill/>
          <a:ln/>
        </p:spPr>
        <p:txBody>
          <a:bodyPr wrap="square" lIns="0" tIns="0" rIns="0" bIns="0" rtlCol="0" anchor="ctr"/>
          <a:lstStyle/>
          <a:p>
            <a:pPr marL="0" indent="0">
              <a:lnSpc>
                <a:spcPct val="150000"/>
              </a:lnSpc>
              <a:buNone/>
            </a:pPr>
            <a:r>
              <a:rPr lang="en-US" sz="800" dirty="0">
                <a:solidFill>
                  <a:srgbClr val="475569"/>
                </a:solidFill>
              </a:rPr>
              <a:t>Four stream teams build and migrate domain services in parallel. Data migration runs per domain. API gateway progressively routes traffic to new services.</a:t>
            </a:r>
            <a:endParaRPr lang="en-US" sz="800" dirty="0"/>
          </a:p>
        </p:txBody>
      </p:sp>
      <p:sp>
        <p:nvSpPr>
          <p:cNvPr id="26" name="Shape 24"/>
          <p:cNvSpPr/>
          <p:nvPr/>
        </p:nvSpPr>
        <p:spPr>
          <a:xfrm>
            <a:off x="4572000" y="1938528"/>
            <a:ext cx="1609344" cy="292608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27" name="Text 25"/>
          <p:cNvSpPr/>
          <p:nvPr/>
        </p:nvSpPr>
        <p:spPr>
          <a:xfrm>
            <a:off x="4663440" y="2011680"/>
            <a:ext cx="1481328" cy="347472"/>
          </a:xfrm>
          <a:prstGeom prst="rect">
            <a:avLst/>
          </a:prstGeom>
          <a:noFill/>
          <a:ln/>
        </p:spPr>
        <p:txBody>
          <a:bodyPr wrap="square" lIns="0" tIns="0" rIns="0" bIns="0" rtlCol="0" anchor="ctr"/>
          <a:lstStyle/>
          <a:p>
            <a:pPr marL="0" indent="0">
              <a:buNone/>
            </a:pPr>
            <a:r>
              <a:rPr lang="en-US" sz="2000" b="1" dirty="0">
                <a:solidFill>
                  <a:srgbClr val="1D4ED8"/>
                </a:solidFill>
              </a:rPr>
              <a:t>03</a:t>
            </a:r>
            <a:endParaRPr lang="en-US" sz="2000" dirty="0"/>
          </a:p>
        </p:txBody>
      </p:sp>
      <p:sp>
        <p:nvSpPr>
          <p:cNvPr id="28" name="Text 26"/>
          <p:cNvSpPr/>
          <p:nvPr/>
        </p:nvSpPr>
        <p:spPr>
          <a:xfrm>
            <a:off x="4663440" y="2377440"/>
            <a:ext cx="1481328" cy="502920"/>
          </a:xfrm>
          <a:prstGeom prst="rect">
            <a:avLst/>
          </a:prstGeom>
          <a:noFill/>
          <a:ln/>
        </p:spPr>
        <p:txBody>
          <a:bodyPr wrap="square" lIns="0" tIns="0" rIns="0" bIns="0" rtlCol="0" anchor="ctr"/>
          <a:lstStyle/>
          <a:p>
            <a:pPr marL="0" indent="0">
              <a:buNone/>
            </a:pPr>
            <a:r>
              <a:rPr lang="en-US" sz="950" b="1" dirty="0">
                <a:solidFill>
                  <a:srgbClr val="0F172A"/>
                </a:solidFill>
              </a:rPr>
              <a:t>Hardening</a:t>
            </a:r>
            <a:endParaRPr lang="en-US" sz="950" dirty="0"/>
          </a:p>
          <a:p>
            <a:pPr marL="0" indent="0">
              <a:buNone/>
            </a:pPr>
            <a:r>
              <a:rPr lang="en-US" sz="950" b="1" dirty="0">
                <a:solidFill>
                  <a:srgbClr val="0F172A"/>
                </a:solidFill>
              </a:rPr>
              <a:t>&amp; Shadow</a:t>
            </a:r>
            <a:endParaRPr lang="en-US" sz="950" dirty="0"/>
          </a:p>
        </p:txBody>
      </p:sp>
      <p:sp>
        <p:nvSpPr>
          <p:cNvPr id="29" name="Shape 27"/>
          <p:cNvSpPr/>
          <p:nvPr/>
        </p:nvSpPr>
        <p:spPr>
          <a:xfrm>
            <a:off x="4663440" y="2907792"/>
            <a:ext cx="1444752" cy="25603"/>
          </a:xfrm>
          <a:prstGeom prst="rect">
            <a:avLst/>
          </a:prstGeom>
          <a:solidFill>
            <a:srgbClr val="E2E8F0"/>
          </a:solidFill>
          <a:ln w="12700">
            <a:solidFill>
              <a:srgbClr val="E2E8F0"/>
            </a:solidFill>
            <a:prstDash val="solid"/>
          </a:ln>
        </p:spPr>
        <p:txBody>
          <a:bodyPr/>
          <a:lstStyle/>
          <a:p>
            <a:endParaRPr lang="en-IN"/>
          </a:p>
        </p:txBody>
      </p:sp>
      <p:sp>
        <p:nvSpPr>
          <p:cNvPr id="30" name="Text 28"/>
          <p:cNvSpPr/>
          <p:nvPr/>
        </p:nvSpPr>
        <p:spPr>
          <a:xfrm>
            <a:off x="4663440" y="2980944"/>
            <a:ext cx="1499616" cy="1719072"/>
          </a:xfrm>
          <a:prstGeom prst="rect">
            <a:avLst/>
          </a:prstGeom>
          <a:noFill/>
          <a:ln/>
        </p:spPr>
        <p:txBody>
          <a:bodyPr wrap="square" lIns="0" tIns="0" rIns="0" bIns="0" rtlCol="0" anchor="ctr"/>
          <a:lstStyle/>
          <a:p>
            <a:pPr marL="0" indent="0">
              <a:lnSpc>
                <a:spcPct val="150000"/>
              </a:lnSpc>
              <a:buNone/>
            </a:pPr>
            <a:r>
              <a:rPr lang="en-US" sz="800" dirty="0">
                <a:solidFill>
                  <a:srgbClr val="475569"/>
                </a:solidFill>
              </a:rPr>
              <a:t>Traffic mirroring at 10%. Trace-based tests. SLO baselines established. Security audit and SLSA provenance verified across all services.</a:t>
            </a:r>
            <a:endParaRPr lang="en-US" sz="800" dirty="0"/>
          </a:p>
        </p:txBody>
      </p:sp>
      <p:sp>
        <p:nvSpPr>
          <p:cNvPr id="31" name="Shape 29"/>
          <p:cNvSpPr/>
          <p:nvPr/>
        </p:nvSpPr>
        <p:spPr>
          <a:xfrm>
            <a:off x="6236208" y="1938528"/>
            <a:ext cx="1609344" cy="292608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32" name="Text 30"/>
          <p:cNvSpPr/>
          <p:nvPr/>
        </p:nvSpPr>
        <p:spPr>
          <a:xfrm>
            <a:off x="6327648" y="2011680"/>
            <a:ext cx="1481328" cy="347472"/>
          </a:xfrm>
          <a:prstGeom prst="rect">
            <a:avLst/>
          </a:prstGeom>
          <a:noFill/>
          <a:ln/>
        </p:spPr>
        <p:txBody>
          <a:bodyPr wrap="square" lIns="0" tIns="0" rIns="0" bIns="0" rtlCol="0" anchor="ctr"/>
          <a:lstStyle/>
          <a:p>
            <a:pPr marL="0" indent="0">
              <a:buNone/>
            </a:pPr>
            <a:r>
              <a:rPr lang="en-US" sz="2000" b="1" dirty="0">
                <a:solidFill>
                  <a:srgbClr val="1D4ED8"/>
                </a:solidFill>
              </a:rPr>
              <a:t>04</a:t>
            </a:r>
            <a:endParaRPr lang="en-US" sz="2000" dirty="0"/>
          </a:p>
        </p:txBody>
      </p:sp>
      <p:sp>
        <p:nvSpPr>
          <p:cNvPr id="33" name="Text 31"/>
          <p:cNvSpPr/>
          <p:nvPr/>
        </p:nvSpPr>
        <p:spPr>
          <a:xfrm>
            <a:off x="6327648" y="2377440"/>
            <a:ext cx="1481328" cy="502920"/>
          </a:xfrm>
          <a:prstGeom prst="rect">
            <a:avLst/>
          </a:prstGeom>
          <a:noFill/>
          <a:ln/>
        </p:spPr>
        <p:txBody>
          <a:bodyPr wrap="square" lIns="0" tIns="0" rIns="0" bIns="0" rtlCol="0" anchor="ctr"/>
          <a:lstStyle/>
          <a:p>
            <a:pPr marL="0" indent="0">
              <a:buNone/>
            </a:pPr>
            <a:r>
              <a:rPr lang="en-US" sz="950" b="1" dirty="0">
                <a:solidFill>
                  <a:srgbClr val="0F172A"/>
                </a:solidFill>
              </a:rPr>
              <a:t>Canary</a:t>
            </a:r>
            <a:endParaRPr lang="en-US" sz="950" dirty="0"/>
          </a:p>
          <a:p>
            <a:pPr marL="0" indent="0">
              <a:buNone/>
            </a:pPr>
            <a:r>
              <a:rPr lang="en-US" sz="950" b="1" dirty="0">
                <a:solidFill>
                  <a:srgbClr val="0F172A"/>
                </a:solidFill>
              </a:rPr>
              <a:t>Promotion</a:t>
            </a:r>
            <a:endParaRPr lang="en-US" sz="950" dirty="0"/>
          </a:p>
        </p:txBody>
      </p:sp>
      <p:sp>
        <p:nvSpPr>
          <p:cNvPr id="34" name="Shape 32"/>
          <p:cNvSpPr/>
          <p:nvPr/>
        </p:nvSpPr>
        <p:spPr>
          <a:xfrm>
            <a:off x="6327648" y="2907792"/>
            <a:ext cx="1444752" cy="25603"/>
          </a:xfrm>
          <a:prstGeom prst="rect">
            <a:avLst/>
          </a:prstGeom>
          <a:solidFill>
            <a:srgbClr val="E2E8F0"/>
          </a:solidFill>
          <a:ln w="12700">
            <a:solidFill>
              <a:srgbClr val="E2E8F0"/>
            </a:solidFill>
            <a:prstDash val="solid"/>
          </a:ln>
        </p:spPr>
        <p:txBody>
          <a:bodyPr/>
          <a:lstStyle/>
          <a:p>
            <a:endParaRPr lang="en-IN"/>
          </a:p>
        </p:txBody>
      </p:sp>
      <p:sp>
        <p:nvSpPr>
          <p:cNvPr id="35" name="Text 33"/>
          <p:cNvSpPr/>
          <p:nvPr/>
        </p:nvSpPr>
        <p:spPr>
          <a:xfrm>
            <a:off x="6327648" y="2980944"/>
            <a:ext cx="1499616" cy="1719072"/>
          </a:xfrm>
          <a:prstGeom prst="rect">
            <a:avLst/>
          </a:prstGeom>
          <a:noFill/>
          <a:ln/>
        </p:spPr>
        <p:txBody>
          <a:bodyPr wrap="square" lIns="0" tIns="0" rIns="0" bIns="0" rtlCol="0" anchor="ctr"/>
          <a:lstStyle/>
          <a:p>
            <a:pPr marL="0" indent="0">
              <a:lnSpc>
                <a:spcPct val="150000"/>
              </a:lnSpc>
              <a:buNone/>
            </a:pPr>
            <a:r>
              <a:rPr lang="en-US" sz="800" dirty="0">
                <a:solidFill>
                  <a:srgbClr val="475569"/>
                </a:solidFill>
              </a:rPr>
              <a:t>SLO-gated canary per domain. Argo Rollouts manages progressive promotion. Oracle enters read-only mode domain by domain.</a:t>
            </a:r>
            <a:endParaRPr lang="en-US" sz="800" dirty="0"/>
          </a:p>
        </p:txBody>
      </p:sp>
      <p:sp>
        <p:nvSpPr>
          <p:cNvPr id="36" name="Shape 34"/>
          <p:cNvSpPr/>
          <p:nvPr/>
        </p:nvSpPr>
        <p:spPr>
          <a:xfrm>
            <a:off x="7900416" y="1938528"/>
            <a:ext cx="943661" cy="2926080"/>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37" name="Text 35"/>
          <p:cNvSpPr/>
          <p:nvPr/>
        </p:nvSpPr>
        <p:spPr>
          <a:xfrm>
            <a:off x="7991856" y="2011680"/>
            <a:ext cx="815645" cy="347472"/>
          </a:xfrm>
          <a:prstGeom prst="rect">
            <a:avLst/>
          </a:prstGeom>
          <a:noFill/>
          <a:ln/>
        </p:spPr>
        <p:txBody>
          <a:bodyPr wrap="square" lIns="0" tIns="0" rIns="0" bIns="0" rtlCol="0" anchor="ctr"/>
          <a:lstStyle/>
          <a:p>
            <a:pPr marL="0" indent="0">
              <a:buNone/>
            </a:pPr>
            <a:r>
              <a:rPr lang="en-US" sz="2000" b="1" dirty="0">
                <a:solidFill>
                  <a:srgbClr val="1D4ED8"/>
                </a:solidFill>
              </a:rPr>
              <a:t>05</a:t>
            </a:r>
            <a:endParaRPr lang="en-US" sz="2000" dirty="0"/>
          </a:p>
        </p:txBody>
      </p:sp>
      <p:sp>
        <p:nvSpPr>
          <p:cNvPr id="38" name="Text 36"/>
          <p:cNvSpPr/>
          <p:nvPr/>
        </p:nvSpPr>
        <p:spPr>
          <a:xfrm>
            <a:off x="7991856" y="2377440"/>
            <a:ext cx="815645" cy="502920"/>
          </a:xfrm>
          <a:prstGeom prst="rect">
            <a:avLst/>
          </a:prstGeom>
          <a:noFill/>
          <a:ln/>
        </p:spPr>
        <p:txBody>
          <a:bodyPr wrap="square" lIns="0" tIns="0" rIns="0" bIns="0" rtlCol="0" anchor="ctr"/>
          <a:lstStyle/>
          <a:p>
            <a:pPr marL="0" indent="0">
              <a:buNone/>
            </a:pPr>
            <a:r>
              <a:rPr lang="en-US" sz="950" b="1" dirty="0">
                <a:solidFill>
                  <a:srgbClr val="0F172A"/>
                </a:solidFill>
              </a:rPr>
              <a:t>Decommission</a:t>
            </a:r>
            <a:endParaRPr lang="en-US" sz="950" dirty="0"/>
          </a:p>
          <a:p>
            <a:pPr marL="0" indent="0">
              <a:buNone/>
            </a:pPr>
            <a:r>
              <a:rPr lang="en-US" sz="950" b="1" dirty="0">
                <a:solidFill>
                  <a:srgbClr val="0F172A"/>
                </a:solidFill>
              </a:rPr>
              <a:t>&amp; Optimise</a:t>
            </a:r>
            <a:endParaRPr lang="en-US" sz="950" dirty="0"/>
          </a:p>
        </p:txBody>
      </p:sp>
      <p:sp>
        <p:nvSpPr>
          <p:cNvPr id="39" name="Shape 37"/>
          <p:cNvSpPr/>
          <p:nvPr/>
        </p:nvSpPr>
        <p:spPr>
          <a:xfrm>
            <a:off x="7991856" y="2907792"/>
            <a:ext cx="779069" cy="25603"/>
          </a:xfrm>
          <a:prstGeom prst="rect">
            <a:avLst/>
          </a:prstGeom>
          <a:solidFill>
            <a:srgbClr val="E2E8F0"/>
          </a:solidFill>
          <a:ln w="12700">
            <a:solidFill>
              <a:srgbClr val="E2E8F0"/>
            </a:solidFill>
            <a:prstDash val="solid"/>
          </a:ln>
        </p:spPr>
        <p:txBody>
          <a:bodyPr/>
          <a:lstStyle/>
          <a:p>
            <a:endParaRPr lang="en-IN"/>
          </a:p>
        </p:txBody>
      </p:sp>
      <p:sp>
        <p:nvSpPr>
          <p:cNvPr id="40" name="Text 38"/>
          <p:cNvSpPr/>
          <p:nvPr/>
        </p:nvSpPr>
        <p:spPr>
          <a:xfrm>
            <a:off x="7991856" y="2980944"/>
            <a:ext cx="833933" cy="1719072"/>
          </a:xfrm>
          <a:prstGeom prst="rect">
            <a:avLst/>
          </a:prstGeom>
          <a:noFill/>
          <a:ln/>
        </p:spPr>
        <p:txBody>
          <a:bodyPr wrap="square" lIns="0" tIns="0" rIns="0" bIns="0" rtlCol="0" anchor="ctr"/>
          <a:lstStyle/>
          <a:p>
            <a:pPr marL="0" indent="0">
              <a:lnSpc>
                <a:spcPct val="150000"/>
              </a:lnSpc>
              <a:buNone/>
            </a:pPr>
            <a:r>
              <a:rPr lang="en-US" sz="800" dirty="0">
                <a:solidFill>
                  <a:srgbClr val="475569"/>
                </a:solidFill>
              </a:rPr>
              <a:t>Monolith fully decommissioned. Contract phase collapses schemas. Cost optimisation pass on cluster sizing and event retention.</a:t>
            </a:r>
            <a:endParaRPr lang="en-US" sz="800" dirty="0"/>
          </a:p>
        </p:txBody>
      </p:sp>
      <p:sp>
        <p:nvSpPr>
          <p:cNvPr id="41" name="Shape 39"/>
          <p:cNvSpPr/>
          <p:nvPr/>
        </p:nvSpPr>
        <p:spPr>
          <a:xfrm>
            <a:off x="411480" y="4919472"/>
            <a:ext cx="8321040" cy="25603"/>
          </a:xfrm>
          <a:prstGeom prst="rect">
            <a:avLst/>
          </a:prstGeom>
          <a:solidFill>
            <a:srgbClr val="E2E8F0"/>
          </a:solidFill>
          <a:ln w="12700">
            <a:solidFill>
              <a:srgbClr val="E2E8F0"/>
            </a:solidFill>
            <a:prstDash val="solid"/>
          </a:ln>
        </p:spPr>
        <p:txBody>
          <a:bodyPr/>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1965960"/>
          </a:xfrm>
          <a:prstGeom prst="rect">
            <a:avLst/>
          </a:prstGeom>
        </p:spPr>
      </p:pic>
      <p:sp>
        <p:nvSpPr>
          <p:cNvPr id="3" name="Text 0"/>
          <p:cNvSpPr/>
          <p:nvPr/>
        </p:nvSpPr>
        <p:spPr>
          <a:xfrm>
            <a:off x="457200" y="347472"/>
            <a:ext cx="3657600" cy="201168"/>
          </a:xfrm>
          <a:prstGeom prst="rect">
            <a:avLst/>
          </a:prstGeom>
          <a:noFill/>
          <a:ln/>
        </p:spPr>
        <p:txBody>
          <a:bodyPr wrap="square" lIns="0" tIns="0" rIns="0" bIns="0" rtlCol="0" anchor="ctr"/>
          <a:lstStyle/>
          <a:p>
            <a:pPr marL="0" indent="0">
              <a:buNone/>
            </a:pPr>
            <a:r>
              <a:rPr lang="en-US" sz="750" b="1" kern="0" spc="200" dirty="0">
                <a:solidFill>
                  <a:srgbClr val="C8D6E8"/>
                </a:solidFill>
              </a:rPr>
              <a:t>SUMMARY</a:t>
            </a:r>
            <a:endParaRPr lang="en-US" sz="750" dirty="0"/>
          </a:p>
        </p:txBody>
      </p:sp>
      <p:sp>
        <p:nvSpPr>
          <p:cNvPr id="4" name="Text 1"/>
          <p:cNvSpPr/>
          <p:nvPr/>
        </p:nvSpPr>
        <p:spPr>
          <a:xfrm>
            <a:off x="457200" y="640080"/>
            <a:ext cx="7315200" cy="68580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Summary &amp; Next Steps</a:t>
            </a:r>
            <a:endParaRPr lang="en-US" sz="3400" dirty="0"/>
          </a:p>
        </p:txBody>
      </p:sp>
      <p:sp>
        <p:nvSpPr>
          <p:cNvPr id="5" name="Text 2"/>
          <p:cNvSpPr/>
          <p:nvPr/>
        </p:nvSpPr>
        <p:spPr>
          <a:xfrm>
            <a:off x="457200" y="1371600"/>
            <a:ext cx="6400800" cy="256032"/>
          </a:xfrm>
          <a:prstGeom prst="rect">
            <a:avLst/>
          </a:prstGeom>
          <a:noFill/>
          <a:ln/>
        </p:spPr>
        <p:txBody>
          <a:bodyPr wrap="square" lIns="0" tIns="0" rIns="0" bIns="0" rtlCol="0" anchor="ctr"/>
          <a:lstStyle/>
          <a:p>
            <a:pPr marL="0" indent="0">
              <a:buNone/>
            </a:pPr>
            <a:r>
              <a:rPr lang="en-US" sz="1100" dirty="0">
                <a:solidFill>
                  <a:srgbClr val="FFFFFF">
                    <a:alpha val="70000"/>
                  </a:srgbClr>
                </a:solidFill>
              </a:rPr>
              <a:t>Four pillars of the modernisation programme</a:t>
            </a:r>
            <a:endParaRPr lang="en-US" sz="1100" dirty="0"/>
          </a:p>
        </p:txBody>
      </p:sp>
      <p:sp>
        <p:nvSpPr>
          <p:cNvPr id="6" name="Shape 3"/>
          <p:cNvSpPr/>
          <p:nvPr/>
        </p:nvSpPr>
        <p:spPr>
          <a:xfrm>
            <a:off x="457200" y="2121408"/>
            <a:ext cx="4096512" cy="1261872"/>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7" name="Shape 4"/>
          <p:cNvSpPr/>
          <p:nvPr/>
        </p:nvSpPr>
        <p:spPr>
          <a:xfrm>
            <a:off x="457200" y="2121408"/>
            <a:ext cx="4096512" cy="27432"/>
          </a:xfrm>
          <a:prstGeom prst="rect">
            <a:avLst/>
          </a:prstGeom>
          <a:solidFill>
            <a:srgbClr val="0F172A"/>
          </a:solidFill>
          <a:ln w="12700">
            <a:solidFill>
              <a:srgbClr val="0F172A"/>
            </a:solidFill>
            <a:prstDash val="solid"/>
          </a:ln>
        </p:spPr>
        <p:txBody>
          <a:bodyPr/>
          <a:lstStyle/>
          <a:p>
            <a:endParaRPr lang="en-IN"/>
          </a:p>
        </p:txBody>
      </p:sp>
      <p:sp>
        <p:nvSpPr>
          <p:cNvPr id="8" name="Text 5"/>
          <p:cNvSpPr/>
          <p:nvPr/>
        </p:nvSpPr>
        <p:spPr>
          <a:xfrm>
            <a:off x="603504" y="2212848"/>
            <a:ext cx="3794760" cy="256032"/>
          </a:xfrm>
          <a:prstGeom prst="rect">
            <a:avLst/>
          </a:prstGeom>
          <a:noFill/>
          <a:ln/>
        </p:spPr>
        <p:txBody>
          <a:bodyPr wrap="square" lIns="0" tIns="0" rIns="0" bIns="0" rtlCol="0" anchor="ctr"/>
          <a:lstStyle/>
          <a:p>
            <a:pPr marL="0" indent="0">
              <a:buNone/>
            </a:pPr>
            <a:r>
              <a:rPr lang="en-US" sz="1200" b="1" dirty="0">
                <a:solidFill>
                  <a:srgbClr val="0F172A"/>
                </a:solidFill>
              </a:rPr>
              <a:t>Target Architecture</a:t>
            </a:r>
            <a:endParaRPr lang="en-US" sz="1200" dirty="0"/>
          </a:p>
        </p:txBody>
      </p:sp>
      <p:sp>
        <p:nvSpPr>
          <p:cNvPr id="9" name="Shape 6"/>
          <p:cNvSpPr/>
          <p:nvPr/>
        </p:nvSpPr>
        <p:spPr>
          <a:xfrm>
            <a:off x="603504" y="2523744"/>
            <a:ext cx="3749040" cy="25603"/>
          </a:xfrm>
          <a:prstGeom prst="rect">
            <a:avLst/>
          </a:prstGeom>
          <a:solidFill>
            <a:srgbClr val="E2E8F0"/>
          </a:solidFill>
          <a:ln w="12700">
            <a:solidFill>
              <a:srgbClr val="E2E8F0"/>
            </a:solidFill>
            <a:prstDash val="solid"/>
          </a:ln>
        </p:spPr>
        <p:txBody>
          <a:bodyPr/>
          <a:lstStyle/>
          <a:p>
            <a:endParaRPr lang="en-IN"/>
          </a:p>
        </p:txBody>
      </p:sp>
      <p:sp>
        <p:nvSpPr>
          <p:cNvPr id="10" name="Text 7"/>
          <p:cNvSpPr/>
          <p:nvPr/>
        </p:nvSpPr>
        <p:spPr>
          <a:xfrm>
            <a:off x="603504" y="2596896"/>
            <a:ext cx="3794760" cy="713232"/>
          </a:xfrm>
          <a:prstGeom prst="rect">
            <a:avLst/>
          </a:prstGeom>
          <a:noFill/>
          <a:ln/>
        </p:spPr>
        <p:txBody>
          <a:bodyPr wrap="square" lIns="0" tIns="0" rIns="0" bIns="0" rtlCol="0" anchor="ctr"/>
          <a:lstStyle/>
          <a:p>
            <a:pPr marL="0" indent="0">
              <a:lnSpc>
                <a:spcPct val="145000"/>
              </a:lnSpc>
              <a:buNone/>
            </a:pPr>
            <a:r>
              <a:rPr lang="en-US" sz="920" dirty="0">
                <a:solidFill>
                  <a:srgbClr val="475569"/>
                </a:solidFill>
              </a:rPr>
              <a:t>Monolith decomposed into Node.js / NestJS domain microservices behind an API Gateway, with Kafka event bus and polyglot persistence — PostgreSQL, MongoDB, and Redis.</a:t>
            </a:r>
            <a:endParaRPr lang="en-US" sz="920" dirty="0"/>
          </a:p>
        </p:txBody>
      </p:sp>
      <p:sp>
        <p:nvSpPr>
          <p:cNvPr id="11" name="Shape 8"/>
          <p:cNvSpPr/>
          <p:nvPr/>
        </p:nvSpPr>
        <p:spPr>
          <a:xfrm>
            <a:off x="4828032" y="2121408"/>
            <a:ext cx="4096512" cy="1261872"/>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12" name="Shape 9"/>
          <p:cNvSpPr/>
          <p:nvPr/>
        </p:nvSpPr>
        <p:spPr>
          <a:xfrm>
            <a:off x="4828032" y="2121408"/>
            <a:ext cx="4096512" cy="27432"/>
          </a:xfrm>
          <a:prstGeom prst="rect">
            <a:avLst/>
          </a:prstGeom>
          <a:solidFill>
            <a:srgbClr val="0F172A"/>
          </a:solidFill>
          <a:ln w="12700">
            <a:solidFill>
              <a:srgbClr val="0F172A"/>
            </a:solidFill>
            <a:prstDash val="solid"/>
          </a:ln>
        </p:spPr>
        <p:txBody>
          <a:bodyPr/>
          <a:lstStyle/>
          <a:p>
            <a:endParaRPr lang="en-IN"/>
          </a:p>
        </p:txBody>
      </p:sp>
      <p:sp>
        <p:nvSpPr>
          <p:cNvPr id="13" name="Text 10"/>
          <p:cNvSpPr/>
          <p:nvPr/>
        </p:nvSpPr>
        <p:spPr>
          <a:xfrm>
            <a:off x="4974336" y="2212848"/>
            <a:ext cx="3794760" cy="256032"/>
          </a:xfrm>
          <a:prstGeom prst="rect">
            <a:avLst/>
          </a:prstGeom>
          <a:noFill/>
          <a:ln/>
        </p:spPr>
        <p:txBody>
          <a:bodyPr wrap="square" lIns="0" tIns="0" rIns="0" bIns="0" rtlCol="0" anchor="ctr"/>
          <a:lstStyle/>
          <a:p>
            <a:pPr marL="0" indent="0">
              <a:buNone/>
            </a:pPr>
            <a:r>
              <a:rPr lang="en-US" sz="1200" b="1" dirty="0">
                <a:solidFill>
                  <a:srgbClr val="0F172A"/>
                </a:solidFill>
              </a:rPr>
              <a:t>Data Migration</a:t>
            </a:r>
            <a:endParaRPr lang="en-US" sz="1200" dirty="0"/>
          </a:p>
        </p:txBody>
      </p:sp>
      <p:sp>
        <p:nvSpPr>
          <p:cNvPr id="14" name="Shape 11"/>
          <p:cNvSpPr/>
          <p:nvPr/>
        </p:nvSpPr>
        <p:spPr>
          <a:xfrm>
            <a:off x="4974336" y="2523744"/>
            <a:ext cx="3749040" cy="25603"/>
          </a:xfrm>
          <a:prstGeom prst="rect">
            <a:avLst/>
          </a:prstGeom>
          <a:solidFill>
            <a:srgbClr val="E2E8F0"/>
          </a:solidFill>
          <a:ln w="12700">
            <a:solidFill>
              <a:srgbClr val="E2E8F0"/>
            </a:solidFill>
            <a:prstDash val="solid"/>
          </a:ln>
        </p:spPr>
        <p:txBody>
          <a:bodyPr/>
          <a:lstStyle/>
          <a:p>
            <a:endParaRPr lang="en-IN"/>
          </a:p>
        </p:txBody>
      </p:sp>
      <p:sp>
        <p:nvSpPr>
          <p:cNvPr id="15" name="Text 12"/>
          <p:cNvSpPr/>
          <p:nvPr/>
        </p:nvSpPr>
        <p:spPr>
          <a:xfrm>
            <a:off x="4974336" y="2596896"/>
            <a:ext cx="3794760" cy="713232"/>
          </a:xfrm>
          <a:prstGeom prst="rect">
            <a:avLst/>
          </a:prstGeom>
          <a:noFill/>
          <a:ln/>
        </p:spPr>
        <p:txBody>
          <a:bodyPr wrap="square" lIns="0" tIns="0" rIns="0" bIns="0" rtlCol="0" anchor="ctr"/>
          <a:lstStyle/>
          <a:p>
            <a:pPr marL="0" indent="0">
              <a:lnSpc>
                <a:spcPct val="145000"/>
              </a:lnSpc>
              <a:buNone/>
            </a:pPr>
            <a:r>
              <a:rPr lang="en-US" sz="920" dirty="0">
                <a:solidFill>
                  <a:srgbClr val="475569"/>
                </a:solidFill>
              </a:rPr>
              <a:t>Expand-Contract pattern with Apache Pulsar event replay into PostgreSQL / MongoDB. No hard cutover window — both stores remain consistent throughout the transition.</a:t>
            </a:r>
            <a:endParaRPr lang="en-US" sz="920" dirty="0"/>
          </a:p>
        </p:txBody>
      </p:sp>
      <p:sp>
        <p:nvSpPr>
          <p:cNvPr id="16" name="Shape 13"/>
          <p:cNvSpPr/>
          <p:nvPr/>
        </p:nvSpPr>
        <p:spPr>
          <a:xfrm>
            <a:off x="457200" y="3538728"/>
            <a:ext cx="4096512" cy="1261872"/>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17" name="Shape 14"/>
          <p:cNvSpPr/>
          <p:nvPr/>
        </p:nvSpPr>
        <p:spPr>
          <a:xfrm>
            <a:off x="457200" y="3538728"/>
            <a:ext cx="4096512" cy="27432"/>
          </a:xfrm>
          <a:prstGeom prst="rect">
            <a:avLst/>
          </a:prstGeom>
          <a:solidFill>
            <a:srgbClr val="0F172A"/>
          </a:solidFill>
          <a:ln w="12700">
            <a:solidFill>
              <a:srgbClr val="0F172A"/>
            </a:solidFill>
            <a:prstDash val="solid"/>
          </a:ln>
        </p:spPr>
        <p:txBody>
          <a:bodyPr/>
          <a:lstStyle/>
          <a:p>
            <a:endParaRPr lang="en-IN"/>
          </a:p>
        </p:txBody>
      </p:sp>
      <p:sp>
        <p:nvSpPr>
          <p:cNvPr id="18" name="Text 15"/>
          <p:cNvSpPr/>
          <p:nvPr/>
        </p:nvSpPr>
        <p:spPr>
          <a:xfrm>
            <a:off x="603504" y="3630168"/>
            <a:ext cx="3794760" cy="256032"/>
          </a:xfrm>
          <a:prstGeom prst="rect">
            <a:avLst/>
          </a:prstGeom>
          <a:noFill/>
          <a:ln/>
        </p:spPr>
        <p:txBody>
          <a:bodyPr wrap="square" lIns="0" tIns="0" rIns="0" bIns="0" rtlCol="0" anchor="ctr"/>
          <a:lstStyle/>
          <a:p>
            <a:pPr marL="0" indent="0">
              <a:buNone/>
            </a:pPr>
            <a:r>
              <a:rPr lang="en-US" sz="1200" b="1" dirty="0">
                <a:solidFill>
                  <a:srgbClr val="0F172A"/>
                </a:solidFill>
              </a:rPr>
              <a:t>Testing &amp; Rollout</a:t>
            </a:r>
            <a:endParaRPr lang="en-US" sz="1200" dirty="0"/>
          </a:p>
        </p:txBody>
      </p:sp>
      <p:sp>
        <p:nvSpPr>
          <p:cNvPr id="19" name="Shape 16"/>
          <p:cNvSpPr/>
          <p:nvPr/>
        </p:nvSpPr>
        <p:spPr>
          <a:xfrm>
            <a:off x="603504" y="3941064"/>
            <a:ext cx="3749040" cy="25603"/>
          </a:xfrm>
          <a:prstGeom prst="rect">
            <a:avLst/>
          </a:prstGeom>
          <a:solidFill>
            <a:srgbClr val="E2E8F0"/>
          </a:solidFill>
          <a:ln w="12700">
            <a:solidFill>
              <a:srgbClr val="E2E8F0"/>
            </a:solidFill>
            <a:prstDash val="solid"/>
          </a:ln>
        </p:spPr>
        <p:txBody>
          <a:bodyPr/>
          <a:lstStyle/>
          <a:p>
            <a:endParaRPr lang="en-IN"/>
          </a:p>
        </p:txBody>
      </p:sp>
      <p:sp>
        <p:nvSpPr>
          <p:cNvPr id="20" name="Text 17"/>
          <p:cNvSpPr/>
          <p:nvPr/>
        </p:nvSpPr>
        <p:spPr>
          <a:xfrm>
            <a:off x="603504" y="4014216"/>
            <a:ext cx="3794760" cy="713232"/>
          </a:xfrm>
          <a:prstGeom prst="rect">
            <a:avLst/>
          </a:prstGeom>
          <a:noFill/>
          <a:ln/>
        </p:spPr>
        <p:txBody>
          <a:bodyPr wrap="square" lIns="0" tIns="0" rIns="0" bIns="0" rtlCol="0" anchor="ctr"/>
          <a:lstStyle/>
          <a:p>
            <a:pPr marL="0" indent="0">
              <a:lnSpc>
                <a:spcPct val="145000"/>
              </a:lnSpc>
              <a:buNone/>
            </a:pPr>
            <a:r>
              <a:rPr lang="en-US" sz="920" dirty="0">
                <a:solidFill>
                  <a:srgbClr val="475569"/>
                </a:solidFill>
              </a:rPr>
              <a:t>Shift-left with property-based tests, trace-based integration testing, and SLO-gated Argo Rollouts — automated promotion with 90-second rollback if SLOs breach.</a:t>
            </a:r>
            <a:endParaRPr lang="en-US" sz="920" dirty="0"/>
          </a:p>
        </p:txBody>
      </p:sp>
      <p:sp>
        <p:nvSpPr>
          <p:cNvPr id="21" name="Shape 18"/>
          <p:cNvSpPr/>
          <p:nvPr/>
        </p:nvSpPr>
        <p:spPr>
          <a:xfrm>
            <a:off x="4828032" y="3538728"/>
            <a:ext cx="4096512" cy="1261872"/>
          </a:xfrm>
          <a:prstGeom prst="rect">
            <a:avLst/>
          </a:prstGeom>
          <a:solidFill>
            <a:srgbClr val="FFFFFF"/>
          </a:solidFill>
          <a:ln w="9525">
            <a:solidFill>
              <a:srgbClr val="E2E8F0"/>
            </a:solidFill>
            <a:prstDash val="solid"/>
          </a:ln>
          <a:effectLst>
            <a:outerShdw blurRad="152400" dist="25400" dir="5400000" algn="bl" rotWithShape="0">
              <a:srgbClr val="000000">
                <a:alpha val="5000"/>
              </a:srgbClr>
            </a:outerShdw>
          </a:effectLst>
        </p:spPr>
        <p:txBody>
          <a:bodyPr/>
          <a:lstStyle/>
          <a:p>
            <a:endParaRPr lang="en-IN"/>
          </a:p>
        </p:txBody>
      </p:sp>
      <p:sp>
        <p:nvSpPr>
          <p:cNvPr id="22" name="Shape 19"/>
          <p:cNvSpPr/>
          <p:nvPr/>
        </p:nvSpPr>
        <p:spPr>
          <a:xfrm>
            <a:off x="4828032" y="3538728"/>
            <a:ext cx="4096512" cy="27432"/>
          </a:xfrm>
          <a:prstGeom prst="rect">
            <a:avLst/>
          </a:prstGeom>
          <a:solidFill>
            <a:srgbClr val="0F172A"/>
          </a:solidFill>
          <a:ln w="12700">
            <a:solidFill>
              <a:srgbClr val="0F172A"/>
            </a:solidFill>
            <a:prstDash val="solid"/>
          </a:ln>
        </p:spPr>
        <p:txBody>
          <a:bodyPr/>
          <a:lstStyle/>
          <a:p>
            <a:endParaRPr lang="en-IN"/>
          </a:p>
        </p:txBody>
      </p:sp>
      <p:sp>
        <p:nvSpPr>
          <p:cNvPr id="23" name="Text 20"/>
          <p:cNvSpPr/>
          <p:nvPr/>
        </p:nvSpPr>
        <p:spPr>
          <a:xfrm>
            <a:off x="4974336" y="3630168"/>
            <a:ext cx="3794760" cy="256032"/>
          </a:xfrm>
          <a:prstGeom prst="rect">
            <a:avLst/>
          </a:prstGeom>
          <a:noFill/>
          <a:ln/>
        </p:spPr>
        <p:txBody>
          <a:bodyPr wrap="square" lIns="0" tIns="0" rIns="0" bIns="0" rtlCol="0" anchor="ctr"/>
          <a:lstStyle/>
          <a:p>
            <a:pPr marL="0" indent="0">
              <a:buNone/>
            </a:pPr>
            <a:r>
              <a:rPr lang="en-US" sz="1200" b="1" dirty="0">
                <a:solidFill>
                  <a:srgbClr val="0F172A"/>
                </a:solidFill>
              </a:rPr>
              <a:t>Team &amp; Execution</a:t>
            </a:r>
            <a:endParaRPr lang="en-US" sz="1200" dirty="0"/>
          </a:p>
        </p:txBody>
      </p:sp>
      <p:sp>
        <p:nvSpPr>
          <p:cNvPr id="24" name="Shape 21"/>
          <p:cNvSpPr/>
          <p:nvPr/>
        </p:nvSpPr>
        <p:spPr>
          <a:xfrm>
            <a:off x="4974336" y="3941064"/>
            <a:ext cx="3749040" cy="25603"/>
          </a:xfrm>
          <a:prstGeom prst="rect">
            <a:avLst/>
          </a:prstGeom>
          <a:solidFill>
            <a:srgbClr val="E2E8F0"/>
          </a:solidFill>
          <a:ln w="12700">
            <a:solidFill>
              <a:srgbClr val="E2E8F0"/>
            </a:solidFill>
            <a:prstDash val="solid"/>
          </a:ln>
        </p:spPr>
        <p:txBody>
          <a:bodyPr/>
          <a:lstStyle/>
          <a:p>
            <a:endParaRPr lang="en-IN"/>
          </a:p>
        </p:txBody>
      </p:sp>
      <p:sp>
        <p:nvSpPr>
          <p:cNvPr id="25" name="Text 22"/>
          <p:cNvSpPr/>
          <p:nvPr/>
        </p:nvSpPr>
        <p:spPr>
          <a:xfrm>
            <a:off x="4974336" y="4014216"/>
            <a:ext cx="3794760" cy="713232"/>
          </a:xfrm>
          <a:prstGeom prst="rect">
            <a:avLst/>
          </a:prstGeom>
          <a:noFill/>
          <a:ln/>
        </p:spPr>
        <p:txBody>
          <a:bodyPr wrap="square" lIns="0" tIns="0" rIns="0" bIns="0" rtlCol="0" anchor="ctr"/>
          <a:lstStyle/>
          <a:p>
            <a:pPr marL="0" indent="0">
              <a:lnSpc>
                <a:spcPct val="145000"/>
              </a:lnSpc>
              <a:buNone/>
            </a:pPr>
            <a:r>
              <a:rPr lang="en-US" sz="920" dirty="0">
                <a:solidFill>
                  <a:srgbClr val="475569"/>
                </a:solidFill>
              </a:rPr>
              <a:t>Platform &amp; Stream topology across five capability-led phases over approximately 11 months — every phase ships real business value, not just infrastructure changes.</a:t>
            </a:r>
            <a:endParaRPr lang="en-US" sz="9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1805</Words>
  <Application>Microsoft Office PowerPoint</Application>
  <PresentationFormat>On-screen Show (16:9)</PresentationFormat>
  <Paragraphs>273</Paragraphs>
  <Slides>12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Monolith to Microservices Architecture</dc:title>
  <dc:subject>PptxGenJS Presentation</dc:subject>
  <dc:creator>PptxGenJS</dc:creator>
  <cp:lastModifiedBy>Joga, Prateek (CORP)</cp:lastModifiedBy>
  <cp:revision>11</cp:revision>
  <dcterms:created xsi:type="dcterms:W3CDTF">2026-04-05T04:30:38Z</dcterms:created>
  <dcterms:modified xsi:type="dcterms:W3CDTF">2026-04-06T06:18:13Z</dcterms:modified>
</cp:coreProperties>
</file>